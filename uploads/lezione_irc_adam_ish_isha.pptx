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(1'). Presento il tema: non parliamo solo di 'uomo e donna' in astratto, ma di come la Bibbia, alle sue origini, racconti la differenza maschile/femminile. Anticipo che lavoreremo molto sull'ebraico: tre parole — adam, ish, ishà — ci faranno scoprire un significato spesso frainteso. Lezione dialogata: ci fermeremo a discutere.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Mostro il percorso. Sottolineo che la lezione è interattiva: gli alunni interverranno più volte. Il blocco scuro a destra rende esplicito il 'patto': l'icona-dialogo segnala quando tocca a loro.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(3-4'). Lancio la domanda e raccolgo parole-chiave alla lavagna senza giudicare. Obiettivo: far emergere che la risposta mescola corpo, ruoli, cultura e relazioni. Tengo da parte i contributi: li richiamerò sulle slide 'genere/sesso' e nella sintesi. Non chiudo io la discussione: la lascio aperta e passo avanti.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Chiarisco i termini in modo descrittivo e non ideologico: distinguere i due piani aiuta a ragionare con precisione (utile al liceo scientifico). Riprendo le parole raccolte nel brainstorming e le smisto fra le due colonne. Punto-chiave: il testo biblico lavora su un registro diverso, quello della relazione — ed è lì che andiamo.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 Spiego che ci sono due racconti della creazione, con stili e fonti diversi, non in competizione. Gen 1: visione d'insieme, parità immediata ('maschio e femmina'). Gen 2: la 'cinepresa' si avvicina e racconta una storia. Annuncio che lavoreremo su Gen 2, dove compaiono le tre parole-chiave.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Momento 'wow' (4'). La scoperta: nell'ebraico l'adam non è un maschio, è 'l'umano' (con l'articolo). Faccio sentire l'assonanza adam/adamah (uomo/terra): siamo creature, veniamo dalla terra. Da qui in poi tutto cambia: prima della differenza c'è l'umano. Verifico la comprensione con una domanda veloce: 'Allora quando arriva il maschile?' — risposta sulla slide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con interazione. Racconto la scena: gli animali nominati, ma nessuno 'corrisponde'. Faccio fare un think-pair-share di 30''. Raccolgo 2-3 risposte. Conduco verso l'idea: l'adam cerca un 'tu' alla pari, non un possesso né uno strumento. Questo prepara 'ezer kenegdo'.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Smonto due fraintendimenti diffusi. 'Aiuto' (ezer) non implica inferiorità: è usato per Dio stesso. 'Kenegdo' = di fronte/corrispondente, un volto che mi sta davanti. La donna non è una 'spalla servizievole' ma un pari che corrisponde. Sottolineo come una traduzione superficiale ('aiutante') abbia alimentato pregiudizi — torneremo sul punto alla slide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Due note ebraiche: il 'sonno profondo' (tardemah) segnala che la nascita della donna è dono e mistero, non opera dell'uomo; 'tzela' significa anche 'fianco/lato' — la donna è della stessa sostanza dell'adam. Leggo il commento rabbinico (lo presento come tradizione, senza citazione puntuale): immagine potentissima di pari dignità e prossimità.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Climax della lezione (5'). Le PRIME parole umane della Bibbia sono un poema di riconoscimento ('questa volta!'). Sottolineo il gioco di parole ish/ishà. Punto centrale (rispondo alla domanda della slide 6): l'adam diventa 'ish' solo davanti a 'ishà'. L'identità sessuata emerge nella relazione: io scopro chi sono di fronte a un tu diverso da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 Schematizzo alla lavagna mentale: ADAM (l'umano) → incontro → ISH e ISHÀ, che insieme sono 'una sola carne'. Faccio notare che la quasi-identità delle due parole è un argomento linguistico di uguaglianza. 'Osso dalle mie ossa' = parentela, stessa natura. La differenza non è gerarchia: è la condizione dell'incontro.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Chiudo la parte 'testo': l'esito della differenza è l'unità ('una sola carne'). Chiarisco che non è fusione che annulla, ma comunione che presuppone la distinzione. Introduco l'espressione 'comunione di persone' (communio personarum), cara alla riflessione cristiana, come chiave antropologica: l'uomo si realizza nella relazione.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con interazione. Onestà intellettuale: ammetto che il testo è stato spesso piegato a giustificare la subordinazione femminile. Ma l'analisi ebraica fatta finora dice il contrario. Lezione di metodo (preziosa al liceo scientifico): distinguere il testo dalle sue interpretazioni. Lancio la domanda aperta e raccolgo qualche esperienza.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con interazione. Faccio il ponte con il presente, in modo equilibrato e non polemico: il testo offre pari dignità, differenza-come-dono, identità-nella-relazione. Lancio la domanda a coppie. Raccolgo un paio di risposte e le collego alla sintesi.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Cuore interattivo (8-12'). Scelgo A o B secondo tempo e classe. A è più riflessivo/creativo; B più dinamico. Il 'biglietto d'uscita' funziona sempre e dà una chiusura: raccogliere una parola per ciascuno mi permette di valutare informalmente la comprensione. Faccio leggere alcuni contributi.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Riepilogo le tre idee. Le faccio dire a voce alla classe se possibile (recupero). Collego ai biglietti d'uscita appena raccolti.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Chiusura (2'). Offro una chiave cristiana (la 'comunione di persone' di Giovanni Paolo II, Teologia del corpo) come orizzonte, senza imporla. Lascio la classe con una domanda aperta da portarsi via. Non chiedo altri interventi: chiudo qui.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di riferimento da lasciare a schermo durante l'attività o da consegnare. Utile per ripasso e per studenti che vogliono verificare le parole ebraiche.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slideLayout" Target="../slideLayouts/slideLayout1.xml"/><Relationship Id="rId10"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3211A"/>
        </a:solidFill>
      </p:bgPr>
    </p:bg>
    <p:spTree>
      <p:nvGrpSpPr>
        <p:cNvPr id="1" name=""/>
        <p:cNvGrpSpPr/>
        <p:nvPr/>
      </p:nvGrpSpPr>
      <p:grpSpPr>
        <a:xfrm>
          <a:off x="0" y="0"/>
          <a:ext cx="0" cy="0"/>
          <a:chOff x="0" y="0"/>
          <a:chExt cx="0" cy="0"/>
        </a:xfrm>
      </p:grpSpPr>
      <p:pic>
        <p:nvPicPr>
          <p:cNvPr id="2" name="Image 0" descr="assets/adam_faint.png">    </p:cNvPr>
          <p:cNvPicPr>
            <a:picLocks noChangeAspect="1"/>
          </p:cNvPicPr>
          <p:nvPr/>
        </p:nvPicPr>
        <p:blipFill>
          <a:blip r:embed="rId1">
            <a:alphaModFix amt="22000"/>
          </a:blip>
          <a:stretch>
            <a:fillRect/>
          </a:stretch>
        </p:blipFill>
        <p:spPr>
          <a:xfrm>
            <a:off x="7955280" y="3383280"/>
            <a:ext cx="6482080" cy="4023360"/>
          </a:xfrm>
          <a:prstGeom prst="rect">
            <a:avLst/>
          </a:prstGeom>
        </p:spPr>
      </p:pic>
      <p:sp>
        <p:nvSpPr>
          <p:cNvPr id="3" name="Shape 0"/>
          <p:cNvSpPr/>
          <p:nvPr/>
        </p:nvSpPr>
        <p:spPr>
          <a:xfrm>
            <a:off x="774314" y="813816"/>
            <a:ext cx="841248" cy="841248"/>
          </a:xfrm>
          <a:prstGeom prst="ellipse">
            <a:avLst/>
          </a:prstGeom>
          <a:solidFill>
            <a:srgbClr val="B0492B">
              <a:alpha val="70000"/>
            </a:srgbClr>
          </a:solidFill>
          <a:ln/>
        </p:spPr>
      </p:sp>
      <p:sp>
        <p:nvSpPr>
          <p:cNvPr id="4" name="Shape 1"/>
          <p:cNvSpPr/>
          <p:nvPr/>
        </p:nvSpPr>
        <p:spPr>
          <a:xfrm>
            <a:off x="1127638" y="813816"/>
            <a:ext cx="841248" cy="841248"/>
          </a:xfrm>
          <a:prstGeom prst="ellipse">
            <a:avLst/>
          </a:prstGeom>
          <a:solidFill>
            <a:srgbClr val="D8A24A">
              <a:alpha val="70000"/>
            </a:srgbClr>
          </a:solidFill>
          <a:ln/>
        </p:spPr>
      </p:sp>
      <p:sp>
        <p:nvSpPr>
          <p:cNvPr id="5" name="Text 2"/>
          <p:cNvSpPr/>
          <p:nvPr/>
        </p:nvSpPr>
        <p:spPr>
          <a:xfrm>
            <a:off x="868680" y="2148840"/>
            <a:ext cx="10058400" cy="274320"/>
          </a:xfrm>
          <a:prstGeom prst="rect">
            <a:avLst/>
          </a:prstGeom>
          <a:noFill/>
          <a:ln/>
        </p:spPr>
        <p:txBody>
          <a:bodyPr wrap="square" lIns="0" tIns="0" rIns="0" bIns="0" rtlCol="0" anchor="ctr"/>
          <a:lstStyle/>
          <a:p>
            <a:pPr algn="l" indent="0" marL="0">
              <a:buNone/>
            </a:pPr>
            <a:r>
              <a:rPr lang="en-US" sz="1150" b="1" spc="300" kern="0" dirty="0">
                <a:solidFill>
                  <a:srgbClr val="D8A24A"/>
                </a:solidFill>
                <a:latin typeface="Calibri" pitchFamily="34" charset="0"/>
                <a:ea typeface="Calibri" pitchFamily="34" charset="-122"/>
                <a:cs typeface="Calibri" pitchFamily="34" charset="-120"/>
              </a:rPr>
              <a:t>IRC · LICEO SCIENTIFICO · ANTROPOLOGIA BIBLICA</a:t>
            </a:r>
            <a:endParaRPr lang="en-US" sz="1150" dirty="0"/>
          </a:p>
        </p:txBody>
      </p:sp>
      <p:sp>
        <p:nvSpPr>
          <p:cNvPr id="6" name="Text 3"/>
          <p:cNvSpPr/>
          <p:nvPr/>
        </p:nvSpPr>
        <p:spPr>
          <a:xfrm>
            <a:off x="822960" y="2514600"/>
            <a:ext cx="10424160" cy="1828800"/>
          </a:xfrm>
          <a:prstGeom prst="rect">
            <a:avLst/>
          </a:prstGeom>
          <a:noFill/>
          <a:ln/>
        </p:spPr>
        <p:txBody>
          <a:bodyPr wrap="square" lIns="0" tIns="0" rIns="0" bIns="0" rtlCol="0" anchor="t"/>
          <a:lstStyle/>
          <a:p>
            <a:pPr algn="l" indent="0" marL="0">
              <a:lnSpc>
                <a:spcPct val="102000"/>
              </a:lnSpc>
              <a:buNone/>
            </a:pPr>
            <a:r>
              <a:rPr lang="en-US" sz="4400" b="1" dirty="0">
                <a:solidFill>
                  <a:srgbClr val="F5EFE8"/>
                </a:solidFill>
                <a:latin typeface="Georgia" pitchFamily="34" charset="0"/>
                <a:ea typeface="Georgia" pitchFamily="34" charset="-122"/>
                <a:cs typeface="Georgia" pitchFamily="34" charset="-120"/>
              </a:rPr>
              <a:t>Maschile e femminile:</a:t>
            </a:r>
            <a:endParaRPr lang="en-US" sz="4400" dirty="0"/>
          </a:p>
          <a:p>
            <a:pPr algn="l" indent="0" marL="0">
              <a:lnSpc>
                <a:spcPct val="102000"/>
              </a:lnSpc>
              <a:buNone/>
            </a:pPr>
            <a:r>
              <a:rPr lang="en-US" sz="4400" b="1" dirty="0">
                <a:solidFill>
                  <a:srgbClr val="F5EFE8"/>
                </a:solidFill>
                <a:latin typeface="Georgia" pitchFamily="34" charset="0"/>
                <a:ea typeface="Georgia" pitchFamily="34" charset="-122"/>
                <a:cs typeface="Georgia" pitchFamily="34" charset="-120"/>
              </a:rPr>
              <a:t>alle origini della relazione</a:t>
            </a:r>
            <a:endParaRPr lang="en-US" sz="4400" dirty="0"/>
          </a:p>
        </p:txBody>
      </p:sp>
      <p:sp>
        <p:nvSpPr>
          <p:cNvPr id="7" name="Text 4"/>
          <p:cNvSpPr/>
          <p:nvPr/>
        </p:nvSpPr>
        <p:spPr>
          <a:xfrm>
            <a:off x="868680" y="4434840"/>
            <a:ext cx="10058400" cy="548640"/>
          </a:xfrm>
          <a:prstGeom prst="rect">
            <a:avLst/>
          </a:prstGeom>
          <a:noFill/>
          <a:ln/>
        </p:spPr>
        <p:txBody>
          <a:bodyPr wrap="square" lIns="0" tIns="0" rIns="0" bIns="0" rtlCol="0" anchor="ctr"/>
          <a:lstStyle/>
          <a:p>
            <a:pPr algn="l" indent="0" marL="0">
              <a:buNone/>
            </a:pPr>
            <a:r>
              <a:rPr lang="en-US" sz="2100" b="1" i="1" dirty="0">
                <a:solidFill>
                  <a:srgbClr val="D8A24A"/>
                </a:solidFill>
                <a:latin typeface="Georgia" pitchFamily="34" charset="0"/>
                <a:ea typeface="Georgia" pitchFamily="34" charset="-122"/>
                <a:cs typeface="Georgia" pitchFamily="34" charset="-120"/>
              </a:rPr>
              <a:t>Adam, Ish e Ishà</a:t>
            </a:r>
            <a:pPr algn="l" indent="0" marL="0">
              <a:buNone/>
            </a:pPr>
            <a:r>
              <a:rPr lang="en-US" sz="2100" i="1" dirty="0">
                <a:solidFill>
                  <a:srgbClr val="C9B5A4"/>
                </a:solidFill>
                <a:latin typeface="Georgia" pitchFamily="34" charset="0"/>
                <a:ea typeface="Georgia" pitchFamily="34" charset="-122"/>
                <a:cs typeface="Georgia" pitchFamily="34" charset="-120"/>
              </a:rPr>
              <a:t>  —  quando la differenza diventa incontro</a:t>
            </a:r>
            <a:endParaRPr lang="en-US" sz="2100" dirty="0"/>
          </a:p>
        </p:txBody>
      </p:sp>
      <p:sp>
        <p:nvSpPr>
          <p:cNvPr id="8" name="Text 5"/>
          <p:cNvSpPr/>
          <p:nvPr/>
        </p:nvSpPr>
        <p:spPr>
          <a:xfrm>
            <a:off x="868680" y="5074920"/>
            <a:ext cx="8229600" cy="365760"/>
          </a:xfrm>
          <a:prstGeom prst="rect">
            <a:avLst/>
          </a:prstGeom>
          <a:noFill/>
          <a:ln/>
        </p:spPr>
        <p:txBody>
          <a:bodyPr wrap="square" lIns="0" tIns="0" rIns="0" bIns="0" rtlCol="0" anchor="ctr"/>
          <a:lstStyle/>
          <a:p>
            <a:pPr algn="l" indent="0" marL="0">
              <a:buNone/>
            </a:pPr>
            <a:r>
              <a:rPr lang="en-US" sz="1350" dirty="0">
                <a:solidFill>
                  <a:srgbClr val="C9B5A4"/>
                </a:solidFill>
                <a:latin typeface="Calibri" pitchFamily="34" charset="0"/>
                <a:ea typeface="Calibri" pitchFamily="34" charset="-122"/>
                <a:cs typeface="Calibri" pitchFamily="34" charset="-120"/>
              </a:rPr>
              <a:t>Una lettura di Genesi 1–2</a:t>
            </a:r>
            <a:endParaRPr lang="en-US" sz="1350" dirty="0"/>
          </a:p>
        </p:txBody>
      </p:sp>
      <p:sp>
        <p:nvSpPr>
          <p:cNvPr id="9" name="Text 6"/>
          <p:cNvSpPr/>
          <p:nvPr/>
        </p:nvSpPr>
        <p:spPr>
          <a:xfrm>
            <a:off x="502920" y="6437376"/>
            <a:ext cx="4572000" cy="274320"/>
          </a:xfrm>
          <a:prstGeom prst="rect">
            <a:avLst/>
          </a:prstGeom>
          <a:noFill/>
          <a:ln/>
        </p:spPr>
        <p:txBody>
          <a:bodyPr wrap="square" lIns="0" tIns="0" rIns="0" bIns="0" rtlCol="0" anchor="ctr"/>
          <a:lstStyle/>
          <a:p>
            <a:pPr algn="l" indent="0" marL="0">
              <a:buNone/>
            </a:pPr>
            <a:r>
              <a:rPr lang="en-US" sz="900" dirty="0">
                <a:solidFill>
                  <a:srgbClr val="C9B5A4"/>
                </a:solidFill>
                <a:latin typeface="Calibri" pitchFamily="34" charset="0"/>
                <a:ea typeface="Calibri" pitchFamily="34" charset="-122"/>
                <a:cs typeface="Calibri" pitchFamily="34" charset="-120"/>
              </a:rPr>
              <a:t>IRC · Liceo Scientifico</a:t>
            </a:r>
            <a:endParaRPr lang="en-US" sz="900" dirty="0"/>
          </a:p>
        </p:txBody>
      </p:sp>
      <p:sp>
        <p:nvSpPr>
          <p:cNvPr id="10" name="Text 7"/>
          <p:cNvSpPr/>
          <p:nvPr/>
        </p:nvSpPr>
        <p:spPr>
          <a:xfrm>
            <a:off x="7116775" y="6437376"/>
            <a:ext cx="4572000" cy="274320"/>
          </a:xfrm>
          <a:prstGeom prst="rect">
            <a:avLst/>
          </a:prstGeom>
          <a:noFill/>
          <a:ln/>
        </p:spPr>
        <p:txBody>
          <a:bodyPr wrap="square" lIns="0" tIns="0" rIns="0" bIns="0" rtlCol="0" anchor="ctr"/>
          <a:lstStyle/>
          <a:p>
            <a:pPr algn="r" indent="0" marL="0">
              <a:buNone/>
            </a:pPr>
            <a:pPr algn="r" indent="0" marL="0">
              <a:buNone/>
            </a:pPr>
            <a:r>
              <a:rPr lang="en-US" sz="900" b="1" dirty="0">
                <a:solidFill>
                  <a:srgbClr val="D8A24A"/>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lIns="0" tIns="0" rIns="0" bIns="0" rtlCol="0" anchor="ctr"/>
          <a:lstStyle/>
          <a:p>
            <a:pPr algn="l" indent="0" marL="0">
              <a:buNone/>
            </a:pPr>
            <a:r>
              <a:rPr lang="en-US" sz="1150" b="1" spc="300" kern="0" dirty="0">
                <a:solidFill>
                  <a:srgbClr val="B0492B"/>
                </a:solidFill>
                <a:latin typeface="Calibri" pitchFamily="34" charset="0"/>
                <a:ea typeface="Calibri" pitchFamily="34" charset="-122"/>
                <a:cs typeface="Calibri" pitchFamily="34" charset="-120"/>
              </a:rPr>
              <a:t>MAPPA DELLA LEZIONE</a:t>
            </a:r>
            <a:endParaRPr lang="en-US" sz="1150" dirty="0"/>
          </a:p>
        </p:txBody>
      </p:sp>
      <p:sp>
        <p:nvSpPr>
          <p:cNvPr id="3" name="Text 1"/>
          <p:cNvSpPr/>
          <p:nvPr/>
        </p:nvSpPr>
        <p:spPr>
          <a:xfrm>
            <a:off x="502920" y="777240"/>
            <a:ext cx="8229600" cy="640080"/>
          </a:xfrm>
          <a:prstGeom prst="rect">
            <a:avLst/>
          </a:prstGeom>
          <a:noFill/>
          <a:ln/>
        </p:spPr>
        <p:txBody>
          <a:bodyPr wrap="square" lIns="0" tIns="0" rIns="0" bIns="0" rtlCol="0" anchor="ctr"/>
          <a:lstStyle/>
          <a:p>
            <a:pPr indent="0" marL="0">
              <a:buNone/>
            </a:pPr>
            <a:r>
              <a:rPr lang="en-US" sz="3100" b="1" dirty="0">
                <a:solidFill>
                  <a:srgbClr val="2B2118"/>
                </a:solidFill>
                <a:latin typeface="Georgia" pitchFamily="34" charset="0"/>
                <a:ea typeface="Georgia" pitchFamily="34" charset="-122"/>
                <a:cs typeface="Georgia" pitchFamily="34" charset="-120"/>
              </a:rPr>
              <a:t>Il percorso di oggi</a:t>
            </a:r>
            <a:endParaRPr lang="en-US" sz="3100" dirty="0"/>
          </a:p>
        </p:txBody>
      </p:sp>
      <p:sp>
        <p:nvSpPr>
          <p:cNvPr id="4" name="Shape 2"/>
          <p:cNvSpPr/>
          <p:nvPr/>
        </p:nvSpPr>
        <p:spPr>
          <a:xfrm>
            <a:off x="548640" y="1783080"/>
            <a:ext cx="7360920" cy="841248"/>
          </a:xfrm>
          <a:prstGeom prst="rect">
            <a:avLst/>
          </a:prstGeom>
          <a:solidFill>
            <a:srgbClr val="F5EEE4"/>
          </a:solidFill>
          <a:ln/>
        </p:spPr>
      </p:sp>
      <p:sp>
        <p:nvSpPr>
          <p:cNvPr id="5" name="Shape 3"/>
          <p:cNvSpPr/>
          <p:nvPr/>
        </p:nvSpPr>
        <p:spPr>
          <a:xfrm>
            <a:off x="548640" y="1783080"/>
            <a:ext cx="73152" cy="841248"/>
          </a:xfrm>
          <a:prstGeom prst="rect">
            <a:avLst/>
          </a:prstGeom>
          <a:solidFill>
            <a:srgbClr val="B0492B"/>
          </a:solidFill>
          <a:ln/>
        </p:spPr>
      </p:sp>
      <p:sp>
        <p:nvSpPr>
          <p:cNvPr id="6" name="Shape 4"/>
          <p:cNvSpPr/>
          <p:nvPr/>
        </p:nvSpPr>
        <p:spPr>
          <a:xfrm>
            <a:off x="841248" y="1947672"/>
            <a:ext cx="512064" cy="512064"/>
          </a:xfrm>
          <a:prstGeom prst="ellipse">
            <a:avLst/>
          </a:prstGeom>
          <a:solidFill>
            <a:srgbClr val="6F7B53"/>
          </a:solidFill>
          <a:ln/>
        </p:spPr>
      </p:sp>
      <p:sp>
        <p:nvSpPr>
          <p:cNvPr id="7" name="Text 5"/>
          <p:cNvSpPr/>
          <p:nvPr/>
        </p:nvSpPr>
        <p:spPr>
          <a:xfrm>
            <a:off x="841248" y="1947672"/>
            <a:ext cx="512064" cy="512064"/>
          </a:xfrm>
          <a:prstGeom prst="rect">
            <a:avLst/>
          </a:prstGeom>
          <a:noFill/>
          <a:ln/>
        </p:spPr>
        <p:txBody>
          <a:bodyPr wrap="square" lIns="0" tIns="0" rIns="0" bIns="0" rtlCol="0" anchor="ctr"/>
          <a:lstStyle/>
          <a:p>
            <a:pPr algn="ctr" indent="0" marL="0">
              <a:buNone/>
            </a:pPr>
            <a:r>
              <a:rPr lang="en-US" sz="1456" b="1" dirty="0">
                <a:solidFill>
                  <a:srgbClr val="FFFFFF"/>
                </a:solidFill>
                <a:latin typeface="Georgia" pitchFamily="34" charset="0"/>
                <a:ea typeface="Georgia" pitchFamily="34" charset="-122"/>
                <a:cs typeface="Georgia" pitchFamily="34" charset="-120"/>
              </a:rPr>
              <a:t>1</a:t>
            </a:r>
            <a:endParaRPr lang="en-US" sz="1456" dirty="0"/>
          </a:p>
        </p:txBody>
      </p:sp>
      <p:sp>
        <p:nvSpPr>
          <p:cNvPr id="8" name="Text 6"/>
          <p:cNvSpPr/>
          <p:nvPr/>
        </p:nvSpPr>
        <p:spPr>
          <a:xfrm>
            <a:off x="1600200" y="1874520"/>
            <a:ext cx="6126480" cy="347472"/>
          </a:xfrm>
          <a:prstGeom prst="rect">
            <a:avLst/>
          </a:prstGeom>
          <a:noFill/>
          <a:ln/>
        </p:spPr>
        <p:txBody>
          <a:bodyPr wrap="square" lIns="0" tIns="0" rIns="0" bIns="0" rtlCol="0" anchor="ctr"/>
          <a:lstStyle/>
          <a:p>
            <a:pPr indent="0" marL="0">
              <a:buNone/>
            </a:pPr>
            <a:r>
              <a:rPr lang="en-US" sz="1650" b="1" dirty="0">
                <a:solidFill>
                  <a:srgbClr val="2B2118"/>
                </a:solidFill>
                <a:latin typeface="Georgia" pitchFamily="34" charset="0"/>
                <a:ea typeface="Georgia" pitchFamily="34" charset="-122"/>
                <a:cs typeface="Georgia" pitchFamily="34" charset="-120"/>
              </a:rPr>
              <a:t>Da dove partiamo</a:t>
            </a:r>
            <a:endParaRPr lang="en-US" sz="1650" dirty="0"/>
          </a:p>
        </p:txBody>
      </p:sp>
      <p:sp>
        <p:nvSpPr>
          <p:cNvPr id="9" name="Text 7"/>
          <p:cNvSpPr/>
          <p:nvPr/>
        </p:nvSpPr>
        <p:spPr>
          <a:xfrm>
            <a:off x="1600200" y="2203704"/>
            <a:ext cx="6126480" cy="329184"/>
          </a:xfrm>
          <a:prstGeom prst="rect">
            <a:avLst/>
          </a:prstGeom>
          <a:noFill/>
          <a:ln/>
        </p:spPr>
        <p:txBody>
          <a:bodyPr wrap="square" lIns="0" tIns="0" rIns="0" bIns="0" rtlCol="0" anchor="ctr"/>
          <a:lstStyle/>
          <a:p>
            <a:pPr indent="0" marL="0">
              <a:buNone/>
            </a:pPr>
            <a:r>
              <a:rPr lang="en-US" sz="1250" dirty="0">
                <a:solidFill>
                  <a:srgbClr val="8A7A6B"/>
                </a:solidFill>
                <a:latin typeface="Calibri" pitchFamily="34" charset="0"/>
                <a:ea typeface="Calibri" pitchFamily="34" charset="-122"/>
                <a:cs typeface="Calibri" pitchFamily="34" charset="-120"/>
              </a:rPr>
              <a:t>Genere e differenza: una provocazione per cominciare.</a:t>
            </a:r>
            <a:endParaRPr lang="en-US" sz="1250" dirty="0"/>
          </a:p>
        </p:txBody>
      </p:sp>
      <p:sp>
        <p:nvSpPr>
          <p:cNvPr id="10" name="Shape 8"/>
          <p:cNvSpPr/>
          <p:nvPr/>
        </p:nvSpPr>
        <p:spPr>
          <a:xfrm>
            <a:off x="548640" y="2660904"/>
            <a:ext cx="7360920" cy="841248"/>
          </a:xfrm>
          <a:prstGeom prst="rect">
            <a:avLst/>
          </a:prstGeom>
          <a:solidFill>
            <a:srgbClr val="FBF6EF"/>
          </a:solidFill>
          <a:ln/>
        </p:spPr>
      </p:sp>
      <p:sp>
        <p:nvSpPr>
          <p:cNvPr id="11" name="Shape 9"/>
          <p:cNvSpPr/>
          <p:nvPr/>
        </p:nvSpPr>
        <p:spPr>
          <a:xfrm>
            <a:off x="548640" y="2660904"/>
            <a:ext cx="73152" cy="841248"/>
          </a:xfrm>
          <a:prstGeom prst="rect">
            <a:avLst/>
          </a:prstGeom>
          <a:solidFill>
            <a:srgbClr val="B0492B"/>
          </a:solidFill>
          <a:ln/>
        </p:spPr>
      </p:sp>
      <p:sp>
        <p:nvSpPr>
          <p:cNvPr id="12" name="Shape 10"/>
          <p:cNvSpPr/>
          <p:nvPr/>
        </p:nvSpPr>
        <p:spPr>
          <a:xfrm>
            <a:off x="841248" y="2825496"/>
            <a:ext cx="512064" cy="512064"/>
          </a:xfrm>
          <a:prstGeom prst="ellipse">
            <a:avLst/>
          </a:prstGeom>
          <a:solidFill>
            <a:srgbClr val="6F7B53"/>
          </a:solidFill>
          <a:ln/>
        </p:spPr>
      </p:sp>
      <p:sp>
        <p:nvSpPr>
          <p:cNvPr id="13" name="Text 11"/>
          <p:cNvSpPr/>
          <p:nvPr/>
        </p:nvSpPr>
        <p:spPr>
          <a:xfrm>
            <a:off x="841248" y="2825496"/>
            <a:ext cx="512064" cy="512064"/>
          </a:xfrm>
          <a:prstGeom prst="rect">
            <a:avLst/>
          </a:prstGeom>
          <a:noFill/>
          <a:ln/>
        </p:spPr>
        <p:txBody>
          <a:bodyPr wrap="square" lIns="0" tIns="0" rIns="0" bIns="0" rtlCol="0" anchor="ctr"/>
          <a:lstStyle/>
          <a:p>
            <a:pPr algn="ctr" indent="0" marL="0">
              <a:buNone/>
            </a:pPr>
            <a:r>
              <a:rPr lang="en-US" sz="1456" b="1" dirty="0">
                <a:solidFill>
                  <a:srgbClr val="FFFFFF"/>
                </a:solidFill>
                <a:latin typeface="Georgia" pitchFamily="34" charset="0"/>
                <a:ea typeface="Georgia" pitchFamily="34" charset="-122"/>
                <a:cs typeface="Georgia" pitchFamily="34" charset="-120"/>
              </a:rPr>
              <a:t>2</a:t>
            </a:r>
            <a:endParaRPr lang="en-US" sz="1456" dirty="0"/>
          </a:p>
        </p:txBody>
      </p:sp>
      <p:sp>
        <p:nvSpPr>
          <p:cNvPr id="14" name="Text 12"/>
          <p:cNvSpPr/>
          <p:nvPr/>
        </p:nvSpPr>
        <p:spPr>
          <a:xfrm>
            <a:off x="1600200" y="2752344"/>
            <a:ext cx="6126480" cy="347472"/>
          </a:xfrm>
          <a:prstGeom prst="rect">
            <a:avLst/>
          </a:prstGeom>
          <a:noFill/>
          <a:ln/>
        </p:spPr>
        <p:txBody>
          <a:bodyPr wrap="square" lIns="0" tIns="0" rIns="0" bIns="0" rtlCol="0" anchor="ctr"/>
          <a:lstStyle/>
          <a:p>
            <a:pPr indent="0" marL="0">
              <a:buNone/>
            </a:pPr>
            <a:r>
              <a:rPr lang="en-US" sz="1650" b="1" dirty="0">
                <a:solidFill>
                  <a:srgbClr val="2B2118"/>
                </a:solidFill>
                <a:latin typeface="Georgia" pitchFamily="34" charset="0"/>
                <a:ea typeface="Georgia" pitchFamily="34" charset="-122"/>
                <a:cs typeface="Georgia" pitchFamily="34" charset="-120"/>
              </a:rPr>
              <a:t>Due racconti</a:t>
            </a:r>
            <a:endParaRPr lang="en-US" sz="1650" dirty="0"/>
          </a:p>
        </p:txBody>
      </p:sp>
      <p:sp>
        <p:nvSpPr>
          <p:cNvPr id="15" name="Text 13"/>
          <p:cNvSpPr/>
          <p:nvPr/>
        </p:nvSpPr>
        <p:spPr>
          <a:xfrm>
            <a:off x="1600200" y="3081528"/>
            <a:ext cx="6126480" cy="329184"/>
          </a:xfrm>
          <a:prstGeom prst="rect">
            <a:avLst/>
          </a:prstGeom>
          <a:noFill/>
          <a:ln/>
        </p:spPr>
        <p:txBody>
          <a:bodyPr wrap="square" lIns="0" tIns="0" rIns="0" bIns="0" rtlCol="0" anchor="ctr"/>
          <a:lstStyle/>
          <a:p>
            <a:pPr indent="0" marL="0">
              <a:buNone/>
            </a:pPr>
            <a:r>
              <a:rPr lang="en-US" sz="1250" dirty="0">
                <a:solidFill>
                  <a:srgbClr val="8A7A6B"/>
                </a:solidFill>
                <a:latin typeface="Calibri" pitchFamily="34" charset="0"/>
                <a:ea typeface="Calibri" pitchFamily="34" charset="-122"/>
                <a:cs typeface="Calibri" pitchFamily="34" charset="-120"/>
              </a:rPr>
              <a:t>La creazione in Genesi 1 e in Genesi 2: due sguardi.</a:t>
            </a:r>
            <a:endParaRPr lang="en-US" sz="1250" dirty="0"/>
          </a:p>
        </p:txBody>
      </p:sp>
      <p:sp>
        <p:nvSpPr>
          <p:cNvPr id="16" name="Shape 14"/>
          <p:cNvSpPr/>
          <p:nvPr/>
        </p:nvSpPr>
        <p:spPr>
          <a:xfrm>
            <a:off x="548640" y="3538728"/>
            <a:ext cx="7360920" cy="841248"/>
          </a:xfrm>
          <a:prstGeom prst="rect">
            <a:avLst/>
          </a:prstGeom>
          <a:solidFill>
            <a:srgbClr val="F5EEE4"/>
          </a:solidFill>
          <a:ln/>
        </p:spPr>
      </p:sp>
      <p:sp>
        <p:nvSpPr>
          <p:cNvPr id="17" name="Shape 15"/>
          <p:cNvSpPr/>
          <p:nvPr/>
        </p:nvSpPr>
        <p:spPr>
          <a:xfrm>
            <a:off x="548640" y="3538728"/>
            <a:ext cx="73152" cy="841248"/>
          </a:xfrm>
          <a:prstGeom prst="rect">
            <a:avLst/>
          </a:prstGeom>
          <a:solidFill>
            <a:srgbClr val="B0492B"/>
          </a:solidFill>
          <a:ln/>
        </p:spPr>
      </p:sp>
      <p:sp>
        <p:nvSpPr>
          <p:cNvPr id="18" name="Shape 16"/>
          <p:cNvSpPr/>
          <p:nvPr/>
        </p:nvSpPr>
        <p:spPr>
          <a:xfrm>
            <a:off x="841248" y="3703320"/>
            <a:ext cx="512064" cy="512064"/>
          </a:xfrm>
          <a:prstGeom prst="ellipse">
            <a:avLst/>
          </a:prstGeom>
          <a:solidFill>
            <a:srgbClr val="6F7B53"/>
          </a:solidFill>
          <a:ln/>
        </p:spPr>
      </p:sp>
      <p:sp>
        <p:nvSpPr>
          <p:cNvPr id="19" name="Text 17"/>
          <p:cNvSpPr/>
          <p:nvPr/>
        </p:nvSpPr>
        <p:spPr>
          <a:xfrm>
            <a:off x="841248" y="3703320"/>
            <a:ext cx="512064" cy="512064"/>
          </a:xfrm>
          <a:prstGeom prst="rect">
            <a:avLst/>
          </a:prstGeom>
          <a:noFill/>
          <a:ln/>
        </p:spPr>
        <p:txBody>
          <a:bodyPr wrap="square" lIns="0" tIns="0" rIns="0" bIns="0" rtlCol="0" anchor="ctr"/>
          <a:lstStyle/>
          <a:p>
            <a:pPr algn="ctr" indent="0" marL="0">
              <a:buNone/>
            </a:pPr>
            <a:r>
              <a:rPr lang="en-US" sz="1456" b="1" dirty="0">
                <a:solidFill>
                  <a:srgbClr val="FFFFFF"/>
                </a:solidFill>
                <a:latin typeface="Georgia" pitchFamily="34" charset="0"/>
                <a:ea typeface="Georgia" pitchFamily="34" charset="-122"/>
                <a:cs typeface="Georgia" pitchFamily="34" charset="-120"/>
              </a:rPr>
              <a:t>3</a:t>
            </a:r>
            <a:endParaRPr lang="en-US" sz="1456" dirty="0"/>
          </a:p>
        </p:txBody>
      </p:sp>
      <p:sp>
        <p:nvSpPr>
          <p:cNvPr id="20" name="Text 18"/>
          <p:cNvSpPr/>
          <p:nvPr/>
        </p:nvSpPr>
        <p:spPr>
          <a:xfrm>
            <a:off x="1600200" y="3630168"/>
            <a:ext cx="6126480" cy="347472"/>
          </a:xfrm>
          <a:prstGeom prst="rect">
            <a:avLst/>
          </a:prstGeom>
          <a:noFill/>
          <a:ln/>
        </p:spPr>
        <p:txBody>
          <a:bodyPr wrap="square" lIns="0" tIns="0" rIns="0" bIns="0" rtlCol="0" anchor="ctr"/>
          <a:lstStyle/>
          <a:p>
            <a:pPr indent="0" marL="0">
              <a:buNone/>
            </a:pPr>
            <a:r>
              <a:rPr lang="en-US" sz="1650" b="1" dirty="0">
                <a:solidFill>
                  <a:srgbClr val="2B2118"/>
                </a:solidFill>
                <a:latin typeface="Georgia" pitchFamily="34" charset="0"/>
                <a:ea typeface="Georgia" pitchFamily="34" charset="-122"/>
                <a:cs typeface="Georgia" pitchFamily="34" charset="-120"/>
              </a:rPr>
              <a:t>ADAM</a:t>
            </a:r>
            <a:endParaRPr lang="en-US" sz="1650" dirty="0"/>
          </a:p>
        </p:txBody>
      </p:sp>
      <p:sp>
        <p:nvSpPr>
          <p:cNvPr id="21" name="Text 19"/>
          <p:cNvSpPr/>
          <p:nvPr/>
        </p:nvSpPr>
        <p:spPr>
          <a:xfrm>
            <a:off x="1600200" y="3959352"/>
            <a:ext cx="6126480" cy="329184"/>
          </a:xfrm>
          <a:prstGeom prst="rect">
            <a:avLst/>
          </a:prstGeom>
          <a:noFill/>
          <a:ln/>
        </p:spPr>
        <p:txBody>
          <a:bodyPr wrap="square" lIns="0" tIns="0" rIns="0" bIns="0" rtlCol="0" anchor="ctr"/>
          <a:lstStyle/>
          <a:p>
            <a:pPr indent="0" marL="0">
              <a:buNone/>
            </a:pPr>
            <a:r>
              <a:rPr lang="en-US" sz="1250" dirty="0">
                <a:solidFill>
                  <a:srgbClr val="8A7A6B"/>
                </a:solidFill>
                <a:latin typeface="Calibri" pitchFamily="34" charset="0"/>
                <a:ea typeface="Calibri" pitchFamily="34" charset="-122"/>
                <a:cs typeface="Calibri" pitchFamily="34" charset="-120"/>
              </a:rPr>
              <a:t>L'umano «tratto dalla terra»: non (ancora) un nome maschile.</a:t>
            </a:r>
            <a:endParaRPr lang="en-US" sz="1250" dirty="0"/>
          </a:p>
        </p:txBody>
      </p:sp>
      <p:sp>
        <p:nvSpPr>
          <p:cNvPr id="22" name="Shape 20"/>
          <p:cNvSpPr/>
          <p:nvPr/>
        </p:nvSpPr>
        <p:spPr>
          <a:xfrm>
            <a:off x="548640" y="4416552"/>
            <a:ext cx="7360920" cy="841248"/>
          </a:xfrm>
          <a:prstGeom prst="rect">
            <a:avLst/>
          </a:prstGeom>
          <a:solidFill>
            <a:srgbClr val="FBF6EF"/>
          </a:solidFill>
          <a:ln/>
        </p:spPr>
      </p:sp>
      <p:sp>
        <p:nvSpPr>
          <p:cNvPr id="23" name="Shape 21"/>
          <p:cNvSpPr/>
          <p:nvPr/>
        </p:nvSpPr>
        <p:spPr>
          <a:xfrm>
            <a:off x="548640" y="4416552"/>
            <a:ext cx="73152" cy="841248"/>
          </a:xfrm>
          <a:prstGeom prst="rect">
            <a:avLst/>
          </a:prstGeom>
          <a:solidFill>
            <a:srgbClr val="B0492B"/>
          </a:solidFill>
          <a:ln/>
        </p:spPr>
      </p:sp>
      <p:sp>
        <p:nvSpPr>
          <p:cNvPr id="24" name="Shape 22"/>
          <p:cNvSpPr/>
          <p:nvPr/>
        </p:nvSpPr>
        <p:spPr>
          <a:xfrm>
            <a:off x="841248" y="4581144"/>
            <a:ext cx="512064" cy="512064"/>
          </a:xfrm>
          <a:prstGeom prst="ellipse">
            <a:avLst/>
          </a:prstGeom>
          <a:solidFill>
            <a:srgbClr val="B0492B"/>
          </a:solidFill>
          <a:ln/>
        </p:spPr>
      </p:sp>
      <p:sp>
        <p:nvSpPr>
          <p:cNvPr id="25" name="Text 23"/>
          <p:cNvSpPr/>
          <p:nvPr/>
        </p:nvSpPr>
        <p:spPr>
          <a:xfrm>
            <a:off x="841248" y="4581144"/>
            <a:ext cx="512064" cy="512064"/>
          </a:xfrm>
          <a:prstGeom prst="rect">
            <a:avLst/>
          </a:prstGeom>
          <a:noFill/>
          <a:ln/>
        </p:spPr>
        <p:txBody>
          <a:bodyPr wrap="square" lIns="0" tIns="0" rIns="0" bIns="0" rtlCol="0" anchor="ctr"/>
          <a:lstStyle/>
          <a:p>
            <a:pPr algn="ctr" indent="0" marL="0">
              <a:buNone/>
            </a:pPr>
            <a:r>
              <a:rPr lang="en-US" sz="1456" b="1" dirty="0">
                <a:solidFill>
                  <a:srgbClr val="FFFFFF"/>
                </a:solidFill>
                <a:latin typeface="Georgia" pitchFamily="34" charset="0"/>
                <a:ea typeface="Georgia" pitchFamily="34" charset="-122"/>
                <a:cs typeface="Georgia" pitchFamily="34" charset="-120"/>
              </a:rPr>
              <a:t>4</a:t>
            </a:r>
            <a:endParaRPr lang="en-US" sz="1456" dirty="0"/>
          </a:p>
        </p:txBody>
      </p:sp>
      <p:sp>
        <p:nvSpPr>
          <p:cNvPr id="26" name="Text 24"/>
          <p:cNvSpPr/>
          <p:nvPr/>
        </p:nvSpPr>
        <p:spPr>
          <a:xfrm>
            <a:off x="1600200" y="4507992"/>
            <a:ext cx="6126480" cy="347472"/>
          </a:xfrm>
          <a:prstGeom prst="rect">
            <a:avLst/>
          </a:prstGeom>
          <a:noFill/>
          <a:ln/>
        </p:spPr>
        <p:txBody>
          <a:bodyPr wrap="square" lIns="0" tIns="0" rIns="0" bIns="0" rtlCol="0" anchor="ctr"/>
          <a:lstStyle/>
          <a:p>
            <a:pPr indent="0" marL="0">
              <a:buNone/>
            </a:pPr>
            <a:r>
              <a:rPr lang="en-US" sz="1650" b="1" dirty="0">
                <a:solidFill>
                  <a:srgbClr val="2B2118"/>
                </a:solidFill>
                <a:latin typeface="Georgia" pitchFamily="34" charset="0"/>
                <a:ea typeface="Georgia" pitchFamily="34" charset="-122"/>
                <a:cs typeface="Georgia" pitchFamily="34" charset="-120"/>
              </a:rPr>
              <a:t>ISH e ISHÀ</a:t>
            </a:r>
            <a:endParaRPr lang="en-US" sz="1650" dirty="0"/>
          </a:p>
        </p:txBody>
      </p:sp>
      <p:sp>
        <p:nvSpPr>
          <p:cNvPr id="27" name="Text 25"/>
          <p:cNvSpPr/>
          <p:nvPr/>
        </p:nvSpPr>
        <p:spPr>
          <a:xfrm>
            <a:off x="1600200" y="4837176"/>
            <a:ext cx="6126480" cy="329184"/>
          </a:xfrm>
          <a:prstGeom prst="rect">
            <a:avLst/>
          </a:prstGeom>
          <a:noFill/>
          <a:ln/>
        </p:spPr>
        <p:txBody>
          <a:bodyPr wrap="square" lIns="0" tIns="0" rIns="0" bIns="0" rtlCol="0" anchor="ctr"/>
          <a:lstStyle/>
          <a:p>
            <a:pPr indent="0" marL="0">
              <a:buNone/>
            </a:pPr>
            <a:r>
              <a:rPr lang="en-US" sz="1250" dirty="0">
                <a:solidFill>
                  <a:srgbClr val="8A7A6B"/>
                </a:solidFill>
                <a:latin typeface="Calibri" pitchFamily="34" charset="0"/>
                <a:ea typeface="Calibri" pitchFamily="34" charset="-122"/>
                <a:cs typeface="Calibri" pitchFamily="34" charset="-120"/>
              </a:rPr>
              <a:t>L'identità maschile e femminile nasce nell'incontro.</a:t>
            </a:r>
            <a:endParaRPr lang="en-US" sz="1250" dirty="0"/>
          </a:p>
        </p:txBody>
      </p:sp>
      <p:sp>
        <p:nvSpPr>
          <p:cNvPr id="28" name="Shape 26"/>
          <p:cNvSpPr/>
          <p:nvPr/>
        </p:nvSpPr>
        <p:spPr>
          <a:xfrm>
            <a:off x="548640" y="5294376"/>
            <a:ext cx="7360920" cy="841248"/>
          </a:xfrm>
          <a:prstGeom prst="rect">
            <a:avLst/>
          </a:prstGeom>
          <a:solidFill>
            <a:srgbClr val="F5EEE4"/>
          </a:solidFill>
          <a:ln/>
        </p:spPr>
      </p:sp>
      <p:sp>
        <p:nvSpPr>
          <p:cNvPr id="29" name="Shape 27"/>
          <p:cNvSpPr/>
          <p:nvPr/>
        </p:nvSpPr>
        <p:spPr>
          <a:xfrm>
            <a:off x="548640" y="5294376"/>
            <a:ext cx="73152" cy="841248"/>
          </a:xfrm>
          <a:prstGeom prst="rect">
            <a:avLst/>
          </a:prstGeom>
          <a:solidFill>
            <a:srgbClr val="B0492B"/>
          </a:solidFill>
          <a:ln/>
        </p:spPr>
      </p:sp>
      <p:sp>
        <p:nvSpPr>
          <p:cNvPr id="30" name="Shape 28"/>
          <p:cNvSpPr/>
          <p:nvPr/>
        </p:nvSpPr>
        <p:spPr>
          <a:xfrm>
            <a:off x="841248" y="5458968"/>
            <a:ext cx="512064" cy="512064"/>
          </a:xfrm>
          <a:prstGeom prst="ellipse">
            <a:avLst/>
          </a:prstGeom>
          <a:solidFill>
            <a:srgbClr val="6F7B53"/>
          </a:solidFill>
          <a:ln/>
        </p:spPr>
      </p:sp>
      <p:sp>
        <p:nvSpPr>
          <p:cNvPr id="31" name="Text 29"/>
          <p:cNvSpPr/>
          <p:nvPr/>
        </p:nvSpPr>
        <p:spPr>
          <a:xfrm>
            <a:off x="841248" y="5458968"/>
            <a:ext cx="512064" cy="512064"/>
          </a:xfrm>
          <a:prstGeom prst="rect">
            <a:avLst/>
          </a:prstGeom>
          <a:noFill/>
          <a:ln/>
        </p:spPr>
        <p:txBody>
          <a:bodyPr wrap="square" lIns="0" tIns="0" rIns="0" bIns="0" rtlCol="0" anchor="ctr"/>
          <a:lstStyle/>
          <a:p>
            <a:pPr algn="ctr" indent="0" marL="0">
              <a:buNone/>
            </a:pPr>
            <a:r>
              <a:rPr lang="en-US" sz="1456" b="1" dirty="0">
                <a:solidFill>
                  <a:srgbClr val="FFFFFF"/>
                </a:solidFill>
                <a:latin typeface="Georgia" pitchFamily="34" charset="0"/>
                <a:ea typeface="Georgia" pitchFamily="34" charset="-122"/>
                <a:cs typeface="Georgia" pitchFamily="34" charset="-120"/>
              </a:rPr>
              <a:t>5</a:t>
            </a:r>
            <a:endParaRPr lang="en-US" sz="1456" dirty="0"/>
          </a:p>
        </p:txBody>
      </p:sp>
      <p:sp>
        <p:nvSpPr>
          <p:cNvPr id="32" name="Text 30"/>
          <p:cNvSpPr/>
          <p:nvPr/>
        </p:nvSpPr>
        <p:spPr>
          <a:xfrm>
            <a:off x="1600200" y="5385816"/>
            <a:ext cx="6126480" cy="347472"/>
          </a:xfrm>
          <a:prstGeom prst="rect">
            <a:avLst/>
          </a:prstGeom>
          <a:noFill/>
          <a:ln/>
        </p:spPr>
        <p:txBody>
          <a:bodyPr wrap="square" lIns="0" tIns="0" rIns="0" bIns="0" rtlCol="0" anchor="ctr"/>
          <a:lstStyle/>
          <a:p>
            <a:pPr indent="0" marL="0">
              <a:buNone/>
            </a:pPr>
            <a:r>
              <a:rPr lang="en-US" sz="1650" b="1" dirty="0">
                <a:solidFill>
                  <a:srgbClr val="2B2118"/>
                </a:solidFill>
                <a:latin typeface="Georgia" pitchFamily="34" charset="0"/>
                <a:ea typeface="Georgia" pitchFamily="34" charset="-122"/>
                <a:cs typeface="Georgia" pitchFamily="34" charset="-120"/>
              </a:rPr>
              <a:t>Dal testo all'oggi</a:t>
            </a:r>
            <a:endParaRPr lang="en-US" sz="1650" dirty="0"/>
          </a:p>
        </p:txBody>
      </p:sp>
      <p:sp>
        <p:nvSpPr>
          <p:cNvPr id="33" name="Text 31"/>
          <p:cNvSpPr/>
          <p:nvPr/>
        </p:nvSpPr>
        <p:spPr>
          <a:xfrm>
            <a:off x="1600200" y="5715000"/>
            <a:ext cx="6126480" cy="329184"/>
          </a:xfrm>
          <a:prstGeom prst="rect">
            <a:avLst/>
          </a:prstGeom>
          <a:noFill/>
          <a:ln/>
        </p:spPr>
        <p:txBody>
          <a:bodyPr wrap="square" lIns="0" tIns="0" rIns="0" bIns="0" rtlCol="0" anchor="ctr"/>
          <a:lstStyle/>
          <a:p>
            <a:pPr indent="0" marL="0">
              <a:buNone/>
            </a:pPr>
            <a:r>
              <a:rPr lang="en-US" sz="1250" dirty="0">
                <a:solidFill>
                  <a:srgbClr val="8A7A6B"/>
                </a:solidFill>
                <a:latin typeface="Calibri" pitchFamily="34" charset="0"/>
                <a:ea typeface="Calibri" pitchFamily="34" charset="-122"/>
                <a:cs typeface="Calibri" pitchFamily="34" charset="-120"/>
              </a:rPr>
              <a:t>Uguaglianza, reciprocità e un'attività finale insieme.</a:t>
            </a:r>
            <a:endParaRPr lang="en-US" sz="1250" dirty="0"/>
          </a:p>
        </p:txBody>
      </p:sp>
      <p:sp>
        <p:nvSpPr>
          <p:cNvPr id="34" name="Shape 32"/>
          <p:cNvSpPr/>
          <p:nvPr/>
        </p:nvSpPr>
        <p:spPr>
          <a:xfrm>
            <a:off x="8229600" y="1783080"/>
            <a:ext cx="3383280" cy="4251960"/>
          </a:xfrm>
          <a:prstGeom prst="rect">
            <a:avLst/>
          </a:prstGeom>
          <a:solidFill>
            <a:srgbClr val="33211A"/>
          </a:solidFill>
          <a:ln/>
          <a:effectLst>
            <a:outerShdw sx="100000" sy="100000" kx="0" ky="0" algn="bl" rotWithShape="0" blurRad="127000" dist="25400" dir="5400000">
              <a:srgbClr val="000000">
                <a:alpha val="10000"/>
              </a:srgbClr>
            </a:outerShdw>
          </a:effectLst>
        </p:spPr>
      </p:sp>
      <p:pic>
        <p:nvPicPr>
          <p:cNvPr id="35" name="Image 0" descr="assets/ic_comments_gold.png">    </p:cNvPr>
          <p:cNvPicPr>
            <a:picLocks noChangeAspect="1"/>
          </p:cNvPicPr>
          <p:nvPr/>
        </p:nvPicPr>
        <p:blipFill>
          <a:blip r:embed="rId1"/>
          <a:stretch>
            <a:fillRect/>
          </a:stretch>
        </p:blipFill>
        <p:spPr>
          <a:xfrm>
            <a:off x="8595360" y="2148840"/>
            <a:ext cx="640080" cy="640080"/>
          </a:xfrm>
          <a:prstGeom prst="rect">
            <a:avLst/>
          </a:prstGeom>
        </p:spPr>
      </p:pic>
      <p:sp>
        <p:nvSpPr>
          <p:cNvPr id="36" name="Text 33"/>
          <p:cNvSpPr/>
          <p:nvPr/>
        </p:nvSpPr>
        <p:spPr>
          <a:xfrm>
            <a:off x="8595360" y="2926080"/>
            <a:ext cx="2743200" cy="365760"/>
          </a:xfrm>
          <a:prstGeom prst="rect">
            <a:avLst/>
          </a:prstGeom>
          <a:noFill/>
          <a:ln/>
        </p:spPr>
        <p:txBody>
          <a:bodyPr wrap="square" lIns="0" tIns="0" rIns="0" bIns="0" rtlCol="0" anchor="ctr"/>
          <a:lstStyle/>
          <a:p>
            <a:pPr indent="0" marL="0">
              <a:buNone/>
            </a:pPr>
            <a:r>
              <a:rPr lang="en-US" sz="1700" b="1" dirty="0">
                <a:solidFill>
                  <a:srgbClr val="F5EFE8"/>
                </a:solidFill>
                <a:latin typeface="Georgia" pitchFamily="34" charset="0"/>
                <a:ea typeface="Georgia" pitchFamily="34" charset="-122"/>
                <a:cs typeface="Georgia" pitchFamily="34" charset="-120"/>
              </a:rPr>
              <a:t>Lezione dialogata</a:t>
            </a:r>
            <a:endParaRPr lang="en-US" sz="1700" dirty="0"/>
          </a:p>
        </p:txBody>
      </p:sp>
      <p:sp>
        <p:nvSpPr>
          <p:cNvPr id="37" name="Text 34"/>
          <p:cNvSpPr/>
          <p:nvPr/>
        </p:nvSpPr>
        <p:spPr>
          <a:xfrm>
            <a:off x="8595360" y="3337560"/>
            <a:ext cx="2743200" cy="2468880"/>
          </a:xfrm>
          <a:prstGeom prst="rect">
            <a:avLst/>
          </a:prstGeom>
          <a:noFill/>
          <a:ln/>
        </p:spPr>
        <p:txBody>
          <a:bodyPr wrap="square" lIns="0" tIns="0" rIns="0" bIns="0" rtlCol="0" anchor="t"/>
          <a:lstStyle/>
          <a:p>
            <a:pPr indent="0" marL="0">
              <a:lnSpc>
                <a:spcPct val="112000"/>
              </a:lnSpc>
              <a:buNone/>
            </a:pPr>
            <a:r>
              <a:rPr lang="en-US" sz="1300" dirty="0">
                <a:solidFill>
                  <a:srgbClr val="C9B5A4"/>
                </a:solidFill>
                <a:latin typeface="Calibri" pitchFamily="34" charset="0"/>
                <a:ea typeface="Calibri" pitchFamily="34" charset="-122"/>
                <a:cs typeface="Calibri" pitchFamily="34" charset="-120"/>
              </a:rPr>
              <a:t>Ci fermeremo più volte: brainstorming, confronto a coppie e un mini-dibattito.</a:t>
            </a:r>
            <a:endParaRPr lang="en-US" sz="1300" dirty="0"/>
          </a:p>
          <a:p>
            <a:pPr indent="0" marL="0">
              <a:lnSpc>
                <a:spcPct val="112000"/>
              </a:lnSpc>
              <a:buNone/>
            </a:pPr>
            <a:endParaRPr lang="en-US" sz="1300" dirty="0"/>
          </a:p>
          <a:p>
            <a:pPr indent="0" marL="0">
              <a:lnSpc>
                <a:spcPct val="112000"/>
              </a:lnSpc>
              <a:buNone/>
            </a:pPr>
            <a:r>
              <a:rPr lang="en-US" sz="1300" dirty="0">
                <a:solidFill>
                  <a:srgbClr val="C9B5A4"/>
                </a:solidFill>
                <a:latin typeface="Calibri" pitchFamily="34" charset="0"/>
                <a:ea typeface="Calibri" pitchFamily="34" charset="-122"/>
                <a:cs typeface="Calibri" pitchFamily="34" charset="-120"/>
              </a:rPr>
              <a:t>Le icone come questa segnalano i momenti in cui tocca a voi.</a:t>
            </a:r>
            <a:endParaRPr lang="en-US" sz="1300" dirty="0"/>
          </a:p>
        </p:txBody>
      </p:sp>
      <p:sp>
        <p:nvSpPr>
          <p:cNvPr id="38" name="Text 35"/>
          <p:cNvSpPr/>
          <p:nvPr/>
        </p:nvSpPr>
        <p:spPr>
          <a:xfrm>
            <a:off x="502920" y="6437376"/>
            <a:ext cx="4572000" cy="274320"/>
          </a:xfrm>
          <a:prstGeom prst="rect">
            <a:avLst/>
          </a:prstGeom>
          <a:noFill/>
          <a:ln/>
        </p:spPr>
        <p:txBody>
          <a:bodyPr wrap="square" lIns="0" tIns="0" rIns="0" bIns="0" rtlCol="0" anchor="ctr"/>
          <a:lstStyle/>
          <a:p>
            <a:pPr algn="l" indent="0" marL="0">
              <a:buNone/>
            </a:pPr>
            <a:r>
              <a:rPr lang="en-US" sz="900" dirty="0">
                <a:solidFill>
                  <a:srgbClr val="8A7A6B"/>
                </a:solidFill>
                <a:latin typeface="Calibri" pitchFamily="34" charset="0"/>
                <a:ea typeface="Calibri" pitchFamily="34" charset="-122"/>
                <a:cs typeface="Calibri" pitchFamily="34" charset="-120"/>
              </a:rPr>
              <a:t>IRC · Liceo Scientifico</a:t>
            </a:r>
            <a:endParaRPr lang="en-US" sz="900" dirty="0"/>
          </a:p>
        </p:txBody>
      </p:sp>
      <p:sp>
        <p:nvSpPr>
          <p:cNvPr id="39" name="Text 36"/>
          <p:cNvSpPr/>
          <p:nvPr/>
        </p:nvSpPr>
        <p:spPr>
          <a:xfrm>
            <a:off x="7116775" y="6437376"/>
            <a:ext cx="4572000" cy="274320"/>
          </a:xfrm>
          <a:prstGeom prst="rect">
            <a:avLst/>
          </a:prstGeom>
          <a:noFill/>
          <a:ln/>
        </p:spPr>
        <p:txBody>
          <a:bodyPr wrap="square" lIns="0" tIns="0" rIns="0" bIns="0" rtlCol="0" anchor="ctr"/>
          <a:lstStyle/>
          <a:p>
            <a:pPr algn="r" indent="0" marL="0">
              <a:buNone/>
            </a:pPr>
            <a:r>
              <a:rPr lang="en-US" sz="900" dirty="0">
                <a:solidFill>
                  <a:srgbClr val="8A7A6B"/>
                </a:solidFill>
                <a:latin typeface="Calibri" pitchFamily="34" charset="0"/>
                <a:ea typeface="Calibri" pitchFamily="34" charset="-122"/>
                <a:cs typeface="Calibri" pitchFamily="34" charset="-120"/>
              </a:rPr>
              <a:t>Mappa   ·   </a:t>
            </a:r>
            <a:pPr algn="r" indent="0" marL="0">
              <a:buNone/>
            </a:pPr>
            <a:r>
              <a:rPr lang="en-US" sz="900" b="1" dirty="0">
                <a:solidFill>
                  <a:srgbClr val="B0492B"/>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33211A"/>
        </a:solidFill>
      </p:bgPr>
    </p:bg>
    <p:spTree>
      <p:nvGrpSpPr>
        <p:cNvPr id="1" name=""/>
        <p:cNvGrpSpPr/>
        <p:nvPr/>
      </p:nvGrpSpPr>
      <p:grpSpPr>
        <a:xfrm>
          <a:off x="0" y="0"/>
          <a:ext cx="0" cy="0"/>
          <a:chOff x="0" y="0"/>
          <a:chExt cx="0" cy="0"/>
        </a:xfrm>
      </p:grpSpPr>
      <p:sp>
        <p:nvSpPr>
          <p:cNvPr id="2" name="Shape 0"/>
          <p:cNvSpPr/>
          <p:nvPr/>
        </p:nvSpPr>
        <p:spPr>
          <a:xfrm>
            <a:off x="548640" y="548640"/>
            <a:ext cx="603504" cy="603504"/>
          </a:xfrm>
          <a:prstGeom prst="ellipse">
            <a:avLst/>
          </a:prstGeom>
          <a:solidFill>
            <a:srgbClr val="B0492B"/>
          </a:solidFill>
          <a:ln/>
        </p:spPr>
      </p:sp>
      <p:sp>
        <p:nvSpPr>
          <p:cNvPr id="3" name="Text 1"/>
          <p:cNvSpPr/>
          <p:nvPr/>
        </p:nvSpPr>
        <p:spPr>
          <a:xfrm>
            <a:off x="548640" y="548640"/>
            <a:ext cx="603504" cy="603504"/>
          </a:xfrm>
          <a:prstGeom prst="rect">
            <a:avLst/>
          </a:prstGeom>
          <a:noFill/>
          <a:ln/>
        </p:spPr>
        <p:txBody>
          <a:bodyPr wrap="square" lIns="0" tIns="0" rIns="0" bIns="0" rtlCol="0" anchor="ctr"/>
          <a:lstStyle/>
          <a:p>
            <a:pPr algn="ctr" indent="0" marL="0">
              <a:buNone/>
            </a:pPr>
            <a:r>
              <a:rPr lang="en-US" sz="1716" b="1" dirty="0">
                <a:solidFill>
                  <a:srgbClr val="FFFFFF"/>
                </a:solidFill>
                <a:latin typeface="Georgia" pitchFamily="34" charset="0"/>
                <a:ea typeface="Georgia" pitchFamily="34" charset="-122"/>
                <a:cs typeface="Georgia" pitchFamily="34" charset="-120"/>
              </a:rPr>
              <a:t>1</a:t>
            </a:r>
            <a:endParaRPr lang="en-US" sz="1716" dirty="0"/>
          </a:p>
        </p:txBody>
      </p:sp>
      <p:sp>
        <p:nvSpPr>
          <p:cNvPr id="4" name="Text 2"/>
          <p:cNvSpPr/>
          <p:nvPr/>
        </p:nvSpPr>
        <p:spPr>
          <a:xfrm>
            <a:off x="1325880" y="676656"/>
            <a:ext cx="7315200" cy="274320"/>
          </a:xfrm>
          <a:prstGeom prst="rect">
            <a:avLst/>
          </a:prstGeom>
          <a:noFill/>
          <a:ln/>
        </p:spPr>
        <p:txBody>
          <a:bodyPr wrap="square" lIns="0" tIns="0" rIns="0" bIns="0" rtlCol="0" anchor="ctr"/>
          <a:lstStyle/>
          <a:p>
            <a:pPr algn="l" indent="0" marL="0">
              <a:buNone/>
            </a:pPr>
            <a:r>
              <a:rPr lang="en-US" sz="1150" b="1" spc="300" kern="0" dirty="0">
                <a:solidFill>
                  <a:srgbClr val="D8A24A"/>
                </a:solidFill>
                <a:latin typeface="Calibri" pitchFamily="34" charset="0"/>
                <a:ea typeface="Calibri" pitchFamily="34" charset="-122"/>
                <a:cs typeface="Calibri" pitchFamily="34" charset="-120"/>
              </a:rPr>
              <a:t>PER COMINCIARE · BRAINSTORMING</a:t>
            </a:r>
            <a:endParaRPr lang="en-US" sz="1150" dirty="0"/>
          </a:p>
        </p:txBody>
      </p:sp>
      <p:pic>
        <p:nvPicPr>
          <p:cNvPr id="5" name="Image 0" descr="assets/ic_q_gold.png">    </p:cNvPr>
          <p:cNvPicPr>
            <a:picLocks noChangeAspect="1"/>
          </p:cNvPicPr>
          <p:nvPr/>
        </p:nvPicPr>
        <p:blipFill>
          <a:blip r:embed="rId1">
            <a:alphaModFix amt="90000"/>
          </a:blip>
          <a:stretch>
            <a:fillRect/>
          </a:stretch>
        </p:blipFill>
        <p:spPr>
          <a:xfrm>
            <a:off x="10698480" y="640080"/>
            <a:ext cx="868680" cy="868680"/>
          </a:xfrm>
          <a:prstGeom prst="rect">
            <a:avLst/>
          </a:prstGeom>
        </p:spPr>
      </p:pic>
      <p:sp>
        <p:nvSpPr>
          <p:cNvPr id="6" name="Text 3"/>
          <p:cNvSpPr/>
          <p:nvPr/>
        </p:nvSpPr>
        <p:spPr>
          <a:xfrm>
            <a:off x="548640" y="1554480"/>
            <a:ext cx="10515600" cy="1554480"/>
          </a:xfrm>
          <a:prstGeom prst="rect">
            <a:avLst/>
          </a:prstGeom>
          <a:noFill/>
          <a:ln/>
        </p:spPr>
        <p:txBody>
          <a:bodyPr wrap="square" lIns="0" tIns="0" rIns="0" bIns="0" rtlCol="0" anchor="t"/>
          <a:lstStyle/>
          <a:p>
            <a:pPr indent="0" marL="0">
              <a:lnSpc>
                <a:spcPct val="103000"/>
              </a:lnSpc>
              <a:buNone/>
            </a:pPr>
            <a:r>
              <a:rPr lang="en-US" sz="4000" b="1" dirty="0">
                <a:solidFill>
                  <a:srgbClr val="F5EFE8"/>
                </a:solidFill>
                <a:latin typeface="Georgia" pitchFamily="34" charset="0"/>
                <a:ea typeface="Georgia" pitchFamily="34" charset="-122"/>
                <a:cs typeface="Georgia" pitchFamily="34" charset="-120"/>
              </a:rPr>
              <a:t>Che cosa rende una persona</a:t>
            </a:r>
            <a:endParaRPr lang="en-US" sz="4000" dirty="0"/>
          </a:p>
          <a:p>
            <a:pPr indent="0" marL="0">
              <a:lnSpc>
                <a:spcPct val="103000"/>
              </a:lnSpc>
              <a:buNone/>
            </a:pPr>
            <a:r>
              <a:rPr lang="en-US" sz="4000" b="1" dirty="0">
                <a:solidFill>
                  <a:srgbClr val="F5EFE8"/>
                </a:solidFill>
                <a:latin typeface="Georgia" pitchFamily="34" charset="0"/>
                <a:ea typeface="Georgia" pitchFamily="34" charset="-122"/>
                <a:cs typeface="Georgia" pitchFamily="34" charset="-120"/>
              </a:rPr>
              <a:t>«uomo» o «donna»?</a:t>
            </a:r>
            <a:endParaRPr lang="en-US" sz="4000" dirty="0"/>
          </a:p>
        </p:txBody>
      </p:sp>
      <p:sp>
        <p:nvSpPr>
          <p:cNvPr id="7" name="Shape 4"/>
          <p:cNvSpPr/>
          <p:nvPr/>
        </p:nvSpPr>
        <p:spPr>
          <a:xfrm>
            <a:off x="548640" y="3429000"/>
            <a:ext cx="1330452" cy="566928"/>
          </a:xfrm>
          <a:prstGeom prst="roundRect">
            <a:avLst>
              <a:gd name="adj" fmla="val 50000"/>
            </a:avLst>
          </a:prstGeom>
          <a:solidFill>
            <a:srgbClr val="FFFFFF">
              <a:alpha val="12000"/>
            </a:srgbClr>
          </a:solidFill>
          <a:ln w="12700">
            <a:solidFill>
              <a:srgbClr val="D8A24A"/>
            </a:solidFill>
            <a:prstDash val="solid"/>
          </a:ln>
        </p:spPr>
      </p:sp>
      <p:sp>
        <p:nvSpPr>
          <p:cNvPr id="8" name="Text 5"/>
          <p:cNvSpPr/>
          <p:nvPr/>
        </p:nvSpPr>
        <p:spPr>
          <a:xfrm>
            <a:off x="548640" y="3429000"/>
            <a:ext cx="1330452" cy="566928"/>
          </a:xfrm>
          <a:prstGeom prst="rect">
            <a:avLst/>
          </a:prstGeom>
          <a:noFill/>
          <a:ln/>
        </p:spPr>
        <p:txBody>
          <a:bodyPr wrap="square" lIns="0" tIns="0" rIns="0" bIns="0" rtlCol="0" anchor="ctr"/>
          <a:lstStyle/>
          <a:p>
            <a:pPr algn="ctr" indent="0" marL="0">
              <a:buNone/>
            </a:pPr>
            <a:r>
              <a:rPr lang="en-US" sz="1500" dirty="0">
                <a:solidFill>
                  <a:srgbClr val="F5EFE8"/>
                </a:solidFill>
                <a:latin typeface="Calibri" pitchFamily="34" charset="0"/>
                <a:ea typeface="Calibri" pitchFamily="34" charset="-122"/>
                <a:cs typeface="Calibri" pitchFamily="34" charset="-120"/>
              </a:rPr>
              <a:t>Il corpo?</a:t>
            </a:r>
            <a:endParaRPr lang="en-US" sz="1500" dirty="0"/>
          </a:p>
        </p:txBody>
      </p:sp>
      <p:sp>
        <p:nvSpPr>
          <p:cNvPr id="9" name="Shape 6"/>
          <p:cNvSpPr/>
          <p:nvPr/>
        </p:nvSpPr>
        <p:spPr>
          <a:xfrm>
            <a:off x="2107692" y="3429000"/>
            <a:ext cx="1225296" cy="566928"/>
          </a:xfrm>
          <a:prstGeom prst="roundRect">
            <a:avLst>
              <a:gd name="adj" fmla="val 50000"/>
            </a:avLst>
          </a:prstGeom>
          <a:solidFill>
            <a:srgbClr val="FFFFFF">
              <a:alpha val="12000"/>
            </a:srgbClr>
          </a:solidFill>
          <a:ln w="12700">
            <a:solidFill>
              <a:srgbClr val="D8A24A"/>
            </a:solidFill>
            <a:prstDash val="solid"/>
          </a:ln>
        </p:spPr>
      </p:sp>
      <p:sp>
        <p:nvSpPr>
          <p:cNvPr id="10" name="Text 7"/>
          <p:cNvSpPr/>
          <p:nvPr/>
        </p:nvSpPr>
        <p:spPr>
          <a:xfrm>
            <a:off x="2107692" y="3429000"/>
            <a:ext cx="1225296" cy="566928"/>
          </a:xfrm>
          <a:prstGeom prst="rect">
            <a:avLst/>
          </a:prstGeom>
          <a:noFill/>
          <a:ln/>
        </p:spPr>
        <p:txBody>
          <a:bodyPr wrap="square" lIns="0" tIns="0" rIns="0" bIns="0" rtlCol="0" anchor="ctr"/>
          <a:lstStyle/>
          <a:p>
            <a:pPr algn="ctr" indent="0" marL="0">
              <a:buNone/>
            </a:pPr>
            <a:r>
              <a:rPr lang="en-US" sz="1500" dirty="0">
                <a:solidFill>
                  <a:srgbClr val="F5EFE8"/>
                </a:solidFill>
                <a:latin typeface="Calibri" pitchFamily="34" charset="0"/>
                <a:ea typeface="Calibri" pitchFamily="34" charset="-122"/>
                <a:cs typeface="Calibri" pitchFamily="34" charset="-120"/>
              </a:rPr>
              <a:t>I ruoli?</a:t>
            </a:r>
            <a:endParaRPr lang="en-US" sz="1500" dirty="0"/>
          </a:p>
        </p:txBody>
      </p:sp>
      <p:sp>
        <p:nvSpPr>
          <p:cNvPr id="11" name="Shape 8"/>
          <p:cNvSpPr/>
          <p:nvPr/>
        </p:nvSpPr>
        <p:spPr>
          <a:xfrm>
            <a:off x="3561588" y="3429000"/>
            <a:ext cx="1751076" cy="566928"/>
          </a:xfrm>
          <a:prstGeom prst="roundRect">
            <a:avLst>
              <a:gd name="adj" fmla="val 50000"/>
            </a:avLst>
          </a:prstGeom>
          <a:solidFill>
            <a:srgbClr val="FFFFFF">
              <a:alpha val="12000"/>
            </a:srgbClr>
          </a:solidFill>
          <a:ln w="12700">
            <a:solidFill>
              <a:srgbClr val="D8A24A"/>
            </a:solidFill>
            <a:prstDash val="solid"/>
          </a:ln>
        </p:spPr>
      </p:sp>
      <p:sp>
        <p:nvSpPr>
          <p:cNvPr id="12" name="Text 9"/>
          <p:cNvSpPr/>
          <p:nvPr/>
        </p:nvSpPr>
        <p:spPr>
          <a:xfrm>
            <a:off x="3561588" y="3429000"/>
            <a:ext cx="1751076" cy="566928"/>
          </a:xfrm>
          <a:prstGeom prst="rect">
            <a:avLst/>
          </a:prstGeom>
          <a:noFill/>
          <a:ln/>
        </p:spPr>
        <p:txBody>
          <a:bodyPr wrap="square" lIns="0" tIns="0" rIns="0" bIns="0" rtlCol="0" anchor="ctr"/>
          <a:lstStyle/>
          <a:p>
            <a:pPr algn="ctr" indent="0" marL="0">
              <a:buNone/>
            </a:pPr>
            <a:r>
              <a:rPr lang="en-US" sz="1500" dirty="0">
                <a:solidFill>
                  <a:srgbClr val="F5EFE8"/>
                </a:solidFill>
                <a:latin typeface="Calibri" pitchFamily="34" charset="0"/>
                <a:ea typeface="Calibri" pitchFamily="34" charset="-122"/>
                <a:cs typeface="Calibri" pitchFamily="34" charset="-120"/>
              </a:rPr>
              <a:t>Le relazioni?</a:t>
            </a:r>
            <a:endParaRPr lang="en-US" sz="1500" dirty="0"/>
          </a:p>
        </p:txBody>
      </p:sp>
      <p:sp>
        <p:nvSpPr>
          <p:cNvPr id="13" name="Shape 10"/>
          <p:cNvSpPr/>
          <p:nvPr/>
        </p:nvSpPr>
        <p:spPr>
          <a:xfrm>
            <a:off x="5541264" y="3429000"/>
            <a:ext cx="2802636" cy="566928"/>
          </a:xfrm>
          <a:prstGeom prst="roundRect">
            <a:avLst>
              <a:gd name="adj" fmla="val 50000"/>
            </a:avLst>
          </a:prstGeom>
          <a:solidFill>
            <a:srgbClr val="FFFFFF">
              <a:alpha val="12000"/>
            </a:srgbClr>
          </a:solidFill>
          <a:ln w="12700">
            <a:solidFill>
              <a:srgbClr val="D8A24A"/>
            </a:solidFill>
            <a:prstDash val="solid"/>
          </a:ln>
        </p:spPr>
      </p:sp>
      <p:sp>
        <p:nvSpPr>
          <p:cNvPr id="14" name="Text 11"/>
          <p:cNvSpPr/>
          <p:nvPr/>
        </p:nvSpPr>
        <p:spPr>
          <a:xfrm>
            <a:off x="5541264" y="3429000"/>
            <a:ext cx="2802636" cy="566928"/>
          </a:xfrm>
          <a:prstGeom prst="rect">
            <a:avLst/>
          </a:prstGeom>
          <a:noFill/>
          <a:ln/>
        </p:spPr>
        <p:txBody>
          <a:bodyPr wrap="square" lIns="0" tIns="0" rIns="0" bIns="0" rtlCol="0" anchor="ctr"/>
          <a:lstStyle/>
          <a:p>
            <a:pPr algn="ctr" indent="0" marL="0">
              <a:buNone/>
            </a:pPr>
            <a:r>
              <a:rPr lang="en-US" sz="1500" dirty="0">
                <a:solidFill>
                  <a:srgbClr val="F5EFE8"/>
                </a:solidFill>
                <a:latin typeface="Calibri" pitchFamily="34" charset="0"/>
                <a:ea typeface="Calibri" pitchFamily="34" charset="-122"/>
                <a:cs typeface="Calibri" pitchFamily="34" charset="-120"/>
              </a:rPr>
              <a:t>Lo sguardo degli altri?</a:t>
            </a:r>
            <a:endParaRPr lang="en-US" sz="1500" dirty="0"/>
          </a:p>
        </p:txBody>
      </p:sp>
      <p:sp>
        <p:nvSpPr>
          <p:cNvPr id="15" name="Text 12"/>
          <p:cNvSpPr/>
          <p:nvPr/>
        </p:nvSpPr>
        <p:spPr>
          <a:xfrm>
            <a:off x="548640" y="4434840"/>
            <a:ext cx="10515600" cy="457200"/>
          </a:xfrm>
          <a:prstGeom prst="rect">
            <a:avLst/>
          </a:prstGeom>
          <a:noFill/>
          <a:ln/>
        </p:spPr>
        <p:txBody>
          <a:bodyPr wrap="square" lIns="0" tIns="0" rIns="0" bIns="0" rtlCol="0" anchor="ctr"/>
          <a:lstStyle/>
          <a:p>
            <a:pPr indent="0" marL="0">
              <a:buNone/>
            </a:pPr>
            <a:r>
              <a:rPr lang="en-US" sz="1900" i="1" dirty="0">
                <a:solidFill>
                  <a:srgbClr val="F5EFE8"/>
                </a:solidFill>
                <a:latin typeface="Georgia" pitchFamily="34" charset="0"/>
                <a:ea typeface="Georgia" pitchFamily="34" charset="-122"/>
                <a:cs typeface="Georgia" pitchFamily="34" charset="-120"/>
              </a:rPr>
              <a:t>«Si nasce o si diventa» uomo / donna? E in che senso? </a:t>
            </a:r>
            <a:endParaRPr lang="en-US" sz="1900" dirty="0"/>
          </a:p>
        </p:txBody>
      </p:sp>
      <p:sp>
        <p:nvSpPr>
          <p:cNvPr id="16" name="Shape 13"/>
          <p:cNvSpPr/>
          <p:nvPr/>
        </p:nvSpPr>
        <p:spPr>
          <a:xfrm>
            <a:off x="548640" y="5212080"/>
            <a:ext cx="10515600" cy="868680"/>
          </a:xfrm>
          <a:prstGeom prst="rect">
            <a:avLst/>
          </a:prstGeom>
          <a:solidFill>
            <a:srgbClr val="B0492B"/>
          </a:solidFill>
          <a:ln/>
        </p:spPr>
      </p:sp>
      <p:pic>
        <p:nvPicPr>
          <p:cNvPr id="17" name="Image 1" descr="assets/ic_comments_gold.png">    </p:cNvPr>
          <p:cNvPicPr>
            <a:picLocks noChangeAspect="1"/>
          </p:cNvPicPr>
          <p:nvPr/>
        </p:nvPicPr>
        <p:blipFill>
          <a:blip r:embed="rId2"/>
          <a:stretch>
            <a:fillRect/>
          </a:stretch>
        </p:blipFill>
        <p:spPr>
          <a:xfrm>
            <a:off x="822960" y="5413248"/>
            <a:ext cx="457200" cy="457200"/>
          </a:xfrm>
          <a:prstGeom prst="rect">
            <a:avLst/>
          </a:prstGeom>
        </p:spPr>
      </p:pic>
      <p:sp>
        <p:nvSpPr>
          <p:cNvPr id="18" name="Text 14"/>
          <p:cNvSpPr/>
          <p:nvPr/>
        </p:nvSpPr>
        <p:spPr>
          <a:xfrm>
            <a:off x="1463040" y="5212080"/>
            <a:ext cx="9418320" cy="86868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2 minuti. Lanciate parole liberamente: le raccolgo alla lavagna. Nessuna risposta è sbagliata.</a:t>
            </a:r>
            <a:endParaRPr lang="en-US" sz="1450" dirty="0"/>
          </a:p>
        </p:txBody>
      </p:sp>
      <p:sp>
        <p:nvSpPr>
          <p:cNvPr id="19" name="Text 15"/>
          <p:cNvSpPr/>
          <p:nvPr/>
        </p:nvSpPr>
        <p:spPr>
          <a:xfrm>
            <a:off x="502920" y="6437376"/>
            <a:ext cx="4572000" cy="274320"/>
          </a:xfrm>
          <a:prstGeom prst="rect">
            <a:avLst/>
          </a:prstGeom>
          <a:noFill/>
          <a:ln/>
        </p:spPr>
        <p:txBody>
          <a:bodyPr wrap="square" lIns="0" tIns="0" rIns="0" bIns="0" rtlCol="0" anchor="ctr"/>
          <a:lstStyle/>
          <a:p>
            <a:pPr algn="l" indent="0" marL="0">
              <a:buNone/>
            </a:pPr>
            <a:r>
              <a:rPr lang="en-US" sz="900" dirty="0">
                <a:solidFill>
                  <a:srgbClr val="C9B5A4"/>
                </a:solidFill>
                <a:latin typeface="Calibri" pitchFamily="34" charset="0"/>
                <a:ea typeface="Calibri" pitchFamily="34" charset="-122"/>
                <a:cs typeface="Calibri" pitchFamily="34" charset="-120"/>
              </a:rPr>
              <a:t>IRC · Liceo Scientifico</a:t>
            </a:r>
            <a:endParaRPr lang="en-US" sz="900" dirty="0"/>
          </a:p>
        </p:txBody>
      </p:sp>
      <p:sp>
        <p:nvSpPr>
          <p:cNvPr id="20" name="Text 16"/>
          <p:cNvSpPr/>
          <p:nvPr/>
        </p:nvSpPr>
        <p:spPr>
          <a:xfrm>
            <a:off x="7116775" y="6437376"/>
            <a:ext cx="4572000" cy="274320"/>
          </a:xfrm>
          <a:prstGeom prst="rect">
            <a:avLst/>
          </a:prstGeom>
          <a:noFill/>
          <a:ln/>
        </p:spPr>
        <p:txBody>
          <a:bodyPr wrap="square" lIns="0" tIns="0" rIns="0" bIns="0" rtlCol="0" anchor="ctr"/>
          <a:lstStyle/>
          <a:p>
            <a:pPr algn="r" indent="0" marL="0">
              <a:buNone/>
            </a:pPr>
            <a:r>
              <a:rPr lang="en-US" sz="900" dirty="0">
                <a:solidFill>
                  <a:srgbClr val="C9B5A4"/>
                </a:solidFill>
                <a:latin typeface="Calibri" pitchFamily="34" charset="0"/>
                <a:ea typeface="Calibri" pitchFamily="34" charset="-122"/>
                <a:cs typeface="Calibri" pitchFamily="34" charset="-120"/>
              </a:rPr>
              <a:t>Provocazione   ·   </a:t>
            </a:r>
            <a:pPr algn="r" indent="0" marL="0">
              <a:buNone/>
            </a:pPr>
            <a:r>
              <a:rPr lang="en-US" sz="900" b="1" dirty="0">
                <a:solidFill>
                  <a:srgbClr val="D8A24A"/>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lIns="0" tIns="0" rIns="0" bIns="0" rtlCol="0" anchor="ctr"/>
          <a:lstStyle/>
          <a:p>
            <a:pPr algn="l" indent="0" marL="0">
              <a:buNone/>
            </a:pPr>
            <a:r>
              <a:rPr lang="en-US" sz="1150" b="1" spc="300" kern="0" dirty="0">
                <a:solidFill>
                  <a:srgbClr val="B0492B"/>
                </a:solidFill>
                <a:latin typeface="Calibri" pitchFamily="34" charset="0"/>
                <a:ea typeface="Calibri" pitchFamily="34" charset="-122"/>
                <a:cs typeface="Calibri" pitchFamily="34" charset="-120"/>
              </a:rPr>
              <a:t>DUE PAROLE, DUE PIANI</a:t>
            </a:r>
            <a:endParaRPr lang="en-US" sz="1150" dirty="0"/>
          </a:p>
        </p:txBody>
      </p:sp>
      <p:sp>
        <p:nvSpPr>
          <p:cNvPr id="3" name="Text 1"/>
          <p:cNvSpPr/>
          <p:nvPr/>
        </p:nvSpPr>
        <p:spPr>
          <a:xfrm>
            <a:off x="502920" y="777240"/>
            <a:ext cx="10972800" cy="640080"/>
          </a:xfrm>
          <a:prstGeom prst="rect">
            <a:avLst/>
          </a:prstGeom>
          <a:noFill/>
          <a:ln/>
        </p:spPr>
        <p:txBody>
          <a:bodyPr wrap="square" lIns="0" tIns="0" rIns="0" bIns="0" rtlCol="0" anchor="ctr"/>
          <a:lstStyle/>
          <a:p>
            <a:pPr indent="0" marL="0">
              <a:buNone/>
            </a:pPr>
            <a:r>
              <a:rPr lang="en-US" sz="3000" b="1" dirty="0">
                <a:solidFill>
                  <a:srgbClr val="2B2118"/>
                </a:solidFill>
                <a:latin typeface="Georgia" pitchFamily="34" charset="0"/>
                <a:ea typeface="Georgia" pitchFamily="34" charset="-122"/>
                <a:cs typeface="Georgia" pitchFamily="34" charset="-120"/>
              </a:rPr>
              <a:t>Sesso e genere: da non confondere</a:t>
            </a:r>
            <a:endParaRPr lang="en-US" sz="3000" dirty="0"/>
          </a:p>
        </p:txBody>
      </p:sp>
      <p:sp>
        <p:nvSpPr>
          <p:cNvPr id="4" name="Shape 2"/>
          <p:cNvSpPr/>
          <p:nvPr/>
        </p:nvSpPr>
        <p:spPr>
          <a:xfrm>
            <a:off x="548640" y="1783080"/>
            <a:ext cx="5349240" cy="3200400"/>
          </a:xfrm>
          <a:prstGeom prst="rect">
            <a:avLst/>
          </a:prstGeom>
          <a:solidFill>
            <a:srgbClr val="F5EEE4"/>
          </a:solidFill>
          <a:ln/>
          <a:effectLst>
            <a:outerShdw sx="100000" sy="100000" kx="0" ky="0" algn="bl" rotWithShape="0" blurRad="127000" dist="25400" dir="5400000">
              <a:srgbClr val="000000">
                <a:alpha val="10000"/>
              </a:srgbClr>
            </a:outerShdw>
          </a:effectLst>
        </p:spPr>
      </p:sp>
      <p:sp>
        <p:nvSpPr>
          <p:cNvPr id="5" name="Shape 3"/>
          <p:cNvSpPr/>
          <p:nvPr/>
        </p:nvSpPr>
        <p:spPr>
          <a:xfrm>
            <a:off x="914400" y="2103120"/>
            <a:ext cx="310896" cy="310896"/>
          </a:xfrm>
          <a:prstGeom prst="ellipse">
            <a:avLst/>
          </a:prstGeom>
          <a:solidFill>
            <a:srgbClr val="6F7B53"/>
          </a:solidFill>
          <a:ln/>
        </p:spPr>
      </p:sp>
      <p:sp>
        <p:nvSpPr>
          <p:cNvPr id="6" name="Text 4"/>
          <p:cNvSpPr/>
          <p:nvPr/>
        </p:nvSpPr>
        <p:spPr>
          <a:xfrm>
            <a:off x="1417320" y="2029968"/>
            <a:ext cx="4206240" cy="457200"/>
          </a:xfrm>
          <a:prstGeom prst="rect">
            <a:avLst/>
          </a:prstGeom>
          <a:noFill/>
          <a:ln/>
        </p:spPr>
        <p:txBody>
          <a:bodyPr wrap="square" lIns="0" tIns="0" rIns="0" bIns="0" rtlCol="0" anchor="ctr"/>
          <a:lstStyle/>
          <a:p>
            <a:pPr indent="0" marL="0">
              <a:buNone/>
            </a:pPr>
            <a:r>
              <a:rPr lang="en-US" sz="2000" b="1" dirty="0">
                <a:solidFill>
                  <a:srgbClr val="2B2118"/>
                </a:solidFill>
                <a:latin typeface="Georgia" pitchFamily="34" charset="0"/>
                <a:ea typeface="Georgia" pitchFamily="34" charset="-122"/>
                <a:cs typeface="Georgia" pitchFamily="34" charset="-120"/>
              </a:rPr>
              <a:t>SESSO</a:t>
            </a:r>
            <a:endParaRPr lang="en-US" sz="2000" dirty="0"/>
          </a:p>
        </p:txBody>
      </p:sp>
      <p:sp>
        <p:nvSpPr>
          <p:cNvPr id="7" name="Text 5"/>
          <p:cNvSpPr/>
          <p:nvPr/>
        </p:nvSpPr>
        <p:spPr>
          <a:xfrm>
            <a:off x="932688" y="2697480"/>
            <a:ext cx="4617720" cy="2148840"/>
          </a:xfrm>
          <a:prstGeom prst="rect">
            <a:avLst/>
          </a:prstGeom>
          <a:noFill/>
          <a:ln/>
        </p:spPr>
        <p:txBody>
          <a:bodyPr wrap="square" lIns="0" tIns="0" rIns="0" bIns="0" rtlCol="0" anchor="t"/>
          <a:lstStyle/>
          <a:p>
            <a:pPr marL="177800" indent="-177800">
              <a:lnSpc>
                <a:spcPct val="105000"/>
              </a:lnSpc>
              <a:spcAft>
                <a:spcPts val="900"/>
              </a:spcAft>
              <a:buSzPct val="100000"/>
              <a:buChar char="•"/>
            </a:pPr>
            <a:r>
              <a:rPr lang="en-US" sz="1350" dirty="0">
                <a:solidFill>
                  <a:srgbClr val="2B2118"/>
                </a:solidFill>
                <a:latin typeface="Calibri" pitchFamily="34" charset="0"/>
                <a:ea typeface="Calibri" pitchFamily="34" charset="-122"/>
                <a:cs typeface="Calibri" pitchFamily="34" charset="-120"/>
              </a:rPr>
              <a:t>Dato biologico: cromosomi, corpo, fisiologia.</a:t>
            </a:r>
            <a:endParaRPr lang="en-US" sz="1350" dirty="0"/>
          </a:p>
          <a:p>
            <a:pPr marL="177800" indent="-177800">
              <a:lnSpc>
                <a:spcPct val="105000"/>
              </a:lnSpc>
              <a:spcAft>
                <a:spcPts val="900"/>
              </a:spcAft>
              <a:buSzPct val="100000"/>
              <a:buChar char="•"/>
            </a:pPr>
            <a:r>
              <a:rPr lang="en-US" sz="1350" dirty="0">
                <a:solidFill>
                  <a:srgbClr val="2B2118"/>
                </a:solidFill>
                <a:latin typeface="Calibri" pitchFamily="34" charset="0"/>
                <a:ea typeface="Calibri" pitchFamily="34" charset="-122"/>
                <a:cs typeface="Calibri" pitchFamily="34" charset="-120"/>
              </a:rPr>
              <a:t>Una dimensione che ci viene «data».</a:t>
            </a:r>
            <a:endParaRPr lang="en-US" sz="1350" dirty="0"/>
          </a:p>
          <a:p>
            <a:pPr marL="177800" indent="-177800">
              <a:lnSpc>
                <a:spcPct val="105000"/>
              </a:lnSpc>
              <a:spcAft>
                <a:spcPts val="900"/>
              </a:spcAft>
              <a:buSzPct val="100000"/>
              <a:buChar char="•"/>
            </a:pPr>
            <a:r>
              <a:rPr lang="en-US" sz="1350" dirty="0">
                <a:solidFill>
                  <a:srgbClr val="2B2118"/>
                </a:solidFill>
                <a:latin typeface="Calibri" pitchFamily="34" charset="0"/>
                <a:ea typeface="Calibri" pitchFamily="34" charset="-122"/>
                <a:cs typeface="Calibri" pitchFamily="34" charset="-120"/>
              </a:rPr>
              <a:t>È il «maschio e femmina» della biologia.</a:t>
            </a:r>
            <a:endParaRPr lang="en-US" sz="1350" dirty="0"/>
          </a:p>
        </p:txBody>
      </p:sp>
      <p:sp>
        <p:nvSpPr>
          <p:cNvPr id="8" name="Shape 6"/>
          <p:cNvSpPr/>
          <p:nvPr/>
        </p:nvSpPr>
        <p:spPr>
          <a:xfrm>
            <a:off x="6263640" y="1783080"/>
            <a:ext cx="5349240" cy="3200400"/>
          </a:xfrm>
          <a:prstGeom prst="rect">
            <a:avLst/>
          </a:prstGeom>
          <a:solidFill>
            <a:srgbClr val="F5EEE4"/>
          </a:solidFill>
          <a:ln/>
          <a:effectLst>
            <a:outerShdw sx="100000" sy="100000" kx="0" ky="0" algn="bl" rotWithShape="0" blurRad="127000" dist="25400" dir="5400000">
              <a:srgbClr val="000000">
                <a:alpha val="10000"/>
              </a:srgbClr>
            </a:outerShdw>
          </a:effectLst>
        </p:spPr>
      </p:sp>
      <p:sp>
        <p:nvSpPr>
          <p:cNvPr id="9" name="Shape 7"/>
          <p:cNvSpPr/>
          <p:nvPr/>
        </p:nvSpPr>
        <p:spPr>
          <a:xfrm>
            <a:off x="6629400" y="2103120"/>
            <a:ext cx="310896" cy="310896"/>
          </a:xfrm>
          <a:prstGeom prst="ellipse">
            <a:avLst/>
          </a:prstGeom>
          <a:solidFill>
            <a:srgbClr val="B0492B"/>
          </a:solidFill>
          <a:ln/>
        </p:spPr>
      </p:sp>
      <p:sp>
        <p:nvSpPr>
          <p:cNvPr id="10" name="Text 8"/>
          <p:cNvSpPr/>
          <p:nvPr/>
        </p:nvSpPr>
        <p:spPr>
          <a:xfrm>
            <a:off x="7132320" y="2029968"/>
            <a:ext cx="4206240" cy="457200"/>
          </a:xfrm>
          <a:prstGeom prst="rect">
            <a:avLst/>
          </a:prstGeom>
          <a:noFill/>
          <a:ln/>
        </p:spPr>
        <p:txBody>
          <a:bodyPr wrap="square" lIns="0" tIns="0" rIns="0" bIns="0" rtlCol="0" anchor="ctr"/>
          <a:lstStyle/>
          <a:p>
            <a:pPr indent="0" marL="0">
              <a:buNone/>
            </a:pPr>
            <a:r>
              <a:rPr lang="en-US" sz="2000" b="1" dirty="0">
                <a:solidFill>
                  <a:srgbClr val="2B2118"/>
                </a:solidFill>
                <a:latin typeface="Georgia" pitchFamily="34" charset="0"/>
                <a:ea typeface="Georgia" pitchFamily="34" charset="-122"/>
                <a:cs typeface="Georgia" pitchFamily="34" charset="-120"/>
              </a:rPr>
              <a:t>GENERE</a:t>
            </a:r>
            <a:endParaRPr lang="en-US" sz="2000" dirty="0"/>
          </a:p>
        </p:txBody>
      </p:sp>
      <p:sp>
        <p:nvSpPr>
          <p:cNvPr id="11" name="Text 9"/>
          <p:cNvSpPr/>
          <p:nvPr/>
        </p:nvSpPr>
        <p:spPr>
          <a:xfrm>
            <a:off x="6647688" y="2697480"/>
            <a:ext cx="4617720" cy="2148840"/>
          </a:xfrm>
          <a:prstGeom prst="rect">
            <a:avLst/>
          </a:prstGeom>
          <a:noFill/>
          <a:ln/>
        </p:spPr>
        <p:txBody>
          <a:bodyPr wrap="square" lIns="0" tIns="0" rIns="0" bIns="0" rtlCol="0" anchor="t"/>
          <a:lstStyle/>
          <a:p>
            <a:pPr marL="177800" indent="-177800">
              <a:lnSpc>
                <a:spcPct val="105000"/>
              </a:lnSpc>
              <a:spcAft>
                <a:spcPts val="900"/>
              </a:spcAft>
              <a:buSzPct val="100000"/>
              <a:buChar char="•"/>
            </a:pPr>
            <a:r>
              <a:rPr lang="en-US" sz="1350" dirty="0">
                <a:solidFill>
                  <a:srgbClr val="2B2118"/>
                </a:solidFill>
                <a:latin typeface="Calibri" pitchFamily="34" charset="0"/>
                <a:ea typeface="Calibri" pitchFamily="34" charset="-122"/>
                <a:cs typeface="Calibri" pitchFamily="34" charset="-120"/>
              </a:rPr>
              <a:t>Dimensione culturale e relazionale.</a:t>
            </a:r>
            <a:endParaRPr lang="en-US" sz="1350" dirty="0"/>
          </a:p>
          <a:p>
            <a:pPr marL="177800" indent="-177800">
              <a:lnSpc>
                <a:spcPct val="105000"/>
              </a:lnSpc>
              <a:spcAft>
                <a:spcPts val="900"/>
              </a:spcAft>
              <a:buSzPct val="100000"/>
              <a:buChar char="•"/>
            </a:pPr>
            <a:r>
              <a:rPr lang="en-US" sz="1350" dirty="0">
                <a:solidFill>
                  <a:srgbClr val="2B2118"/>
                </a:solidFill>
                <a:latin typeface="Calibri" pitchFamily="34" charset="0"/>
                <a:ea typeface="Calibri" pitchFamily="34" charset="-122"/>
                <a:cs typeface="Calibri" pitchFamily="34" charset="-120"/>
              </a:rPr>
              <a:t>Ruoli, attese sociali, identità vissuta.</a:t>
            </a:r>
            <a:endParaRPr lang="en-US" sz="1350" dirty="0"/>
          </a:p>
          <a:p>
            <a:pPr marL="177800" indent="-177800">
              <a:lnSpc>
                <a:spcPct val="105000"/>
              </a:lnSpc>
              <a:spcAft>
                <a:spcPts val="900"/>
              </a:spcAft>
              <a:buSzPct val="100000"/>
              <a:buChar char="•"/>
            </a:pPr>
            <a:r>
              <a:rPr lang="en-US" sz="1350" dirty="0">
                <a:solidFill>
                  <a:srgbClr val="2B2118"/>
                </a:solidFill>
                <a:latin typeface="Calibri" pitchFamily="34" charset="0"/>
                <a:ea typeface="Calibri" pitchFamily="34" charset="-122"/>
                <a:cs typeface="Calibri" pitchFamily="34" charset="-120"/>
              </a:rPr>
              <a:t>Come una cultura interpreta il maschile/femminile.</a:t>
            </a:r>
            <a:endParaRPr lang="en-US" sz="1350" dirty="0"/>
          </a:p>
        </p:txBody>
      </p:sp>
      <p:sp>
        <p:nvSpPr>
          <p:cNvPr id="12" name="Shape 10"/>
          <p:cNvSpPr/>
          <p:nvPr/>
        </p:nvSpPr>
        <p:spPr>
          <a:xfrm>
            <a:off x="548640" y="5257800"/>
            <a:ext cx="11064240" cy="868680"/>
          </a:xfrm>
          <a:prstGeom prst="rect">
            <a:avLst/>
          </a:prstGeom>
          <a:solidFill>
            <a:srgbClr val="FBF6EF"/>
          </a:solidFill>
          <a:ln/>
        </p:spPr>
      </p:sp>
      <p:sp>
        <p:nvSpPr>
          <p:cNvPr id="13" name="Shape 11"/>
          <p:cNvSpPr/>
          <p:nvPr/>
        </p:nvSpPr>
        <p:spPr>
          <a:xfrm>
            <a:off x="548640" y="5257800"/>
            <a:ext cx="73152" cy="868680"/>
          </a:xfrm>
          <a:prstGeom prst="rect">
            <a:avLst/>
          </a:prstGeom>
          <a:solidFill>
            <a:srgbClr val="C68A3E"/>
          </a:solidFill>
          <a:ln/>
        </p:spPr>
      </p:sp>
      <p:sp>
        <p:nvSpPr>
          <p:cNvPr id="14" name="Text 12"/>
          <p:cNvSpPr/>
          <p:nvPr/>
        </p:nvSpPr>
        <p:spPr>
          <a:xfrm>
            <a:off x="868680" y="5257800"/>
            <a:ext cx="10515600" cy="868680"/>
          </a:xfrm>
          <a:prstGeom prst="rect">
            <a:avLst/>
          </a:prstGeom>
          <a:noFill/>
          <a:ln/>
        </p:spPr>
        <p:txBody>
          <a:bodyPr wrap="square" lIns="0" tIns="0" rIns="0" bIns="0" rtlCol="0" anchor="ctr"/>
          <a:lstStyle/>
          <a:p>
            <a:pPr indent="0" marL="0">
              <a:buNone/>
            </a:pPr>
            <a:r>
              <a:rPr lang="en-US" sz="1450" b="1" dirty="0">
                <a:solidFill>
                  <a:srgbClr val="2B2118"/>
                </a:solidFill>
                <a:latin typeface="Calibri" pitchFamily="34" charset="0"/>
                <a:ea typeface="Calibri" pitchFamily="34" charset="-122"/>
                <a:cs typeface="Calibri" pitchFamily="34" charset="-120"/>
              </a:rPr>
              <a:t>La Bibbia non usa queste categorie moderne. </a:t>
            </a:r>
            <a:pPr indent="0" marL="0">
              <a:buNone/>
            </a:pPr>
            <a:r>
              <a:rPr lang="en-US" sz="1450" dirty="0">
                <a:solidFill>
                  <a:srgbClr val="2B2118"/>
                </a:solidFill>
                <a:latin typeface="Calibri" pitchFamily="34" charset="0"/>
                <a:ea typeface="Calibri" pitchFamily="34" charset="-122"/>
                <a:cs typeface="Calibri" pitchFamily="34" charset="-120"/>
              </a:rPr>
              <a:t>Parla del maschile e del femminile come di una </a:t>
            </a:r>
            <a:pPr indent="0" marL="0">
              <a:buNone/>
            </a:pPr>
            <a:r>
              <a:rPr lang="en-US" sz="1450" b="1" i="1" dirty="0">
                <a:solidFill>
                  <a:srgbClr val="B0492B"/>
                </a:solidFill>
                <a:latin typeface="Calibri" pitchFamily="34" charset="0"/>
                <a:ea typeface="Calibri" pitchFamily="34" charset="-122"/>
                <a:cs typeface="Calibri" pitchFamily="34" charset="-120"/>
              </a:rPr>
              <a:t>relazione</a:t>
            </a:r>
            <a:pPr indent="0" marL="0">
              <a:buNone/>
            </a:pPr>
            <a:r>
              <a:rPr lang="en-US" sz="1450" dirty="0">
                <a:solidFill>
                  <a:srgbClr val="2B2118"/>
                </a:solidFill>
                <a:latin typeface="Calibri" pitchFamily="34" charset="0"/>
                <a:ea typeface="Calibri" pitchFamily="34" charset="-122"/>
                <a:cs typeface="Calibri" pitchFamily="34" charset="-120"/>
              </a:rPr>
              <a:t>: è da qui che partiamo.</a:t>
            </a:r>
            <a:endParaRPr lang="en-US" sz="1450" dirty="0"/>
          </a:p>
        </p:txBody>
      </p:sp>
      <p:sp>
        <p:nvSpPr>
          <p:cNvPr id="15" name="Text 13"/>
          <p:cNvSpPr/>
          <p:nvPr/>
        </p:nvSpPr>
        <p:spPr>
          <a:xfrm>
            <a:off x="502920" y="6437376"/>
            <a:ext cx="4572000" cy="274320"/>
          </a:xfrm>
          <a:prstGeom prst="rect">
            <a:avLst/>
          </a:prstGeom>
          <a:noFill/>
          <a:ln/>
        </p:spPr>
        <p:txBody>
          <a:bodyPr wrap="square" lIns="0" tIns="0" rIns="0" bIns="0" rtlCol="0" anchor="ctr"/>
          <a:lstStyle/>
          <a:p>
            <a:pPr algn="l" indent="0" marL="0">
              <a:buNone/>
            </a:pPr>
            <a:r>
              <a:rPr lang="en-US" sz="900" dirty="0">
                <a:solidFill>
                  <a:srgbClr val="8A7A6B"/>
                </a:solidFill>
                <a:latin typeface="Calibri" pitchFamily="34" charset="0"/>
                <a:ea typeface="Calibri" pitchFamily="34" charset="-122"/>
                <a:cs typeface="Calibri" pitchFamily="34" charset="-120"/>
              </a:rPr>
              <a:t>IRC · Liceo Scientifico</a:t>
            </a:r>
            <a:endParaRPr lang="en-US" sz="900" dirty="0"/>
          </a:p>
        </p:txBody>
      </p:sp>
      <p:sp>
        <p:nvSpPr>
          <p:cNvPr id="16" name="Text 14"/>
          <p:cNvSpPr/>
          <p:nvPr/>
        </p:nvSpPr>
        <p:spPr>
          <a:xfrm>
            <a:off x="7116775" y="6437376"/>
            <a:ext cx="4572000" cy="274320"/>
          </a:xfrm>
          <a:prstGeom prst="rect">
            <a:avLst/>
          </a:prstGeom>
          <a:noFill/>
          <a:ln/>
        </p:spPr>
        <p:txBody>
          <a:bodyPr wrap="square" lIns="0" tIns="0" rIns="0" bIns="0" rtlCol="0" anchor="ctr"/>
          <a:lstStyle/>
          <a:p>
            <a:pPr algn="r" indent="0" marL="0">
              <a:buNone/>
            </a:pPr>
            <a:r>
              <a:rPr lang="en-US" sz="900" dirty="0">
                <a:solidFill>
                  <a:srgbClr val="8A7A6B"/>
                </a:solidFill>
                <a:latin typeface="Calibri" pitchFamily="34" charset="0"/>
                <a:ea typeface="Calibri" pitchFamily="34" charset="-122"/>
                <a:cs typeface="Calibri" pitchFamily="34" charset="-120"/>
              </a:rPr>
              <a:t>Genere e differenza   ·   </a:t>
            </a:r>
            <a:pPr algn="r" indent="0" marL="0">
              <a:buNone/>
            </a:pPr>
            <a:r>
              <a:rPr lang="en-US" sz="900" b="1" dirty="0">
                <a:solidFill>
                  <a:srgbClr val="B0492B"/>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lIns="0" tIns="0" rIns="0" bIns="0" rtlCol="0" anchor="ctr"/>
          <a:lstStyle/>
          <a:p>
            <a:pPr algn="l" indent="0" marL="0">
              <a:buNone/>
            </a:pPr>
            <a:r>
              <a:rPr lang="en-US" sz="1150" b="1" spc="300" kern="0" dirty="0">
                <a:solidFill>
                  <a:srgbClr val="B0492B"/>
                </a:solidFill>
                <a:latin typeface="Calibri" pitchFamily="34" charset="0"/>
                <a:ea typeface="Calibri" pitchFamily="34" charset="-122"/>
                <a:cs typeface="Calibri" pitchFamily="34" charset="-120"/>
              </a:rPr>
              <a:t>GENESI 1 E GENESI 2</a:t>
            </a:r>
            <a:endParaRPr lang="en-US" sz="1150" dirty="0"/>
          </a:p>
        </p:txBody>
      </p:sp>
      <p:sp>
        <p:nvSpPr>
          <p:cNvPr id="3" name="Text 1"/>
          <p:cNvSpPr/>
          <p:nvPr/>
        </p:nvSpPr>
        <p:spPr>
          <a:xfrm>
            <a:off x="502920" y="777240"/>
            <a:ext cx="10972800" cy="640080"/>
          </a:xfrm>
          <a:prstGeom prst="rect">
            <a:avLst/>
          </a:prstGeom>
          <a:noFill/>
          <a:ln/>
        </p:spPr>
        <p:txBody>
          <a:bodyPr wrap="square" lIns="0" tIns="0" rIns="0" bIns="0" rtlCol="0" anchor="ctr"/>
          <a:lstStyle/>
          <a:p>
            <a:pPr indent="0" marL="0">
              <a:buNone/>
            </a:pPr>
            <a:r>
              <a:rPr lang="en-US" sz="3000" b="1" dirty="0">
                <a:solidFill>
                  <a:srgbClr val="2B2118"/>
                </a:solidFill>
                <a:latin typeface="Georgia" pitchFamily="34" charset="0"/>
                <a:ea typeface="Georgia" pitchFamily="34" charset="-122"/>
                <a:cs typeface="Georgia" pitchFamily="34" charset="-120"/>
              </a:rPr>
              <a:t>Due racconti, una sola verità</a:t>
            </a:r>
            <a:endParaRPr lang="en-US" sz="3000" dirty="0"/>
          </a:p>
        </p:txBody>
      </p:sp>
      <p:sp>
        <p:nvSpPr>
          <p:cNvPr id="4" name="Shape 2"/>
          <p:cNvSpPr/>
          <p:nvPr/>
        </p:nvSpPr>
        <p:spPr>
          <a:xfrm>
            <a:off x="548640" y="1783080"/>
            <a:ext cx="5349240" cy="3611880"/>
          </a:xfrm>
          <a:prstGeom prst="rect">
            <a:avLst/>
          </a:prstGeom>
          <a:solidFill>
            <a:srgbClr val="F5EEE4"/>
          </a:solidFill>
          <a:ln/>
          <a:effectLst>
            <a:outerShdw sx="100000" sy="100000" kx="0" ky="0" algn="bl" rotWithShape="0" blurRad="127000" dist="25400" dir="5400000">
              <a:srgbClr val="000000">
                <a:alpha val="10000"/>
              </a:srgbClr>
            </a:outerShdw>
          </a:effectLst>
        </p:spPr>
      </p:sp>
      <p:sp>
        <p:nvSpPr>
          <p:cNvPr id="5" name="Text 3"/>
          <p:cNvSpPr/>
          <p:nvPr/>
        </p:nvSpPr>
        <p:spPr>
          <a:xfrm>
            <a:off x="868680" y="2011680"/>
            <a:ext cx="2743200" cy="365760"/>
          </a:xfrm>
          <a:prstGeom prst="rect">
            <a:avLst/>
          </a:prstGeom>
          <a:noFill/>
          <a:ln/>
        </p:spPr>
        <p:txBody>
          <a:bodyPr wrap="square" lIns="0" tIns="0" rIns="0" bIns="0" rtlCol="0" anchor="ctr"/>
          <a:lstStyle/>
          <a:p>
            <a:pPr indent="0" marL="0">
              <a:buNone/>
            </a:pPr>
            <a:r>
              <a:rPr lang="en-US" sz="1200" b="1" spc="200" kern="0" dirty="0">
                <a:solidFill>
                  <a:srgbClr val="6F7B53"/>
                </a:solidFill>
                <a:latin typeface="Calibri" pitchFamily="34" charset="0"/>
                <a:ea typeface="Calibri" pitchFamily="34" charset="-122"/>
                <a:cs typeface="Calibri" pitchFamily="34" charset="-120"/>
              </a:rPr>
              <a:t>GENESI 1</a:t>
            </a:r>
            <a:endParaRPr lang="en-US" sz="1200" dirty="0"/>
          </a:p>
        </p:txBody>
      </p:sp>
      <p:sp>
        <p:nvSpPr>
          <p:cNvPr id="6" name="Text 4"/>
          <p:cNvSpPr/>
          <p:nvPr/>
        </p:nvSpPr>
        <p:spPr>
          <a:xfrm>
            <a:off x="868680" y="2331720"/>
            <a:ext cx="4663440" cy="457200"/>
          </a:xfrm>
          <a:prstGeom prst="rect">
            <a:avLst/>
          </a:prstGeom>
          <a:noFill/>
          <a:ln/>
        </p:spPr>
        <p:txBody>
          <a:bodyPr wrap="square" lIns="0" tIns="0" rIns="0" bIns="0" rtlCol="0" anchor="ctr"/>
          <a:lstStyle/>
          <a:p>
            <a:pPr indent="0" marL="0">
              <a:buNone/>
            </a:pPr>
            <a:r>
              <a:rPr lang="en-US" sz="1900" b="1" dirty="0">
                <a:solidFill>
                  <a:srgbClr val="2B2118"/>
                </a:solidFill>
                <a:latin typeface="Georgia" pitchFamily="34" charset="0"/>
                <a:ea typeface="Georgia" pitchFamily="34" charset="-122"/>
                <a:cs typeface="Georgia" pitchFamily="34" charset="-120"/>
              </a:rPr>
              <a:t>Lo sguardo d'insieme</a:t>
            </a:r>
            <a:endParaRPr lang="en-US" sz="1900" dirty="0"/>
          </a:p>
        </p:txBody>
      </p:sp>
      <p:pic>
        <p:nvPicPr>
          <p:cNvPr id="7" name="Image 0" descr="assets/zakhar_ink.png">    </p:cNvPr>
          <p:cNvPicPr>
            <a:picLocks noChangeAspect="1"/>
          </p:cNvPicPr>
          <p:nvPr/>
        </p:nvPicPr>
        <p:blipFill>
          <a:blip r:embed="rId1"/>
          <a:stretch>
            <a:fillRect/>
          </a:stretch>
        </p:blipFill>
        <p:spPr>
          <a:xfrm>
            <a:off x="2153730" y="2880360"/>
            <a:ext cx="2129917" cy="566928"/>
          </a:xfrm>
          <a:prstGeom prst="rect">
            <a:avLst/>
          </a:prstGeom>
        </p:spPr>
      </p:pic>
      <p:sp>
        <p:nvSpPr>
          <p:cNvPr id="8" name="Text 5"/>
          <p:cNvSpPr/>
          <p:nvPr/>
        </p:nvSpPr>
        <p:spPr>
          <a:xfrm>
            <a:off x="868680" y="3520440"/>
            <a:ext cx="4709160" cy="320040"/>
          </a:xfrm>
          <a:prstGeom prst="rect">
            <a:avLst/>
          </a:prstGeom>
          <a:noFill/>
          <a:ln/>
        </p:spPr>
        <p:txBody>
          <a:bodyPr wrap="square" lIns="0" tIns="0" rIns="0" bIns="0" rtlCol="0" anchor="ctr"/>
          <a:lstStyle/>
          <a:p>
            <a:pPr algn="ctr" indent="0" marL="0">
              <a:buNone/>
            </a:pPr>
            <a:r>
              <a:rPr lang="en-US" sz="1200" i="1" dirty="0">
                <a:solidFill>
                  <a:srgbClr val="8A7A6B"/>
                </a:solidFill>
                <a:latin typeface="Calibri" pitchFamily="34" charset="0"/>
                <a:ea typeface="Calibri" pitchFamily="34" charset="-122"/>
                <a:cs typeface="Calibri" pitchFamily="34" charset="-120"/>
              </a:rPr>
              <a:t>zakhar u-neqevah  ·  «maschio e femmina»</a:t>
            </a:r>
            <a:endParaRPr lang="en-US" sz="1200" dirty="0"/>
          </a:p>
        </p:txBody>
      </p:sp>
      <p:sp>
        <p:nvSpPr>
          <p:cNvPr id="9" name="Text 6"/>
          <p:cNvSpPr/>
          <p:nvPr/>
        </p:nvSpPr>
        <p:spPr>
          <a:xfrm>
            <a:off x="868680" y="3931920"/>
            <a:ext cx="4709160" cy="1280160"/>
          </a:xfrm>
          <a:prstGeom prst="rect">
            <a:avLst/>
          </a:prstGeom>
          <a:noFill/>
          <a:ln/>
        </p:spPr>
        <p:txBody>
          <a:bodyPr wrap="square" lIns="0" tIns="0" rIns="0" bIns="0" rtlCol="0" anchor="t"/>
          <a:lstStyle/>
          <a:p>
            <a:pPr indent="0" marL="0">
              <a:lnSpc>
                <a:spcPct val="110000"/>
              </a:lnSpc>
              <a:buNone/>
            </a:pPr>
            <a:r>
              <a:rPr lang="en-US" sz="1350" dirty="0">
                <a:solidFill>
                  <a:srgbClr val="2B2118"/>
                </a:solidFill>
                <a:latin typeface="Calibri" pitchFamily="34" charset="0"/>
                <a:ea typeface="Calibri" pitchFamily="34" charset="-122"/>
                <a:cs typeface="Calibri" pitchFamily="34" charset="-120"/>
              </a:rPr>
              <a:t>L'umanità è da subito due, creata «a immagine di Dio», sullo stesso piano e nello stesso istante.</a:t>
            </a:r>
            <a:endParaRPr lang="en-US" sz="1350" dirty="0"/>
          </a:p>
        </p:txBody>
      </p:sp>
      <p:sp>
        <p:nvSpPr>
          <p:cNvPr id="10" name="Shape 7"/>
          <p:cNvSpPr/>
          <p:nvPr/>
        </p:nvSpPr>
        <p:spPr>
          <a:xfrm>
            <a:off x="6263640" y="1783080"/>
            <a:ext cx="5349240" cy="3611880"/>
          </a:xfrm>
          <a:prstGeom prst="rect">
            <a:avLst/>
          </a:prstGeom>
          <a:solidFill>
            <a:srgbClr val="F5EEE4"/>
          </a:solidFill>
          <a:ln/>
          <a:effectLst>
            <a:outerShdw sx="100000" sy="100000" kx="0" ky="0" algn="bl" rotWithShape="0" blurRad="127000" dist="25400" dir="5400000">
              <a:srgbClr val="000000">
                <a:alpha val="10000"/>
              </a:srgbClr>
            </a:outerShdw>
          </a:effectLst>
        </p:spPr>
      </p:sp>
      <p:sp>
        <p:nvSpPr>
          <p:cNvPr id="11" name="Shape 8"/>
          <p:cNvSpPr/>
          <p:nvPr/>
        </p:nvSpPr>
        <p:spPr>
          <a:xfrm>
            <a:off x="6263640" y="1783080"/>
            <a:ext cx="5349240" cy="109728"/>
          </a:xfrm>
          <a:prstGeom prst="rect">
            <a:avLst/>
          </a:prstGeom>
          <a:solidFill>
            <a:srgbClr val="B0492B"/>
          </a:solidFill>
          <a:ln/>
        </p:spPr>
      </p:sp>
      <p:sp>
        <p:nvSpPr>
          <p:cNvPr id="12" name="Text 9"/>
          <p:cNvSpPr/>
          <p:nvPr/>
        </p:nvSpPr>
        <p:spPr>
          <a:xfrm>
            <a:off x="6583680" y="2057400"/>
            <a:ext cx="2743200" cy="365760"/>
          </a:xfrm>
          <a:prstGeom prst="rect">
            <a:avLst/>
          </a:prstGeom>
          <a:noFill/>
          <a:ln/>
        </p:spPr>
        <p:txBody>
          <a:bodyPr wrap="square" lIns="0" tIns="0" rIns="0" bIns="0" rtlCol="0" anchor="ctr"/>
          <a:lstStyle/>
          <a:p>
            <a:pPr indent="0" marL="0">
              <a:buNone/>
            </a:pPr>
            <a:r>
              <a:rPr lang="en-US" sz="1200" b="1" spc="200" kern="0" dirty="0">
                <a:solidFill>
                  <a:srgbClr val="B0492B"/>
                </a:solidFill>
                <a:latin typeface="Calibri" pitchFamily="34" charset="0"/>
                <a:ea typeface="Calibri" pitchFamily="34" charset="-122"/>
                <a:cs typeface="Calibri" pitchFamily="34" charset="-120"/>
              </a:rPr>
              <a:t>GENESI 2</a:t>
            </a:r>
            <a:endParaRPr lang="en-US" sz="1200" dirty="0"/>
          </a:p>
        </p:txBody>
      </p:sp>
      <p:sp>
        <p:nvSpPr>
          <p:cNvPr id="13" name="Text 10"/>
          <p:cNvSpPr/>
          <p:nvPr/>
        </p:nvSpPr>
        <p:spPr>
          <a:xfrm>
            <a:off x="6583680" y="2377440"/>
            <a:ext cx="4663440" cy="457200"/>
          </a:xfrm>
          <a:prstGeom prst="rect">
            <a:avLst/>
          </a:prstGeom>
          <a:noFill/>
          <a:ln/>
        </p:spPr>
        <p:txBody>
          <a:bodyPr wrap="square" lIns="0" tIns="0" rIns="0" bIns="0" rtlCol="0" anchor="ctr"/>
          <a:lstStyle/>
          <a:p>
            <a:pPr indent="0" marL="0">
              <a:buNone/>
            </a:pPr>
            <a:r>
              <a:rPr lang="en-US" sz="1900" b="1" dirty="0">
                <a:solidFill>
                  <a:srgbClr val="2B2118"/>
                </a:solidFill>
                <a:latin typeface="Georgia" pitchFamily="34" charset="0"/>
                <a:ea typeface="Georgia" pitchFamily="34" charset="-122"/>
                <a:cs typeface="Georgia" pitchFamily="34" charset="-120"/>
              </a:rPr>
              <a:t>La scena ravvicinata</a:t>
            </a:r>
            <a:endParaRPr lang="en-US" sz="1900" dirty="0"/>
          </a:p>
        </p:txBody>
      </p:sp>
      <p:sp>
        <p:nvSpPr>
          <p:cNvPr id="14" name="Text 11"/>
          <p:cNvSpPr/>
          <p:nvPr/>
        </p:nvSpPr>
        <p:spPr>
          <a:xfrm>
            <a:off x="6583680" y="2971800"/>
            <a:ext cx="4709160" cy="914400"/>
          </a:xfrm>
          <a:prstGeom prst="rect">
            <a:avLst/>
          </a:prstGeom>
          <a:noFill/>
          <a:ln/>
        </p:spPr>
        <p:txBody>
          <a:bodyPr wrap="square" lIns="0" tIns="0" rIns="0" bIns="0" rtlCol="0" anchor="t"/>
          <a:lstStyle/>
          <a:p>
            <a:pPr indent="0" marL="0">
              <a:lnSpc>
                <a:spcPct val="110000"/>
              </a:lnSpc>
              <a:buNone/>
            </a:pPr>
            <a:r>
              <a:rPr lang="en-US" sz="1350" dirty="0">
                <a:solidFill>
                  <a:srgbClr val="2B2118"/>
                </a:solidFill>
                <a:latin typeface="Calibri" pitchFamily="34" charset="0"/>
                <a:ea typeface="Calibri" pitchFamily="34" charset="-122"/>
                <a:cs typeface="Calibri" pitchFamily="34" charset="-120"/>
              </a:rPr>
              <a:t>Un racconto poetico e narrativo: </a:t>
            </a:r>
            <a:pPr indent="0" marL="0">
              <a:lnSpc>
                <a:spcPct val="110000"/>
              </a:lnSpc>
              <a:buNone/>
            </a:pPr>
            <a:r>
              <a:rPr lang="en-US" sz="1350" b="1" dirty="0">
                <a:solidFill>
                  <a:srgbClr val="2B2118"/>
                </a:solidFill>
                <a:latin typeface="Calibri" pitchFamily="34" charset="0"/>
                <a:ea typeface="Calibri" pitchFamily="34" charset="-122"/>
                <a:cs typeface="Calibri" pitchFamily="34" charset="-120"/>
              </a:rPr>
              <a:t>la solitudine, la ricerca, l'incontro.</a:t>
            </a:r>
            <a:endParaRPr lang="en-US" sz="1350" dirty="0"/>
          </a:p>
        </p:txBody>
      </p:sp>
      <p:sp>
        <p:nvSpPr>
          <p:cNvPr id="15" name="Text 12"/>
          <p:cNvSpPr/>
          <p:nvPr/>
        </p:nvSpPr>
        <p:spPr>
          <a:xfrm>
            <a:off x="6583680" y="3886200"/>
            <a:ext cx="4709160" cy="1280160"/>
          </a:xfrm>
          <a:prstGeom prst="rect">
            <a:avLst/>
          </a:prstGeom>
          <a:noFill/>
          <a:ln/>
        </p:spPr>
        <p:txBody>
          <a:bodyPr wrap="square" lIns="0" tIns="0" rIns="0" bIns="0" rtlCol="0" anchor="t"/>
          <a:lstStyle/>
          <a:p>
            <a:pPr indent="0" marL="0">
              <a:lnSpc>
                <a:spcPct val="110000"/>
              </a:lnSpc>
              <a:buNone/>
            </a:pPr>
            <a:r>
              <a:rPr lang="en-US" sz="1350" dirty="0">
                <a:solidFill>
                  <a:srgbClr val="2B2118"/>
                </a:solidFill>
                <a:latin typeface="Calibri" pitchFamily="34" charset="0"/>
                <a:ea typeface="Calibri" pitchFamily="34" charset="-122"/>
                <a:cs typeface="Calibri" pitchFamily="34" charset="-120"/>
              </a:rPr>
              <a:t>È qui che incontriamo </a:t>
            </a:r>
            <a:pPr indent="0" marL="0">
              <a:lnSpc>
                <a:spcPct val="110000"/>
              </a:lnSpc>
              <a:buNone/>
            </a:pPr>
            <a:r>
              <a:rPr lang="en-US" sz="1350" b="1" i="1" dirty="0">
                <a:solidFill>
                  <a:srgbClr val="B0492B"/>
                </a:solidFill>
                <a:latin typeface="Calibri" pitchFamily="34" charset="0"/>
                <a:ea typeface="Calibri" pitchFamily="34" charset="-122"/>
                <a:cs typeface="Calibri" pitchFamily="34" charset="-120"/>
              </a:rPr>
              <a:t>Adam, Ish e Ishà</a:t>
            </a:r>
            <a:pPr indent="0" marL="0">
              <a:lnSpc>
                <a:spcPct val="110000"/>
              </a:lnSpc>
              <a:buNone/>
            </a:pPr>
            <a:r>
              <a:rPr lang="en-US" sz="1350" dirty="0">
                <a:solidFill>
                  <a:srgbClr val="2B2118"/>
                </a:solidFill>
                <a:latin typeface="Calibri" pitchFamily="34" charset="0"/>
                <a:ea typeface="Calibri" pitchFamily="34" charset="-122"/>
                <a:cs typeface="Calibri" pitchFamily="34" charset="-120"/>
              </a:rPr>
              <a:t>. Oggi entriamo in questo secondo racconto.</a:t>
            </a:r>
            <a:endParaRPr lang="en-US" sz="1350" dirty="0"/>
          </a:p>
        </p:txBody>
      </p:sp>
      <p:sp>
        <p:nvSpPr>
          <p:cNvPr id="16" name="Text 13"/>
          <p:cNvSpPr/>
          <p:nvPr/>
        </p:nvSpPr>
        <p:spPr>
          <a:xfrm>
            <a:off x="548640" y="5623560"/>
            <a:ext cx="11064240" cy="457200"/>
          </a:xfrm>
          <a:prstGeom prst="rect">
            <a:avLst/>
          </a:prstGeom>
          <a:noFill/>
          <a:ln/>
        </p:spPr>
        <p:txBody>
          <a:bodyPr wrap="square" lIns="0" tIns="0" rIns="0" bIns="0" rtlCol="0" anchor="ctr"/>
          <a:lstStyle/>
          <a:p>
            <a:pPr algn="ctr" indent="0" marL="0">
              <a:buNone/>
            </a:pPr>
            <a:r>
              <a:rPr lang="en-US" sz="1600" i="1" dirty="0">
                <a:solidFill>
                  <a:srgbClr val="8A3620"/>
                </a:solidFill>
                <a:latin typeface="Georgia" pitchFamily="34" charset="0"/>
                <a:ea typeface="Georgia" pitchFamily="34" charset="-122"/>
                <a:cs typeface="Georgia" pitchFamily="34" charset="-120"/>
              </a:rPr>
              <a:t>Non due verità in contraddizione, ma due angolature diverse sulla stessa origine.</a:t>
            </a:r>
            <a:endParaRPr lang="en-US" sz="1600" dirty="0"/>
          </a:p>
        </p:txBody>
      </p:sp>
      <p:sp>
        <p:nvSpPr>
          <p:cNvPr id="17" name="Text 14"/>
          <p:cNvSpPr/>
          <p:nvPr/>
        </p:nvSpPr>
        <p:spPr>
          <a:xfrm>
            <a:off x="502920" y="6437376"/>
            <a:ext cx="4572000" cy="274320"/>
          </a:xfrm>
          <a:prstGeom prst="rect">
            <a:avLst/>
          </a:prstGeom>
          <a:noFill/>
          <a:ln/>
        </p:spPr>
        <p:txBody>
          <a:bodyPr wrap="square" lIns="0" tIns="0" rIns="0" bIns="0" rtlCol="0" anchor="ctr"/>
          <a:lstStyle/>
          <a:p>
            <a:pPr algn="l" indent="0" marL="0">
              <a:buNone/>
            </a:pPr>
            <a:r>
              <a:rPr lang="en-US" sz="900" dirty="0">
                <a:solidFill>
                  <a:srgbClr val="8A7A6B"/>
                </a:solidFill>
                <a:latin typeface="Calibri" pitchFamily="34" charset="0"/>
                <a:ea typeface="Calibri" pitchFamily="34" charset="-122"/>
                <a:cs typeface="Calibri" pitchFamily="34" charset="-120"/>
              </a:rPr>
              <a:t>IRC · Liceo Scientifico</a:t>
            </a:r>
            <a:endParaRPr lang="en-US" sz="900" dirty="0"/>
          </a:p>
        </p:txBody>
      </p:sp>
      <p:sp>
        <p:nvSpPr>
          <p:cNvPr id="18" name="Text 15"/>
          <p:cNvSpPr/>
          <p:nvPr/>
        </p:nvSpPr>
        <p:spPr>
          <a:xfrm>
            <a:off x="7116775" y="6437376"/>
            <a:ext cx="4572000" cy="274320"/>
          </a:xfrm>
          <a:prstGeom prst="rect">
            <a:avLst/>
          </a:prstGeom>
          <a:noFill/>
          <a:ln/>
        </p:spPr>
        <p:txBody>
          <a:bodyPr wrap="square" lIns="0" tIns="0" rIns="0" bIns="0" rtlCol="0" anchor="ctr"/>
          <a:lstStyle/>
          <a:p>
            <a:pPr algn="r" indent="0" marL="0">
              <a:buNone/>
            </a:pPr>
            <a:r>
              <a:rPr lang="en-US" sz="900" dirty="0">
                <a:solidFill>
                  <a:srgbClr val="8A7A6B"/>
                </a:solidFill>
                <a:latin typeface="Calibri" pitchFamily="34" charset="0"/>
                <a:ea typeface="Calibri" pitchFamily="34" charset="-122"/>
                <a:cs typeface="Calibri" pitchFamily="34" charset="-120"/>
              </a:rPr>
              <a:t>Due racconti   ·   </a:t>
            </a:r>
            <a:pPr algn="r" indent="0" marL="0">
              <a:buNone/>
            </a:pPr>
            <a:r>
              <a:rPr lang="en-US" sz="900" b="1" dirty="0">
                <a:solidFill>
                  <a:srgbClr val="B0492B"/>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33211A"/>
        </a:solidFill>
      </p:bgPr>
    </p:bg>
    <p:spTree>
      <p:nvGrpSpPr>
        <p:cNvPr id="1" name=""/>
        <p:cNvGrpSpPr/>
        <p:nvPr/>
      </p:nvGrpSpPr>
      <p:grpSpPr>
        <a:xfrm>
          <a:off x="0" y="0"/>
          <a:ext cx="0" cy="0"/>
          <a:chOff x="0" y="0"/>
          <a:chExt cx="0" cy="0"/>
        </a:xfrm>
      </p:grpSpPr>
      <p:sp>
        <p:nvSpPr>
          <p:cNvPr id="2" name="Text 0"/>
          <p:cNvSpPr/>
          <p:nvPr/>
        </p:nvSpPr>
        <p:spPr>
          <a:xfrm>
            <a:off x="548640" y="548640"/>
            <a:ext cx="7315200" cy="274320"/>
          </a:xfrm>
          <a:prstGeom prst="rect">
            <a:avLst/>
          </a:prstGeom>
          <a:noFill/>
          <a:ln/>
        </p:spPr>
        <p:txBody>
          <a:bodyPr wrap="square" lIns="0" tIns="0" rIns="0" bIns="0" rtlCol="0" anchor="ctr"/>
          <a:lstStyle/>
          <a:p>
            <a:pPr algn="l" indent="0" marL="0">
              <a:buNone/>
            </a:pPr>
            <a:r>
              <a:rPr lang="en-US" sz="1150" b="1" spc="300" kern="0" dirty="0">
                <a:solidFill>
                  <a:srgbClr val="D8A24A"/>
                </a:solidFill>
                <a:latin typeface="Calibri" pitchFamily="34" charset="0"/>
                <a:ea typeface="Calibri" pitchFamily="34" charset="-122"/>
                <a:cs typeface="Calibri" pitchFamily="34" charset="-120"/>
              </a:rPr>
              <a:t>LA PAROLA · 1</a:t>
            </a:r>
            <a:endParaRPr lang="en-US" sz="1150" dirty="0"/>
          </a:p>
        </p:txBody>
      </p:sp>
      <p:sp>
        <p:nvSpPr>
          <p:cNvPr id="3" name="Text 1"/>
          <p:cNvSpPr/>
          <p:nvPr/>
        </p:nvSpPr>
        <p:spPr>
          <a:xfrm>
            <a:off x="502920" y="841248"/>
            <a:ext cx="11155680" cy="640080"/>
          </a:xfrm>
          <a:prstGeom prst="rect">
            <a:avLst/>
          </a:prstGeom>
          <a:noFill/>
          <a:ln/>
        </p:spPr>
        <p:txBody>
          <a:bodyPr wrap="square" lIns="0" tIns="0" rIns="0" bIns="0" rtlCol="0" anchor="ctr"/>
          <a:lstStyle/>
          <a:p>
            <a:pPr indent="0" marL="0">
              <a:buNone/>
            </a:pPr>
            <a:r>
              <a:rPr lang="en-US" sz="2900" b="1" dirty="0">
                <a:solidFill>
                  <a:srgbClr val="F5EFE8"/>
                </a:solidFill>
                <a:latin typeface="Georgia" pitchFamily="34" charset="0"/>
                <a:ea typeface="Georgia" pitchFamily="34" charset="-122"/>
                <a:cs typeface="Georgia" pitchFamily="34" charset="-120"/>
              </a:rPr>
              <a:t>ADAM non è (ancora) un nome maschile</a:t>
            </a:r>
            <a:endParaRPr lang="en-US" sz="2900" dirty="0"/>
          </a:p>
        </p:txBody>
      </p:sp>
      <p:pic>
        <p:nvPicPr>
          <p:cNvPr id="4" name="Image 0" descr="assets/adam_cream.png">    </p:cNvPr>
          <p:cNvPicPr>
            <a:picLocks noChangeAspect="1"/>
          </p:cNvPicPr>
          <p:nvPr/>
        </p:nvPicPr>
        <p:blipFill>
          <a:blip r:embed="rId1"/>
          <a:stretch>
            <a:fillRect/>
          </a:stretch>
        </p:blipFill>
        <p:spPr>
          <a:xfrm>
            <a:off x="1672590" y="1783080"/>
            <a:ext cx="2872740" cy="1783080"/>
          </a:xfrm>
          <a:prstGeom prst="rect">
            <a:avLst/>
          </a:prstGeom>
        </p:spPr>
      </p:pic>
      <p:sp>
        <p:nvSpPr>
          <p:cNvPr id="5" name="Text 2"/>
          <p:cNvSpPr/>
          <p:nvPr/>
        </p:nvSpPr>
        <p:spPr>
          <a:xfrm>
            <a:off x="1280160" y="3657600"/>
            <a:ext cx="3657600" cy="411480"/>
          </a:xfrm>
          <a:prstGeom prst="rect">
            <a:avLst/>
          </a:prstGeom>
          <a:noFill/>
          <a:ln/>
        </p:spPr>
        <p:txBody>
          <a:bodyPr wrap="square" lIns="0" tIns="0" rIns="0" bIns="0" rtlCol="0" anchor="ctr"/>
          <a:lstStyle/>
          <a:p>
            <a:pPr algn="ctr" indent="0" marL="0">
              <a:buNone/>
            </a:pPr>
            <a:r>
              <a:rPr lang="en-US" sz="2200" b="1" i="1" dirty="0">
                <a:solidFill>
                  <a:srgbClr val="D8A24A"/>
                </a:solidFill>
                <a:latin typeface="Georgia" pitchFamily="34" charset="0"/>
                <a:ea typeface="Georgia" pitchFamily="34" charset="-122"/>
                <a:cs typeface="Georgia" pitchFamily="34" charset="-120"/>
              </a:rPr>
              <a:t>adàm</a:t>
            </a:r>
            <a:endParaRPr lang="en-US" sz="2200" dirty="0"/>
          </a:p>
        </p:txBody>
      </p:sp>
      <p:sp>
        <p:nvSpPr>
          <p:cNvPr id="6" name="Shape 3"/>
          <p:cNvSpPr/>
          <p:nvPr/>
        </p:nvSpPr>
        <p:spPr>
          <a:xfrm>
            <a:off x="5943600" y="1874520"/>
            <a:ext cx="5715000" cy="1371600"/>
          </a:xfrm>
          <a:prstGeom prst="rect">
            <a:avLst/>
          </a:prstGeom>
          <a:solidFill>
            <a:srgbClr val="FFFFFF">
              <a:alpha val="8000"/>
            </a:srgbClr>
          </a:solidFill>
          <a:ln w="12700">
            <a:solidFill>
              <a:srgbClr val="7A5A47"/>
            </a:solidFill>
            <a:prstDash val="solid"/>
          </a:ln>
        </p:spPr>
      </p:sp>
      <p:pic>
        <p:nvPicPr>
          <p:cNvPr id="7" name="Image 1" descr="assets/adamah_cream.png">    </p:cNvPr>
          <p:cNvPicPr>
            <a:picLocks noChangeAspect="1"/>
          </p:cNvPicPr>
          <p:nvPr/>
        </p:nvPicPr>
        <p:blipFill>
          <a:blip r:embed="rId2"/>
          <a:stretch>
            <a:fillRect/>
          </a:stretch>
        </p:blipFill>
        <p:spPr>
          <a:xfrm>
            <a:off x="6709038" y="2057400"/>
            <a:ext cx="1212324" cy="566928"/>
          </a:xfrm>
          <a:prstGeom prst="rect">
            <a:avLst/>
          </a:prstGeom>
        </p:spPr>
      </p:pic>
      <p:sp>
        <p:nvSpPr>
          <p:cNvPr id="8" name="Text 4"/>
          <p:cNvSpPr/>
          <p:nvPr/>
        </p:nvSpPr>
        <p:spPr>
          <a:xfrm>
            <a:off x="6126480" y="2697480"/>
            <a:ext cx="5349240" cy="411480"/>
          </a:xfrm>
          <a:prstGeom prst="rect">
            <a:avLst/>
          </a:prstGeom>
          <a:noFill/>
          <a:ln/>
        </p:spPr>
        <p:txBody>
          <a:bodyPr wrap="square" lIns="0" tIns="0" rIns="0" bIns="0" rtlCol="0" anchor="ctr"/>
          <a:lstStyle/>
          <a:p>
            <a:pPr algn="ctr" indent="0" marL="0">
              <a:buNone/>
            </a:pPr>
            <a:r>
              <a:rPr lang="en-US" sz="1400" dirty="0">
                <a:solidFill>
                  <a:srgbClr val="F5EFE8"/>
                </a:solidFill>
                <a:latin typeface="Calibri" pitchFamily="34" charset="0"/>
                <a:ea typeface="Calibri" pitchFamily="34" charset="-122"/>
                <a:cs typeface="Calibri" pitchFamily="34" charset="-120"/>
              </a:rPr>
              <a:t>adamàh = terra, suolo</a:t>
            </a:r>
            <a:endParaRPr lang="en-US" sz="1400" dirty="0"/>
          </a:p>
        </p:txBody>
      </p:sp>
      <p:sp>
        <p:nvSpPr>
          <p:cNvPr id="9" name="Text 5"/>
          <p:cNvSpPr/>
          <p:nvPr/>
        </p:nvSpPr>
        <p:spPr>
          <a:xfrm>
            <a:off x="6126480" y="3310128"/>
            <a:ext cx="5349240" cy="457200"/>
          </a:xfrm>
          <a:prstGeom prst="rect">
            <a:avLst/>
          </a:prstGeom>
          <a:noFill/>
          <a:ln/>
        </p:spPr>
        <p:txBody>
          <a:bodyPr wrap="square" lIns="0" tIns="0" rIns="0" bIns="0" rtlCol="0" anchor="ctr"/>
          <a:lstStyle/>
          <a:p>
            <a:pPr algn="ctr" indent="0" marL="0">
              <a:buNone/>
            </a:pPr>
            <a:r>
              <a:rPr lang="en-US" sz="1450" b="1" i="1" dirty="0">
                <a:solidFill>
                  <a:srgbClr val="D8A24A"/>
                </a:solidFill>
                <a:latin typeface="Calibri" pitchFamily="34" charset="0"/>
                <a:ea typeface="Calibri" pitchFamily="34" charset="-122"/>
                <a:cs typeface="Calibri" pitchFamily="34" charset="-120"/>
              </a:rPr>
              <a:t>adàm</a:t>
            </a:r>
            <a:pPr algn="ctr" indent="0" marL="0">
              <a:buNone/>
            </a:pPr>
            <a:r>
              <a:rPr lang="en-US" sz="1450" dirty="0">
                <a:solidFill>
                  <a:srgbClr val="F5EFE8"/>
                </a:solidFill>
                <a:latin typeface="Calibri" pitchFamily="34" charset="0"/>
                <a:ea typeface="Calibri" pitchFamily="34" charset="-122"/>
                <a:cs typeface="Calibri" pitchFamily="34" charset="-120"/>
              </a:rPr>
              <a:t> = «il terrestre», colui che è tratto dal suolo</a:t>
            </a:r>
            <a:endParaRPr lang="en-US" sz="1450" dirty="0"/>
          </a:p>
        </p:txBody>
      </p:sp>
      <p:sp>
        <p:nvSpPr>
          <p:cNvPr id="10" name="Shape 6"/>
          <p:cNvSpPr/>
          <p:nvPr/>
        </p:nvSpPr>
        <p:spPr>
          <a:xfrm>
            <a:off x="548640" y="4343400"/>
            <a:ext cx="3566160" cy="1691640"/>
          </a:xfrm>
          <a:prstGeom prst="rect">
            <a:avLst/>
          </a:prstGeom>
          <a:solidFill>
            <a:srgbClr val="FFFFFF">
              <a:alpha val="10000"/>
            </a:srgbClr>
          </a:solidFill>
          <a:ln/>
        </p:spPr>
      </p:sp>
      <p:sp>
        <p:nvSpPr>
          <p:cNvPr id="11" name="Shape 7"/>
          <p:cNvSpPr/>
          <p:nvPr/>
        </p:nvSpPr>
        <p:spPr>
          <a:xfrm>
            <a:off x="548640" y="4343400"/>
            <a:ext cx="73152" cy="1691640"/>
          </a:xfrm>
          <a:prstGeom prst="rect">
            <a:avLst/>
          </a:prstGeom>
          <a:solidFill>
            <a:srgbClr val="D8A24A"/>
          </a:solidFill>
          <a:ln/>
        </p:spPr>
      </p:sp>
      <p:sp>
        <p:nvSpPr>
          <p:cNvPr id="12" name="Text 8"/>
          <p:cNvSpPr/>
          <p:nvPr/>
        </p:nvSpPr>
        <p:spPr>
          <a:xfrm>
            <a:off x="822960" y="4526280"/>
            <a:ext cx="3154680" cy="457200"/>
          </a:xfrm>
          <a:prstGeom prst="rect">
            <a:avLst/>
          </a:prstGeom>
          <a:noFill/>
          <a:ln/>
        </p:spPr>
        <p:txBody>
          <a:bodyPr wrap="square" lIns="0" tIns="0" rIns="0" bIns="0" rtlCol="0" anchor="ctr"/>
          <a:lstStyle/>
          <a:p>
            <a:pPr indent="0" marL="0">
              <a:buNone/>
            </a:pPr>
            <a:r>
              <a:rPr lang="en-US" sz="1650" b="1" dirty="0">
                <a:solidFill>
                  <a:srgbClr val="D8A24A"/>
                </a:solidFill>
                <a:latin typeface="Georgia" pitchFamily="34" charset="0"/>
                <a:ea typeface="Georgia" pitchFamily="34" charset="-122"/>
                <a:cs typeface="Georgia" pitchFamily="34" charset="-120"/>
              </a:rPr>
              <a:t>«ha-adam»</a:t>
            </a:r>
            <a:endParaRPr lang="en-US" sz="1650" dirty="0"/>
          </a:p>
        </p:txBody>
      </p:sp>
      <p:sp>
        <p:nvSpPr>
          <p:cNvPr id="13" name="Text 9"/>
          <p:cNvSpPr/>
          <p:nvPr/>
        </p:nvSpPr>
        <p:spPr>
          <a:xfrm>
            <a:off x="822960" y="5029200"/>
            <a:ext cx="3154680" cy="914400"/>
          </a:xfrm>
          <a:prstGeom prst="rect">
            <a:avLst/>
          </a:prstGeom>
          <a:noFill/>
          <a:ln/>
        </p:spPr>
        <p:txBody>
          <a:bodyPr wrap="square" lIns="0" tIns="0" rIns="0" bIns="0" rtlCol="0" anchor="t"/>
          <a:lstStyle/>
          <a:p>
            <a:pPr indent="0" marL="0">
              <a:lnSpc>
                <a:spcPct val="108000"/>
              </a:lnSpc>
              <a:buNone/>
            </a:pPr>
            <a:r>
              <a:rPr lang="en-US" sz="1300" dirty="0">
                <a:solidFill>
                  <a:srgbClr val="F5EFE8"/>
                </a:solidFill>
                <a:latin typeface="Calibri" pitchFamily="34" charset="0"/>
                <a:ea typeface="Calibri" pitchFamily="34" charset="-122"/>
                <a:cs typeface="Calibri" pitchFamily="34" charset="-120"/>
              </a:rPr>
              <a:t>Con l'articolo: «l'umano», non un nome proprio.</a:t>
            </a:r>
            <a:endParaRPr lang="en-US" sz="1300" dirty="0"/>
          </a:p>
        </p:txBody>
      </p:sp>
      <p:sp>
        <p:nvSpPr>
          <p:cNvPr id="14" name="Shape 10"/>
          <p:cNvSpPr/>
          <p:nvPr/>
        </p:nvSpPr>
        <p:spPr>
          <a:xfrm>
            <a:off x="4315968" y="4343400"/>
            <a:ext cx="3566160" cy="1691640"/>
          </a:xfrm>
          <a:prstGeom prst="rect">
            <a:avLst/>
          </a:prstGeom>
          <a:solidFill>
            <a:srgbClr val="FFFFFF">
              <a:alpha val="10000"/>
            </a:srgbClr>
          </a:solidFill>
          <a:ln/>
        </p:spPr>
      </p:sp>
      <p:sp>
        <p:nvSpPr>
          <p:cNvPr id="15" name="Shape 11"/>
          <p:cNvSpPr/>
          <p:nvPr/>
        </p:nvSpPr>
        <p:spPr>
          <a:xfrm>
            <a:off x="4315968" y="4343400"/>
            <a:ext cx="73152" cy="1691640"/>
          </a:xfrm>
          <a:prstGeom prst="rect">
            <a:avLst/>
          </a:prstGeom>
          <a:solidFill>
            <a:srgbClr val="D8A24A"/>
          </a:solidFill>
          <a:ln/>
        </p:spPr>
      </p:sp>
      <p:sp>
        <p:nvSpPr>
          <p:cNvPr id="16" name="Text 12"/>
          <p:cNvSpPr/>
          <p:nvPr/>
        </p:nvSpPr>
        <p:spPr>
          <a:xfrm>
            <a:off x="4590288" y="4526280"/>
            <a:ext cx="3154680" cy="457200"/>
          </a:xfrm>
          <a:prstGeom prst="rect">
            <a:avLst/>
          </a:prstGeom>
          <a:noFill/>
          <a:ln/>
        </p:spPr>
        <p:txBody>
          <a:bodyPr wrap="square" lIns="0" tIns="0" rIns="0" bIns="0" rtlCol="0" anchor="ctr"/>
          <a:lstStyle/>
          <a:p>
            <a:pPr indent="0" marL="0">
              <a:buNone/>
            </a:pPr>
            <a:r>
              <a:rPr lang="en-US" sz="1650" b="1" dirty="0">
                <a:solidFill>
                  <a:srgbClr val="D8A24A"/>
                </a:solidFill>
                <a:latin typeface="Georgia" pitchFamily="34" charset="0"/>
                <a:ea typeface="Georgia" pitchFamily="34" charset="-122"/>
                <a:cs typeface="Georgia" pitchFamily="34" charset="-120"/>
              </a:rPr>
              <a:t>L'essere umano</a:t>
            </a:r>
            <a:endParaRPr lang="en-US" sz="1650" dirty="0"/>
          </a:p>
        </p:txBody>
      </p:sp>
      <p:sp>
        <p:nvSpPr>
          <p:cNvPr id="17" name="Text 13"/>
          <p:cNvSpPr/>
          <p:nvPr/>
        </p:nvSpPr>
        <p:spPr>
          <a:xfrm>
            <a:off x="4590288" y="5029200"/>
            <a:ext cx="3154680" cy="914400"/>
          </a:xfrm>
          <a:prstGeom prst="rect">
            <a:avLst/>
          </a:prstGeom>
          <a:noFill/>
          <a:ln/>
        </p:spPr>
        <p:txBody>
          <a:bodyPr wrap="square" lIns="0" tIns="0" rIns="0" bIns="0" rtlCol="0" anchor="t"/>
          <a:lstStyle/>
          <a:p>
            <a:pPr indent="0" marL="0">
              <a:lnSpc>
                <a:spcPct val="108000"/>
              </a:lnSpc>
              <a:buNone/>
            </a:pPr>
            <a:r>
              <a:rPr lang="en-US" sz="1300" dirty="0">
                <a:solidFill>
                  <a:srgbClr val="F5EFE8"/>
                </a:solidFill>
                <a:latin typeface="Calibri" pitchFamily="34" charset="0"/>
                <a:ea typeface="Calibri" pitchFamily="34" charset="-122"/>
                <a:cs typeface="Calibri" pitchFamily="34" charset="-120"/>
              </a:rPr>
              <a:t>Indica l'uomo in quanto tale, l'umanità — non «il maschio».</a:t>
            </a:r>
            <a:endParaRPr lang="en-US" sz="1300" dirty="0"/>
          </a:p>
        </p:txBody>
      </p:sp>
      <p:sp>
        <p:nvSpPr>
          <p:cNvPr id="18" name="Shape 14"/>
          <p:cNvSpPr/>
          <p:nvPr/>
        </p:nvSpPr>
        <p:spPr>
          <a:xfrm>
            <a:off x="8083296" y="4343400"/>
            <a:ext cx="3566160" cy="1691640"/>
          </a:xfrm>
          <a:prstGeom prst="rect">
            <a:avLst/>
          </a:prstGeom>
          <a:solidFill>
            <a:srgbClr val="FFFFFF">
              <a:alpha val="10000"/>
            </a:srgbClr>
          </a:solidFill>
          <a:ln/>
        </p:spPr>
      </p:sp>
      <p:sp>
        <p:nvSpPr>
          <p:cNvPr id="19" name="Shape 15"/>
          <p:cNvSpPr/>
          <p:nvPr/>
        </p:nvSpPr>
        <p:spPr>
          <a:xfrm>
            <a:off x="8083296" y="4343400"/>
            <a:ext cx="73152" cy="1691640"/>
          </a:xfrm>
          <a:prstGeom prst="rect">
            <a:avLst/>
          </a:prstGeom>
          <a:solidFill>
            <a:srgbClr val="D8A24A"/>
          </a:solidFill>
          <a:ln/>
        </p:spPr>
      </p:sp>
      <p:sp>
        <p:nvSpPr>
          <p:cNvPr id="20" name="Text 16"/>
          <p:cNvSpPr/>
          <p:nvPr/>
        </p:nvSpPr>
        <p:spPr>
          <a:xfrm>
            <a:off x="8357616" y="4526280"/>
            <a:ext cx="3154680" cy="457200"/>
          </a:xfrm>
          <a:prstGeom prst="rect">
            <a:avLst/>
          </a:prstGeom>
          <a:noFill/>
          <a:ln/>
        </p:spPr>
        <p:txBody>
          <a:bodyPr wrap="square" lIns="0" tIns="0" rIns="0" bIns="0" rtlCol="0" anchor="ctr"/>
          <a:lstStyle/>
          <a:p>
            <a:pPr indent="0" marL="0">
              <a:buNone/>
            </a:pPr>
            <a:r>
              <a:rPr lang="en-US" sz="1650" b="1" dirty="0">
                <a:solidFill>
                  <a:srgbClr val="D8A24A"/>
                </a:solidFill>
                <a:latin typeface="Georgia" pitchFamily="34" charset="0"/>
                <a:ea typeface="Georgia" pitchFamily="34" charset="-122"/>
                <a:cs typeface="Georgia" pitchFamily="34" charset="-120"/>
              </a:rPr>
              <a:t>Terra e fragilità</a:t>
            </a:r>
            <a:endParaRPr lang="en-US" sz="1650" dirty="0"/>
          </a:p>
        </p:txBody>
      </p:sp>
      <p:sp>
        <p:nvSpPr>
          <p:cNvPr id="21" name="Text 17"/>
          <p:cNvSpPr/>
          <p:nvPr/>
        </p:nvSpPr>
        <p:spPr>
          <a:xfrm>
            <a:off x="8357616" y="5029200"/>
            <a:ext cx="3154680" cy="914400"/>
          </a:xfrm>
          <a:prstGeom prst="rect">
            <a:avLst/>
          </a:prstGeom>
          <a:noFill/>
          <a:ln/>
        </p:spPr>
        <p:txBody>
          <a:bodyPr wrap="square" lIns="0" tIns="0" rIns="0" bIns="0" rtlCol="0" anchor="t"/>
          <a:lstStyle/>
          <a:p>
            <a:pPr indent="0" marL="0">
              <a:lnSpc>
                <a:spcPct val="108000"/>
              </a:lnSpc>
              <a:buNone/>
            </a:pPr>
            <a:r>
              <a:rPr lang="en-US" sz="1300" dirty="0">
                <a:solidFill>
                  <a:srgbClr val="F5EFE8"/>
                </a:solidFill>
                <a:latin typeface="Calibri" pitchFamily="34" charset="0"/>
                <a:ea typeface="Calibri" pitchFamily="34" charset="-122"/>
                <a:cs typeface="Calibri" pitchFamily="34" charset="-120"/>
              </a:rPr>
              <a:t>L'uomo viene dalla terra: radici e limite della creatura.</a:t>
            </a:r>
            <a:endParaRPr lang="en-US" sz="1300" dirty="0"/>
          </a:p>
        </p:txBody>
      </p:sp>
      <p:sp>
        <p:nvSpPr>
          <p:cNvPr id="22" name="Text 18"/>
          <p:cNvSpPr/>
          <p:nvPr/>
        </p:nvSpPr>
        <p:spPr>
          <a:xfrm>
            <a:off x="502920" y="6437376"/>
            <a:ext cx="4572000" cy="274320"/>
          </a:xfrm>
          <a:prstGeom prst="rect">
            <a:avLst/>
          </a:prstGeom>
          <a:noFill/>
          <a:ln/>
        </p:spPr>
        <p:txBody>
          <a:bodyPr wrap="square" lIns="0" tIns="0" rIns="0" bIns="0" rtlCol="0" anchor="ctr"/>
          <a:lstStyle/>
          <a:p>
            <a:pPr algn="l" indent="0" marL="0">
              <a:buNone/>
            </a:pPr>
            <a:r>
              <a:rPr lang="en-US" sz="900" dirty="0">
                <a:solidFill>
                  <a:srgbClr val="C9B5A4"/>
                </a:solidFill>
                <a:latin typeface="Calibri" pitchFamily="34" charset="0"/>
                <a:ea typeface="Calibri" pitchFamily="34" charset="-122"/>
                <a:cs typeface="Calibri" pitchFamily="34" charset="-120"/>
              </a:rPr>
              <a:t>IRC · Liceo Scientifico</a:t>
            </a:r>
            <a:endParaRPr lang="en-US" sz="900" dirty="0"/>
          </a:p>
        </p:txBody>
      </p:sp>
      <p:sp>
        <p:nvSpPr>
          <p:cNvPr id="23" name="Text 19"/>
          <p:cNvSpPr/>
          <p:nvPr/>
        </p:nvSpPr>
        <p:spPr>
          <a:xfrm>
            <a:off x="7116775" y="6437376"/>
            <a:ext cx="4572000" cy="274320"/>
          </a:xfrm>
          <a:prstGeom prst="rect">
            <a:avLst/>
          </a:prstGeom>
          <a:noFill/>
          <a:ln/>
        </p:spPr>
        <p:txBody>
          <a:bodyPr wrap="square" lIns="0" tIns="0" rIns="0" bIns="0" rtlCol="0" anchor="ctr"/>
          <a:lstStyle/>
          <a:p>
            <a:pPr algn="r" indent="0" marL="0">
              <a:buNone/>
            </a:pPr>
            <a:r>
              <a:rPr lang="en-US" sz="900" dirty="0">
                <a:solidFill>
                  <a:srgbClr val="C9B5A4"/>
                </a:solidFill>
                <a:latin typeface="Calibri" pitchFamily="34" charset="0"/>
                <a:ea typeface="Calibri" pitchFamily="34" charset="-122"/>
                <a:cs typeface="Calibri" pitchFamily="34" charset="-120"/>
              </a:rPr>
              <a:t>ADAM   ·   </a:t>
            </a:r>
            <a:pPr algn="r" indent="0" marL="0">
              <a:buNone/>
            </a:pPr>
            <a:r>
              <a:rPr lang="en-US" sz="900" b="1" dirty="0">
                <a:solidFill>
                  <a:srgbClr val="D8A24A"/>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lIns="0" tIns="0" rIns="0" bIns="0" rtlCol="0" anchor="ctr"/>
          <a:lstStyle/>
          <a:p>
            <a:pPr algn="l" indent="0" marL="0">
              <a:buNone/>
            </a:pPr>
            <a:r>
              <a:rPr lang="en-US" sz="1150" b="1" spc="300" kern="0" dirty="0">
                <a:solidFill>
                  <a:srgbClr val="B0492B"/>
                </a:solidFill>
                <a:latin typeface="Calibri" pitchFamily="34" charset="0"/>
                <a:ea typeface="Calibri" pitchFamily="34" charset="-122"/>
                <a:cs typeface="Calibri" pitchFamily="34" charset="-120"/>
              </a:rPr>
              <a:t>GENESI 2,18</a:t>
            </a:r>
            <a:endParaRPr lang="en-US" sz="1150" dirty="0"/>
          </a:p>
        </p:txBody>
      </p:sp>
      <p:sp>
        <p:nvSpPr>
          <p:cNvPr id="3" name="Text 1"/>
          <p:cNvSpPr/>
          <p:nvPr/>
        </p:nvSpPr>
        <p:spPr>
          <a:xfrm>
            <a:off x="502920" y="777240"/>
            <a:ext cx="10972800" cy="640080"/>
          </a:xfrm>
          <a:prstGeom prst="rect">
            <a:avLst/>
          </a:prstGeom>
          <a:noFill/>
          <a:ln/>
        </p:spPr>
        <p:txBody>
          <a:bodyPr wrap="square" lIns="0" tIns="0" rIns="0" bIns="0" rtlCol="0" anchor="ctr"/>
          <a:lstStyle/>
          <a:p>
            <a:pPr indent="0" marL="0">
              <a:buNone/>
            </a:pPr>
            <a:r>
              <a:rPr lang="en-US" sz="3000" b="1" dirty="0">
                <a:solidFill>
                  <a:srgbClr val="2B2118"/>
                </a:solidFill>
                <a:latin typeface="Georgia" pitchFamily="34" charset="0"/>
                <a:ea typeface="Georgia" pitchFamily="34" charset="-122"/>
                <a:cs typeface="Georgia" pitchFamily="34" charset="-120"/>
              </a:rPr>
              <a:t>«Non è bene che l'uomo sia solo»</a:t>
            </a:r>
            <a:endParaRPr lang="en-US" sz="3000" dirty="0"/>
          </a:p>
        </p:txBody>
      </p:sp>
      <p:sp>
        <p:nvSpPr>
          <p:cNvPr id="4" name="Text 2"/>
          <p:cNvSpPr/>
          <p:nvPr/>
        </p:nvSpPr>
        <p:spPr>
          <a:xfrm>
            <a:off x="548640" y="1828800"/>
            <a:ext cx="6675120" cy="1188720"/>
          </a:xfrm>
          <a:prstGeom prst="rect">
            <a:avLst/>
          </a:prstGeom>
          <a:noFill/>
          <a:ln/>
        </p:spPr>
        <p:txBody>
          <a:bodyPr wrap="square" lIns="0" tIns="0" rIns="0" bIns="0" rtlCol="0" anchor="t"/>
          <a:lstStyle/>
          <a:p>
            <a:pPr indent="0" marL="0">
              <a:lnSpc>
                <a:spcPct val="115000"/>
              </a:lnSpc>
              <a:spcAft>
                <a:spcPts val="800"/>
              </a:spcAft>
              <a:buNone/>
            </a:pPr>
            <a:r>
              <a:rPr lang="en-US" sz="1600" dirty="0">
                <a:solidFill>
                  <a:srgbClr val="2B2118"/>
                </a:solidFill>
                <a:latin typeface="Calibri" pitchFamily="34" charset="0"/>
                <a:ea typeface="Calibri" pitchFamily="34" charset="-122"/>
                <a:cs typeface="Calibri" pitchFamily="34" charset="-120"/>
              </a:rPr>
              <a:t>Dio fa sfilare gli animali davanti all'adam perché dia loro un nome. </a:t>
            </a:r>
            <a:endParaRPr lang="en-US" sz="1600" dirty="0"/>
          </a:p>
          <a:p>
            <a:pPr indent="0" marL="0">
              <a:lnSpc>
                <a:spcPct val="115000"/>
              </a:lnSpc>
              <a:buNone/>
            </a:pPr>
            <a:r>
              <a:rPr lang="en-US" sz="1600" b="1" dirty="0">
                <a:solidFill>
                  <a:srgbClr val="8A3620"/>
                </a:solidFill>
                <a:latin typeface="Calibri" pitchFamily="34" charset="0"/>
                <a:ea typeface="Calibri" pitchFamily="34" charset="-122"/>
                <a:cs typeface="Calibri" pitchFamily="34" charset="-120"/>
              </a:rPr>
              <a:t>Ma «non trovò un aiuto che gli corrispondesse».</a:t>
            </a:r>
            <a:endParaRPr lang="en-US" sz="1600" dirty="0"/>
          </a:p>
        </p:txBody>
      </p:sp>
      <p:sp>
        <p:nvSpPr>
          <p:cNvPr id="5" name="Shape 3"/>
          <p:cNvSpPr/>
          <p:nvPr/>
        </p:nvSpPr>
        <p:spPr>
          <a:xfrm>
            <a:off x="548640" y="3063240"/>
            <a:ext cx="6675120" cy="1828800"/>
          </a:xfrm>
          <a:prstGeom prst="rect">
            <a:avLst/>
          </a:prstGeom>
          <a:solidFill>
            <a:srgbClr val="F5EEE4"/>
          </a:solidFill>
          <a:ln/>
        </p:spPr>
      </p:sp>
      <p:pic>
        <p:nvPicPr>
          <p:cNvPr id="6" name="Image 0" descr="assets/ic_seed_olive.png">    </p:cNvPr>
          <p:cNvPicPr>
            <a:picLocks noChangeAspect="1"/>
          </p:cNvPicPr>
          <p:nvPr/>
        </p:nvPicPr>
        <p:blipFill>
          <a:blip r:embed="rId1"/>
          <a:stretch>
            <a:fillRect/>
          </a:stretch>
        </p:blipFill>
        <p:spPr>
          <a:xfrm>
            <a:off x="822960" y="3310128"/>
            <a:ext cx="457200" cy="457200"/>
          </a:xfrm>
          <a:prstGeom prst="rect">
            <a:avLst/>
          </a:prstGeom>
        </p:spPr>
      </p:pic>
      <p:sp>
        <p:nvSpPr>
          <p:cNvPr id="7" name="Text 4"/>
          <p:cNvSpPr/>
          <p:nvPr/>
        </p:nvSpPr>
        <p:spPr>
          <a:xfrm>
            <a:off x="1463040" y="3246120"/>
            <a:ext cx="5486400" cy="457200"/>
          </a:xfrm>
          <a:prstGeom prst="rect">
            <a:avLst/>
          </a:prstGeom>
          <a:noFill/>
          <a:ln/>
        </p:spPr>
        <p:txBody>
          <a:bodyPr wrap="square" lIns="0" tIns="0" rIns="0" bIns="0" rtlCol="0" anchor="ctr"/>
          <a:lstStyle/>
          <a:p>
            <a:pPr indent="0" marL="0">
              <a:buNone/>
            </a:pPr>
            <a:r>
              <a:rPr lang="en-US" sz="1700" b="1" dirty="0">
                <a:solidFill>
                  <a:srgbClr val="2B2118"/>
                </a:solidFill>
                <a:latin typeface="Georgia" pitchFamily="34" charset="0"/>
                <a:ea typeface="Georgia" pitchFamily="34" charset="-122"/>
                <a:cs typeface="Georgia" pitchFamily="34" charset="-120"/>
              </a:rPr>
              <a:t>La «solitudine originaria»</a:t>
            </a:r>
            <a:endParaRPr lang="en-US" sz="1700" dirty="0"/>
          </a:p>
        </p:txBody>
      </p:sp>
      <p:sp>
        <p:nvSpPr>
          <p:cNvPr id="8" name="Text 5"/>
          <p:cNvSpPr/>
          <p:nvPr/>
        </p:nvSpPr>
        <p:spPr>
          <a:xfrm>
            <a:off x="822960" y="3840480"/>
            <a:ext cx="6126480" cy="960120"/>
          </a:xfrm>
          <a:prstGeom prst="rect">
            <a:avLst/>
          </a:prstGeom>
          <a:noFill/>
          <a:ln/>
        </p:spPr>
        <p:txBody>
          <a:bodyPr wrap="square" lIns="0" tIns="0" rIns="0" bIns="0" rtlCol="0" anchor="t"/>
          <a:lstStyle/>
          <a:p>
            <a:pPr indent="0" marL="0">
              <a:lnSpc>
                <a:spcPct val="112000"/>
              </a:lnSpc>
              <a:buNone/>
            </a:pPr>
            <a:r>
              <a:rPr lang="en-US" sz="1350" dirty="0">
                <a:solidFill>
                  <a:srgbClr val="2B2118"/>
                </a:solidFill>
                <a:latin typeface="Calibri" pitchFamily="34" charset="0"/>
                <a:ea typeface="Calibri" pitchFamily="34" charset="-122"/>
                <a:cs typeface="Calibri" pitchFamily="34" charset="-120"/>
              </a:rPr>
              <a:t>L'umano scopre di essere diverso da tutto il creato: nessun animale lo «riflette». Ha bisogno di un altro che gli stia di fronte — di un «tu».</a:t>
            </a:r>
            <a:endParaRPr lang="en-US" sz="1350" dirty="0"/>
          </a:p>
        </p:txBody>
      </p:sp>
      <p:sp>
        <p:nvSpPr>
          <p:cNvPr id="9" name="Shape 6"/>
          <p:cNvSpPr/>
          <p:nvPr/>
        </p:nvSpPr>
        <p:spPr>
          <a:xfrm>
            <a:off x="7498080" y="1828800"/>
            <a:ext cx="4114800" cy="3063240"/>
          </a:xfrm>
          <a:prstGeom prst="rect">
            <a:avLst/>
          </a:prstGeom>
          <a:solidFill>
            <a:srgbClr val="33211A"/>
          </a:solidFill>
          <a:ln/>
          <a:effectLst>
            <a:outerShdw sx="100000" sy="100000" kx="0" ky="0" algn="bl" rotWithShape="0" blurRad="127000" dist="25400" dir="5400000">
              <a:srgbClr val="000000">
                <a:alpha val="10000"/>
              </a:srgbClr>
            </a:outerShdw>
          </a:effectLst>
        </p:spPr>
      </p:sp>
      <p:pic>
        <p:nvPicPr>
          <p:cNvPr id="10" name="Image 1" descr="assets/ic_comments_gold.png">    </p:cNvPr>
          <p:cNvPicPr>
            <a:picLocks noChangeAspect="1"/>
          </p:cNvPicPr>
          <p:nvPr/>
        </p:nvPicPr>
        <p:blipFill>
          <a:blip r:embed="rId2"/>
          <a:stretch>
            <a:fillRect/>
          </a:stretch>
        </p:blipFill>
        <p:spPr>
          <a:xfrm>
            <a:off x="7818120" y="2148840"/>
            <a:ext cx="548640" cy="548640"/>
          </a:xfrm>
          <a:prstGeom prst="rect">
            <a:avLst/>
          </a:prstGeom>
        </p:spPr>
      </p:pic>
      <p:sp>
        <p:nvSpPr>
          <p:cNvPr id="11" name="Text 7"/>
          <p:cNvSpPr/>
          <p:nvPr/>
        </p:nvSpPr>
        <p:spPr>
          <a:xfrm>
            <a:off x="8503920" y="2148840"/>
            <a:ext cx="2743200" cy="548640"/>
          </a:xfrm>
          <a:prstGeom prst="rect">
            <a:avLst/>
          </a:prstGeom>
          <a:noFill/>
          <a:ln/>
        </p:spPr>
        <p:txBody>
          <a:bodyPr wrap="square" lIns="0" tIns="0" rIns="0" bIns="0" rtlCol="0" anchor="ctr"/>
          <a:lstStyle/>
          <a:p>
            <a:pPr indent="0" marL="0">
              <a:buNone/>
            </a:pPr>
            <a:r>
              <a:rPr lang="en-US" sz="1700" b="1" dirty="0">
                <a:solidFill>
                  <a:srgbClr val="F5EFE8"/>
                </a:solidFill>
                <a:latin typeface="Georgia" pitchFamily="34" charset="0"/>
                <a:ea typeface="Georgia" pitchFamily="34" charset="-122"/>
                <a:cs typeface="Georgia" pitchFamily="34" charset="-120"/>
              </a:rPr>
              <a:t>Fermiamoci</a:t>
            </a:r>
            <a:endParaRPr lang="en-US" sz="1700" dirty="0"/>
          </a:p>
        </p:txBody>
      </p:sp>
      <p:sp>
        <p:nvSpPr>
          <p:cNvPr id="12" name="Text 8"/>
          <p:cNvSpPr/>
          <p:nvPr/>
        </p:nvSpPr>
        <p:spPr>
          <a:xfrm>
            <a:off x="7818120" y="2834640"/>
            <a:ext cx="3520440" cy="1371600"/>
          </a:xfrm>
          <a:prstGeom prst="rect">
            <a:avLst/>
          </a:prstGeom>
          <a:noFill/>
          <a:ln/>
        </p:spPr>
        <p:txBody>
          <a:bodyPr wrap="square" lIns="0" tIns="0" rIns="0" bIns="0" rtlCol="0" anchor="t"/>
          <a:lstStyle/>
          <a:p>
            <a:pPr indent="0" marL="0">
              <a:lnSpc>
                <a:spcPct val="115000"/>
              </a:lnSpc>
              <a:buNone/>
            </a:pPr>
            <a:r>
              <a:rPr lang="en-US" sz="1450" dirty="0">
                <a:solidFill>
                  <a:srgbClr val="F5EFE8"/>
                </a:solidFill>
                <a:latin typeface="Calibri" pitchFamily="34" charset="0"/>
                <a:ea typeface="Calibri" pitchFamily="34" charset="-122"/>
                <a:cs typeface="Calibri" pitchFamily="34" charset="-120"/>
              </a:rPr>
              <a:t>Perché gli animali, pur utili e vicini, non «bastano» all'adam?</a:t>
            </a:r>
            <a:endParaRPr lang="en-US" sz="1450" dirty="0"/>
          </a:p>
          <a:p>
            <a:pPr indent="0" marL="0">
              <a:lnSpc>
                <a:spcPct val="115000"/>
              </a:lnSpc>
              <a:buNone/>
            </a:pPr>
            <a:endParaRPr lang="en-US" sz="1450" dirty="0"/>
          </a:p>
          <a:p>
            <a:pPr indent="0" marL="0">
              <a:lnSpc>
                <a:spcPct val="115000"/>
              </a:lnSpc>
              <a:buNone/>
            </a:pPr>
            <a:r>
              <a:rPr lang="en-US" sz="1450" dirty="0">
                <a:solidFill>
                  <a:srgbClr val="F5EFE8"/>
                </a:solidFill>
                <a:latin typeface="Calibri" pitchFamily="34" charset="0"/>
                <a:ea typeface="Calibri" pitchFamily="34" charset="-122"/>
                <a:cs typeface="Calibri" pitchFamily="34" charset="-120"/>
              </a:rPr>
              <a:t>Che cosa cerca davvero?</a:t>
            </a:r>
            <a:endParaRPr lang="en-US" sz="1450" dirty="0"/>
          </a:p>
        </p:txBody>
      </p:sp>
      <p:sp>
        <p:nvSpPr>
          <p:cNvPr id="13" name="Text 9"/>
          <p:cNvSpPr/>
          <p:nvPr/>
        </p:nvSpPr>
        <p:spPr>
          <a:xfrm>
            <a:off x="7818120" y="4343400"/>
            <a:ext cx="3520440" cy="365760"/>
          </a:xfrm>
          <a:prstGeom prst="rect">
            <a:avLst/>
          </a:prstGeom>
          <a:noFill/>
          <a:ln/>
        </p:spPr>
        <p:txBody>
          <a:bodyPr wrap="square" lIns="0" tIns="0" rIns="0" bIns="0" rtlCol="0" anchor="ctr"/>
          <a:lstStyle/>
          <a:p>
            <a:pPr indent="0" marL="0">
              <a:buNone/>
            </a:pPr>
            <a:r>
              <a:rPr lang="en-US" sz="1150" b="1" spc="100" kern="0" dirty="0">
                <a:solidFill>
                  <a:srgbClr val="D8A24A"/>
                </a:solidFill>
                <a:latin typeface="Calibri" pitchFamily="34" charset="0"/>
                <a:ea typeface="Calibri" pitchFamily="34" charset="-122"/>
                <a:cs typeface="Calibri" pitchFamily="34" charset="-120"/>
              </a:rPr>
              <a:t>Confronto a coppie · 30 secondi</a:t>
            </a:r>
            <a:endParaRPr lang="en-US" sz="1150" dirty="0"/>
          </a:p>
        </p:txBody>
      </p:sp>
      <p:sp>
        <p:nvSpPr>
          <p:cNvPr id="14" name="Text 10"/>
          <p:cNvSpPr/>
          <p:nvPr/>
        </p:nvSpPr>
        <p:spPr>
          <a:xfrm>
            <a:off x="548640" y="5212080"/>
            <a:ext cx="11064240" cy="548640"/>
          </a:xfrm>
          <a:prstGeom prst="rect">
            <a:avLst/>
          </a:prstGeom>
          <a:noFill/>
          <a:ln/>
        </p:spPr>
        <p:txBody>
          <a:bodyPr wrap="square" lIns="0" tIns="0" rIns="0" bIns="0" rtlCol="0" anchor="ctr"/>
          <a:lstStyle/>
          <a:p>
            <a:pPr indent="0" marL="0">
              <a:buNone/>
            </a:pPr>
            <a:r>
              <a:rPr lang="en-US" sz="1550" i="1" dirty="0">
                <a:solidFill>
                  <a:srgbClr val="8A3620"/>
                </a:solidFill>
                <a:latin typeface="Georgia" pitchFamily="34" charset="0"/>
                <a:ea typeface="Georgia" pitchFamily="34" charset="-122"/>
                <a:cs typeface="Georgia" pitchFamily="34" charset="-120"/>
              </a:rPr>
              <a:t>La differenza che serve non è quella tra l'uomo e un animale, ma tra l'uomo e un suo simile «altro».</a:t>
            </a:r>
            <a:endParaRPr lang="en-US" sz="1550" dirty="0"/>
          </a:p>
        </p:txBody>
      </p:sp>
      <p:sp>
        <p:nvSpPr>
          <p:cNvPr id="15" name="Text 11"/>
          <p:cNvSpPr/>
          <p:nvPr/>
        </p:nvSpPr>
        <p:spPr>
          <a:xfrm>
            <a:off x="502920" y="6437376"/>
            <a:ext cx="4572000" cy="274320"/>
          </a:xfrm>
          <a:prstGeom prst="rect">
            <a:avLst/>
          </a:prstGeom>
          <a:noFill/>
          <a:ln/>
        </p:spPr>
        <p:txBody>
          <a:bodyPr wrap="square" lIns="0" tIns="0" rIns="0" bIns="0" rtlCol="0" anchor="ctr"/>
          <a:lstStyle/>
          <a:p>
            <a:pPr algn="l" indent="0" marL="0">
              <a:buNone/>
            </a:pPr>
            <a:r>
              <a:rPr lang="en-US" sz="900" dirty="0">
                <a:solidFill>
                  <a:srgbClr val="8A7A6B"/>
                </a:solidFill>
                <a:latin typeface="Calibri" pitchFamily="34" charset="0"/>
                <a:ea typeface="Calibri" pitchFamily="34" charset="-122"/>
                <a:cs typeface="Calibri" pitchFamily="34" charset="-120"/>
              </a:rPr>
              <a:t>IRC · Liceo Scientifico</a:t>
            </a:r>
            <a:endParaRPr lang="en-US" sz="900" dirty="0"/>
          </a:p>
        </p:txBody>
      </p:sp>
      <p:sp>
        <p:nvSpPr>
          <p:cNvPr id="16" name="Text 12"/>
          <p:cNvSpPr/>
          <p:nvPr/>
        </p:nvSpPr>
        <p:spPr>
          <a:xfrm>
            <a:off x="7116775" y="6437376"/>
            <a:ext cx="4572000" cy="274320"/>
          </a:xfrm>
          <a:prstGeom prst="rect">
            <a:avLst/>
          </a:prstGeom>
          <a:noFill/>
          <a:ln/>
        </p:spPr>
        <p:txBody>
          <a:bodyPr wrap="square" lIns="0" tIns="0" rIns="0" bIns="0" rtlCol="0" anchor="ctr"/>
          <a:lstStyle/>
          <a:p>
            <a:pPr algn="r" indent="0" marL="0">
              <a:buNone/>
            </a:pPr>
            <a:r>
              <a:rPr lang="en-US" sz="900" dirty="0">
                <a:solidFill>
                  <a:srgbClr val="8A7A6B"/>
                </a:solidFill>
                <a:latin typeface="Calibri" pitchFamily="34" charset="0"/>
                <a:ea typeface="Calibri" pitchFamily="34" charset="-122"/>
                <a:cs typeface="Calibri" pitchFamily="34" charset="-120"/>
              </a:rPr>
              <a:t>La solitudine   ·   </a:t>
            </a:r>
            <a:pPr algn="r" indent="0" marL="0">
              <a:buNone/>
            </a:pPr>
            <a:r>
              <a:rPr lang="en-US" sz="900" b="1" dirty="0">
                <a:solidFill>
                  <a:srgbClr val="B0492B"/>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lIns="0" tIns="0" rIns="0" bIns="0" rtlCol="0" anchor="ctr"/>
          <a:lstStyle/>
          <a:p>
            <a:pPr algn="l" indent="0" marL="0">
              <a:buNone/>
            </a:pPr>
            <a:r>
              <a:rPr lang="en-US" sz="1150" b="1" spc="300" kern="0" dirty="0">
                <a:solidFill>
                  <a:srgbClr val="B0492B"/>
                </a:solidFill>
                <a:latin typeface="Calibri" pitchFamily="34" charset="0"/>
                <a:ea typeface="Calibri" pitchFamily="34" charset="-122"/>
                <a:cs typeface="Calibri" pitchFamily="34" charset="-120"/>
              </a:rPr>
              <a:t>LA PAROLA · 2</a:t>
            </a:r>
            <a:endParaRPr lang="en-US" sz="1150" dirty="0"/>
          </a:p>
        </p:txBody>
      </p:sp>
      <p:sp>
        <p:nvSpPr>
          <p:cNvPr id="3" name="Text 1"/>
          <p:cNvSpPr/>
          <p:nvPr/>
        </p:nvSpPr>
        <p:spPr>
          <a:xfrm>
            <a:off x="502920" y="777240"/>
            <a:ext cx="10972800" cy="640080"/>
          </a:xfrm>
          <a:prstGeom prst="rect">
            <a:avLst/>
          </a:prstGeom>
          <a:noFill/>
          <a:ln/>
        </p:spPr>
        <p:txBody>
          <a:bodyPr wrap="square" lIns="0" tIns="0" rIns="0" bIns="0" rtlCol="0" anchor="ctr"/>
          <a:lstStyle/>
          <a:p>
            <a:pPr indent="0" marL="0">
              <a:buNone/>
            </a:pPr>
            <a:r>
              <a:rPr lang="en-US" sz="3000" b="1" dirty="0">
                <a:solidFill>
                  <a:srgbClr val="2B2118"/>
                </a:solidFill>
                <a:latin typeface="Georgia" pitchFamily="34" charset="0"/>
                <a:ea typeface="Georgia" pitchFamily="34" charset="-122"/>
                <a:cs typeface="Georgia" pitchFamily="34" charset="-120"/>
              </a:rPr>
              <a:t>«Un aiuto che gli corrisponde»</a:t>
            </a:r>
            <a:endParaRPr lang="en-US" sz="3000" dirty="0"/>
          </a:p>
        </p:txBody>
      </p:sp>
      <p:pic>
        <p:nvPicPr>
          <p:cNvPr id="4" name="Image 0" descr="assets/ezer_kenegdo_terra.png">    </p:cNvPr>
          <p:cNvPicPr>
            <a:picLocks noChangeAspect="1"/>
          </p:cNvPicPr>
          <p:nvPr/>
        </p:nvPicPr>
        <p:blipFill>
          <a:blip r:embed="rId1"/>
          <a:stretch>
            <a:fillRect/>
          </a:stretch>
        </p:blipFill>
        <p:spPr>
          <a:xfrm>
            <a:off x="4409730" y="1691640"/>
            <a:ext cx="3360348" cy="1051560"/>
          </a:xfrm>
          <a:prstGeom prst="rect">
            <a:avLst/>
          </a:prstGeom>
        </p:spPr>
      </p:pic>
      <p:sp>
        <p:nvSpPr>
          <p:cNvPr id="5" name="Text 2"/>
          <p:cNvSpPr/>
          <p:nvPr/>
        </p:nvSpPr>
        <p:spPr>
          <a:xfrm>
            <a:off x="0" y="2724912"/>
            <a:ext cx="12191695" cy="365760"/>
          </a:xfrm>
          <a:prstGeom prst="rect">
            <a:avLst/>
          </a:prstGeom>
          <a:noFill/>
          <a:ln/>
        </p:spPr>
        <p:txBody>
          <a:bodyPr wrap="square" lIns="0" tIns="0" rIns="0" bIns="0" rtlCol="0" anchor="ctr"/>
          <a:lstStyle/>
          <a:p>
            <a:pPr algn="ctr" indent="0" marL="0">
              <a:buNone/>
            </a:pPr>
            <a:r>
              <a:rPr lang="en-US" sz="1600" i="1" dirty="0">
                <a:solidFill>
                  <a:srgbClr val="8A7A6B"/>
                </a:solidFill>
                <a:latin typeface="Georgia" pitchFamily="34" charset="0"/>
                <a:ea typeface="Georgia" pitchFamily="34" charset="-122"/>
                <a:cs typeface="Georgia" pitchFamily="34" charset="-120"/>
              </a:rPr>
              <a:t>ezer kenegdò</a:t>
            </a:r>
            <a:endParaRPr lang="en-US" sz="1600" dirty="0"/>
          </a:p>
        </p:txBody>
      </p:sp>
      <p:sp>
        <p:nvSpPr>
          <p:cNvPr id="6" name="Shape 3"/>
          <p:cNvSpPr/>
          <p:nvPr/>
        </p:nvSpPr>
        <p:spPr>
          <a:xfrm>
            <a:off x="548640" y="3291840"/>
            <a:ext cx="5349240" cy="2057400"/>
          </a:xfrm>
          <a:prstGeom prst="rect">
            <a:avLst/>
          </a:prstGeom>
          <a:solidFill>
            <a:srgbClr val="F5EEE4"/>
          </a:solidFill>
          <a:ln/>
          <a:effectLst>
            <a:outerShdw sx="100000" sy="100000" kx="0" ky="0" algn="bl" rotWithShape="0" blurRad="127000" dist="25400" dir="5400000">
              <a:srgbClr val="000000">
                <a:alpha val="10000"/>
              </a:srgbClr>
            </a:outerShdw>
          </a:effectLst>
        </p:spPr>
      </p:sp>
      <p:sp>
        <p:nvSpPr>
          <p:cNvPr id="7" name="Text 4"/>
          <p:cNvSpPr/>
          <p:nvPr/>
        </p:nvSpPr>
        <p:spPr>
          <a:xfrm>
            <a:off x="868680" y="3493008"/>
            <a:ext cx="4572000" cy="320040"/>
          </a:xfrm>
          <a:prstGeom prst="rect">
            <a:avLst/>
          </a:prstGeom>
          <a:noFill/>
          <a:ln/>
        </p:spPr>
        <p:txBody>
          <a:bodyPr wrap="square" lIns="0" tIns="0" rIns="0" bIns="0" rtlCol="0" anchor="ctr"/>
          <a:lstStyle/>
          <a:p>
            <a:pPr indent="0" marL="0">
              <a:buNone/>
            </a:pPr>
            <a:r>
              <a:rPr lang="en-US" sz="1200" b="1" spc="150" kern="0" dirty="0">
                <a:solidFill>
                  <a:srgbClr val="B0492B"/>
                </a:solidFill>
                <a:latin typeface="Calibri" pitchFamily="34" charset="0"/>
                <a:ea typeface="Calibri" pitchFamily="34" charset="-122"/>
                <a:cs typeface="Calibri" pitchFamily="34" charset="-120"/>
              </a:rPr>
              <a:t>EZER  ·  «AIUTO»</a:t>
            </a:r>
            <a:endParaRPr lang="en-US" sz="1200" dirty="0"/>
          </a:p>
        </p:txBody>
      </p:sp>
      <p:sp>
        <p:nvSpPr>
          <p:cNvPr id="8" name="Text 5"/>
          <p:cNvSpPr/>
          <p:nvPr/>
        </p:nvSpPr>
        <p:spPr>
          <a:xfrm>
            <a:off x="868680" y="3794760"/>
            <a:ext cx="4709160" cy="457200"/>
          </a:xfrm>
          <a:prstGeom prst="rect">
            <a:avLst/>
          </a:prstGeom>
          <a:noFill/>
          <a:ln/>
        </p:spPr>
        <p:txBody>
          <a:bodyPr wrap="square" lIns="0" tIns="0" rIns="0" bIns="0" rtlCol="0" anchor="ctr"/>
          <a:lstStyle/>
          <a:p>
            <a:pPr indent="0" marL="0">
              <a:buNone/>
            </a:pPr>
            <a:r>
              <a:rPr lang="en-US" sz="1800" b="1" dirty="0">
                <a:solidFill>
                  <a:srgbClr val="2B2118"/>
                </a:solidFill>
                <a:latin typeface="Georgia" pitchFamily="34" charset="0"/>
                <a:ea typeface="Georgia" pitchFamily="34" charset="-122"/>
                <a:cs typeface="Georgia" pitchFamily="34" charset="-120"/>
              </a:rPr>
              <a:t>Non vuol dire «inferiore»</a:t>
            </a:r>
            <a:endParaRPr lang="en-US" sz="1800" dirty="0"/>
          </a:p>
        </p:txBody>
      </p:sp>
      <p:sp>
        <p:nvSpPr>
          <p:cNvPr id="9" name="Text 6"/>
          <p:cNvSpPr/>
          <p:nvPr/>
        </p:nvSpPr>
        <p:spPr>
          <a:xfrm>
            <a:off x="868680" y="4279392"/>
            <a:ext cx="4754880" cy="960120"/>
          </a:xfrm>
          <a:prstGeom prst="rect">
            <a:avLst/>
          </a:prstGeom>
          <a:noFill/>
          <a:ln/>
        </p:spPr>
        <p:txBody>
          <a:bodyPr wrap="square" lIns="0" tIns="0" rIns="0" bIns="0" rtlCol="0" anchor="t"/>
          <a:lstStyle/>
          <a:p>
            <a:pPr indent="0" marL="0">
              <a:lnSpc>
                <a:spcPct val="110000"/>
              </a:lnSpc>
              <a:buNone/>
            </a:pPr>
            <a:endParaRPr lang="en-US" sz="1350" dirty="0"/>
          </a:p>
        </p:txBody>
      </p:sp>
      <p:sp>
        <p:nvSpPr>
          <p:cNvPr id="10" name="Text 7"/>
          <p:cNvSpPr/>
          <p:nvPr/>
        </p:nvSpPr>
        <p:spPr>
          <a:xfrm>
            <a:off x="868680" y="4279392"/>
            <a:ext cx="4754880" cy="1005840"/>
          </a:xfrm>
          <a:prstGeom prst="rect">
            <a:avLst/>
          </a:prstGeom>
          <a:noFill/>
          <a:ln/>
        </p:spPr>
        <p:txBody>
          <a:bodyPr wrap="square" lIns="0" tIns="0" rIns="0" bIns="0" rtlCol="0" anchor="t"/>
          <a:lstStyle/>
          <a:p>
            <a:pPr indent="0" marL="0">
              <a:lnSpc>
                <a:spcPct val="110000"/>
              </a:lnSpc>
              <a:buNone/>
            </a:pPr>
            <a:r>
              <a:rPr lang="en-US" sz="1350" dirty="0">
                <a:solidFill>
                  <a:srgbClr val="2B2118"/>
                </a:solidFill>
                <a:latin typeface="Calibri" pitchFamily="34" charset="0"/>
                <a:ea typeface="Calibri" pitchFamily="34" charset="-122"/>
                <a:cs typeface="Calibri" pitchFamily="34" charset="-120"/>
              </a:rPr>
              <a:t>È la stessa parola usata per </a:t>
            </a:r>
            <a:pPr indent="0" marL="0">
              <a:lnSpc>
                <a:spcPct val="110000"/>
              </a:lnSpc>
              <a:buNone/>
            </a:pPr>
            <a:r>
              <a:rPr lang="en-US" sz="1350" b="1" dirty="0">
                <a:solidFill>
                  <a:srgbClr val="8A3620"/>
                </a:solidFill>
                <a:latin typeface="Calibri" pitchFamily="34" charset="0"/>
                <a:ea typeface="Calibri" pitchFamily="34" charset="-122"/>
                <a:cs typeface="Calibri" pitchFamily="34" charset="-120"/>
              </a:rPr>
              <a:t>Dio</a:t>
            </a:r>
            <a:pPr indent="0" marL="0">
              <a:lnSpc>
                <a:spcPct val="110000"/>
              </a:lnSpc>
              <a:buNone/>
            </a:pPr>
            <a:r>
              <a:rPr lang="en-US" sz="1350" dirty="0">
                <a:solidFill>
                  <a:srgbClr val="2B2118"/>
                </a:solidFill>
                <a:latin typeface="Calibri" pitchFamily="34" charset="0"/>
                <a:ea typeface="Calibri" pitchFamily="34" charset="-122"/>
                <a:cs typeface="Calibri" pitchFamily="34" charset="-120"/>
              </a:rPr>
              <a:t>, «aiuto» di Israele (cfr. Sal 121). Un aiuto può venire anche da un pari o da un superiore.</a:t>
            </a:r>
            <a:endParaRPr lang="en-US" sz="1350" dirty="0"/>
          </a:p>
        </p:txBody>
      </p:sp>
      <p:sp>
        <p:nvSpPr>
          <p:cNvPr id="11" name="Shape 8"/>
          <p:cNvSpPr/>
          <p:nvPr/>
        </p:nvSpPr>
        <p:spPr>
          <a:xfrm>
            <a:off x="6263640" y="3291840"/>
            <a:ext cx="5349240" cy="2057400"/>
          </a:xfrm>
          <a:prstGeom prst="rect">
            <a:avLst/>
          </a:prstGeom>
          <a:solidFill>
            <a:srgbClr val="F5EEE4"/>
          </a:solidFill>
          <a:ln/>
          <a:effectLst>
            <a:outerShdw sx="100000" sy="100000" kx="0" ky="0" algn="bl" rotWithShape="0" blurRad="127000" dist="25400" dir="5400000">
              <a:srgbClr val="000000">
                <a:alpha val="10000"/>
              </a:srgbClr>
            </a:outerShdw>
          </a:effectLst>
        </p:spPr>
      </p:sp>
      <p:sp>
        <p:nvSpPr>
          <p:cNvPr id="12" name="Text 9"/>
          <p:cNvSpPr/>
          <p:nvPr/>
        </p:nvSpPr>
        <p:spPr>
          <a:xfrm>
            <a:off x="6583680" y="3493008"/>
            <a:ext cx="4572000" cy="320040"/>
          </a:xfrm>
          <a:prstGeom prst="rect">
            <a:avLst/>
          </a:prstGeom>
          <a:noFill/>
          <a:ln/>
        </p:spPr>
        <p:txBody>
          <a:bodyPr wrap="square" lIns="0" tIns="0" rIns="0" bIns="0" rtlCol="0" anchor="ctr"/>
          <a:lstStyle/>
          <a:p>
            <a:pPr indent="0" marL="0">
              <a:buNone/>
            </a:pPr>
            <a:r>
              <a:rPr lang="en-US" sz="1200" b="1" spc="150" kern="0" dirty="0">
                <a:solidFill>
                  <a:srgbClr val="B0492B"/>
                </a:solidFill>
                <a:latin typeface="Calibri" pitchFamily="34" charset="0"/>
                <a:ea typeface="Calibri" pitchFamily="34" charset="-122"/>
                <a:cs typeface="Calibri" pitchFamily="34" charset="-120"/>
              </a:rPr>
              <a:t>KENEGDÒ  ·  «DI FRONTE»</a:t>
            </a:r>
            <a:endParaRPr lang="en-US" sz="1200" dirty="0"/>
          </a:p>
        </p:txBody>
      </p:sp>
      <p:sp>
        <p:nvSpPr>
          <p:cNvPr id="13" name="Text 10"/>
          <p:cNvSpPr/>
          <p:nvPr/>
        </p:nvSpPr>
        <p:spPr>
          <a:xfrm>
            <a:off x="6583680" y="3794760"/>
            <a:ext cx="4709160" cy="457200"/>
          </a:xfrm>
          <a:prstGeom prst="rect">
            <a:avLst/>
          </a:prstGeom>
          <a:noFill/>
          <a:ln/>
        </p:spPr>
        <p:txBody>
          <a:bodyPr wrap="square" lIns="0" tIns="0" rIns="0" bIns="0" rtlCol="0" anchor="ctr"/>
          <a:lstStyle/>
          <a:p>
            <a:pPr indent="0" marL="0">
              <a:buNone/>
            </a:pPr>
            <a:r>
              <a:rPr lang="en-US" sz="1800" b="1" dirty="0">
                <a:solidFill>
                  <a:srgbClr val="2B2118"/>
                </a:solidFill>
                <a:latin typeface="Georgia" pitchFamily="34" charset="0"/>
                <a:ea typeface="Georgia" pitchFamily="34" charset="-122"/>
                <a:cs typeface="Georgia" pitchFamily="34" charset="-120"/>
              </a:rPr>
              <a:t>Come uno che gli sta davanti</a:t>
            </a:r>
            <a:endParaRPr lang="en-US" sz="1800" dirty="0"/>
          </a:p>
        </p:txBody>
      </p:sp>
      <p:sp>
        <p:nvSpPr>
          <p:cNvPr id="14" name="Text 11"/>
          <p:cNvSpPr/>
          <p:nvPr/>
        </p:nvSpPr>
        <p:spPr>
          <a:xfrm>
            <a:off x="6583680" y="4279392"/>
            <a:ext cx="4754880" cy="960120"/>
          </a:xfrm>
          <a:prstGeom prst="rect">
            <a:avLst/>
          </a:prstGeom>
          <a:noFill/>
          <a:ln/>
        </p:spPr>
        <p:txBody>
          <a:bodyPr wrap="square" lIns="0" tIns="0" rIns="0" bIns="0" rtlCol="0" anchor="t"/>
          <a:lstStyle/>
          <a:p>
            <a:pPr indent="0" marL="0">
              <a:lnSpc>
                <a:spcPct val="110000"/>
              </a:lnSpc>
              <a:buNone/>
            </a:pPr>
            <a:endParaRPr lang="en-US" sz="1350" dirty="0"/>
          </a:p>
        </p:txBody>
      </p:sp>
      <p:sp>
        <p:nvSpPr>
          <p:cNvPr id="15" name="Text 12"/>
          <p:cNvSpPr/>
          <p:nvPr/>
        </p:nvSpPr>
        <p:spPr>
          <a:xfrm>
            <a:off x="6583680" y="4279392"/>
            <a:ext cx="4754880" cy="1005840"/>
          </a:xfrm>
          <a:prstGeom prst="rect">
            <a:avLst/>
          </a:prstGeom>
          <a:noFill/>
          <a:ln/>
        </p:spPr>
        <p:txBody>
          <a:bodyPr wrap="square" lIns="0" tIns="0" rIns="0" bIns="0" rtlCol="0" anchor="t"/>
          <a:lstStyle/>
          <a:p>
            <a:pPr indent="0" marL="0">
              <a:lnSpc>
                <a:spcPct val="110000"/>
              </a:lnSpc>
              <a:buNone/>
            </a:pPr>
            <a:r>
              <a:rPr lang="en-US" sz="1350" dirty="0">
                <a:solidFill>
                  <a:srgbClr val="2B2118"/>
                </a:solidFill>
                <a:latin typeface="Calibri" pitchFamily="34" charset="0"/>
                <a:ea typeface="Calibri" pitchFamily="34" charset="-122"/>
                <a:cs typeface="Calibri" pitchFamily="34" charset="-120"/>
              </a:rPr>
              <a:t>Un partner che lo guarda </a:t>
            </a:r>
            <a:pPr indent="0" marL="0">
              <a:lnSpc>
                <a:spcPct val="110000"/>
              </a:lnSpc>
              <a:buNone/>
            </a:pPr>
            <a:r>
              <a:rPr lang="en-US" sz="1350" b="1" dirty="0">
                <a:solidFill>
                  <a:srgbClr val="8A3620"/>
                </a:solidFill>
                <a:latin typeface="Calibri" pitchFamily="34" charset="0"/>
                <a:ea typeface="Calibri" pitchFamily="34" charset="-122"/>
                <a:cs typeface="Calibri" pitchFamily="34" charset="-120"/>
              </a:rPr>
              <a:t>faccia a faccia</a:t>
            </a:r>
            <a:pPr indent="0" marL="0">
              <a:lnSpc>
                <a:spcPct val="110000"/>
              </a:lnSpc>
              <a:buNone/>
            </a:pPr>
            <a:r>
              <a:rPr lang="en-US" sz="1350" dirty="0">
                <a:solidFill>
                  <a:srgbClr val="2B2118"/>
                </a:solidFill>
                <a:latin typeface="Calibri" pitchFamily="34" charset="0"/>
                <a:ea typeface="Calibri" pitchFamily="34" charset="-122"/>
                <a:cs typeface="Calibri" pitchFamily="34" charset="-120"/>
              </a:rPr>
              <a:t>: corrispondenza e reciprocità, non sottomissione.</a:t>
            </a:r>
            <a:endParaRPr lang="en-US" sz="1350" dirty="0"/>
          </a:p>
        </p:txBody>
      </p:sp>
      <p:sp>
        <p:nvSpPr>
          <p:cNvPr id="16" name="Shape 13"/>
          <p:cNvSpPr/>
          <p:nvPr/>
        </p:nvSpPr>
        <p:spPr>
          <a:xfrm>
            <a:off x="548640" y="5623560"/>
            <a:ext cx="11064240" cy="548640"/>
          </a:xfrm>
          <a:prstGeom prst="rect">
            <a:avLst/>
          </a:prstGeom>
          <a:solidFill>
            <a:srgbClr val="B0492B"/>
          </a:solidFill>
          <a:ln/>
        </p:spPr>
      </p:sp>
      <p:sp>
        <p:nvSpPr>
          <p:cNvPr id="17" name="Text 14"/>
          <p:cNvSpPr/>
          <p:nvPr/>
        </p:nvSpPr>
        <p:spPr>
          <a:xfrm>
            <a:off x="548640" y="5623560"/>
            <a:ext cx="11064240" cy="548640"/>
          </a:xfrm>
          <a:prstGeom prst="rect">
            <a:avLst/>
          </a:prstGeom>
          <a:noFill/>
          <a:ln/>
        </p:spPr>
        <p:txBody>
          <a:bodyPr wrap="square" lIns="0" tIns="0" rIns="0" bIns="0" rtlCol="0" anchor="ctr"/>
          <a:lstStyle/>
          <a:p>
            <a:pPr algn="ctr" indent="0" marL="0">
              <a:buNone/>
            </a:pPr>
            <a:r>
              <a:rPr lang="en-US" sz="1600" dirty="0">
                <a:solidFill>
                  <a:srgbClr val="FFFFFF"/>
                </a:solidFill>
                <a:latin typeface="Georgia" pitchFamily="34" charset="0"/>
                <a:ea typeface="Georgia" pitchFamily="34" charset="-122"/>
                <a:cs typeface="Georgia" pitchFamily="34" charset="-120"/>
              </a:rPr>
              <a:t>Traduzione più fedele:  </a:t>
            </a:r>
            <a:pPr algn="ctr" indent="0" marL="0">
              <a:buNone/>
            </a:pPr>
            <a:r>
              <a:rPr lang="en-US" sz="1600" b="1" i="1" dirty="0">
                <a:solidFill>
                  <a:srgbClr val="FFFFFF"/>
                </a:solidFill>
                <a:latin typeface="Georgia" pitchFamily="34" charset="0"/>
                <a:ea typeface="Georgia" pitchFamily="34" charset="-122"/>
                <a:cs typeface="Georgia" pitchFamily="34" charset="-120"/>
              </a:rPr>
              <a:t>«un aiuto che gli sta di fronte come un pari».</a:t>
            </a:r>
            <a:endParaRPr lang="en-US" sz="1600" dirty="0"/>
          </a:p>
        </p:txBody>
      </p:sp>
      <p:sp>
        <p:nvSpPr>
          <p:cNvPr id="18" name="Text 15"/>
          <p:cNvSpPr/>
          <p:nvPr/>
        </p:nvSpPr>
        <p:spPr>
          <a:xfrm>
            <a:off x="502920" y="6437376"/>
            <a:ext cx="4572000" cy="274320"/>
          </a:xfrm>
          <a:prstGeom prst="rect">
            <a:avLst/>
          </a:prstGeom>
          <a:noFill/>
          <a:ln/>
        </p:spPr>
        <p:txBody>
          <a:bodyPr wrap="square" lIns="0" tIns="0" rIns="0" bIns="0" rtlCol="0" anchor="ctr"/>
          <a:lstStyle/>
          <a:p>
            <a:pPr algn="l" indent="0" marL="0">
              <a:buNone/>
            </a:pPr>
            <a:r>
              <a:rPr lang="en-US" sz="900" dirty="0">
                <a:solidFill>
                  <a:srgbClr val="8A7A6B"/>
                </a:solidFill>
                <a:latin typeface="Calibri" pitchFamily="34" charset="0"/>
                <a:ea typeface="Calibri" pitchFamily="34" charset="-122"/>
                <a:cs typeface="Calibri" pitchFamily="34" charset="-120"/>
              </a:rPr>
              <a:t>IRC · Liceo Scientifico</a:t>
            </a:r>
            <a:endParaRPr lang="en-US" sz="900" dirty="0"/>
          </a:p>
        </p:txBody>
      </p:sp>
      <p:sp>
        <p:nvSpPr>
          <p:cNvPr id="19" name="Text 16"/>
          <p:cNvSpPr/>
          <p:nvPr/>
        </p:nvSpPr>
        <p:spPr>
          <a:xfrm>
            <a:off x="7116775" y="6437376"/>
            <a:ext cx="4572000" cy="274320"/>
          </a:xfrm>
          <a:prstGeom prst="rect">
            <a:avLst/>
          </a:prstGeom>
          <a:noFill/>
          <a:ln/>
        </p:spPr>
        <p:txBody>
          <a:bodyPr wrap="square" lIns="0" tIns="0" rIns="0" bIns="0" rtlCol="0" anchor="ctr"/>
          <a:lstStyle/>
          <a:p>
            <a:pPr algn="r" indent="0" marL="0">
              <a:buNone/>
            </a:pPr>
            <a:r>
              <a:rPr lang="en-US" sz="900" dirty="0">
                <a:solidFill>
                  <a:srgbClr val="8A7A6B"/>
                </a:solidFill>
                <a:latin typeface="Calibri" pitchFamily="34" charset="0"/>
                <a:ea typeface="Calibri" pitchFamily="34" charset="-122"/>
                <a:cs typeface="Calibri" pitchFamily="34" charset="-120"/>
              </a:rPr>
              <a:t>Ezer kenegdo   ·   </a:t>
            </a:r>
            <a:pPr algn="r" indent="0" marL="0">
              <a:buNone/>
            </a:pPr>
            <a:r>
              <a:rPr lang="en-US" sz="900" b="1" dirty="0">
                <a:solidFill>
                  <a:srgbClr val="B0492B"/>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lIns="0" tIns="0" rIns="0" bIns="0" rtlCol="0" anchor="ctr"/>
          <a:lstStyle/>
          <a:p>
            <a:pPr algn="l" indent="0" marL="0">
              <a:buNone/>
            </a:pPr>
            <a:r>
              <a:rPr lang="en-US" sz="1150" b="1" spc="300" kern="0" dirty="0">
                <a:solidFill>
                  <a:srgbClr val="B0492B"/>
                </a:solidFill>
                <a:latin typeface="Calibri" pitchFamily="34" charset="0"/>
                <a:ea typeface="Calibri" pitchFamily="34" charset="-122"/>
                <a:cs typeface="Calibri" pitchFamily="34" charset="-120"/>
              </a:rPr>
              <a:t>LA PAROLA · 3</a:t>
            </a:r>
            <a:endParaRPr lang="en-US" sz="1150" dirty="0"/>
          </a:p>
        </p:txBody>
      </p:sp>
      <p:sp>
        <p:nvSpPr>
          <p:cNvPr id="3" name="Text 1"/>
          <p:cNvSpPr/>
          <p:nvPr/>
        </p:nvSpPr>
        <p:spPr>
          <a:xfrm>
            <a:off x="502920" y="777240"/>
            <a:ext cx="10972800" cy="640080"/>
          </a:xfrm>
          <a:prstGeom prst="rect">
            <a:avLst/>
          </a:prstGeom>
          <a:noFill/>
          <a:ln/>
        </p:spPr>
        <p:txBody>
          <a:bodyPr wrap="square" lIns="0" tIns="0" rIns="0" bIns="0" rtlCol="0" anchor="ctr"/>
          <a:lstStyle/>
          <a:p>
            <a:pPr indent="0" marL="0">
              <a:buNone/>
            </a:pPr>
            <a:r>
              <a:rPr lang="en-US" sz="3000" b="1" dirty="0">
                <a:solidFill>
                  <a:srgbClr val="2B2118"/>
                </a:solidFill>
                <a:latin typeface="Georgia" pitchFamily="34" charset="0"/>
                <a:ea typeface="Georgia" pitchFamily="34" charset="-122"/>
                <a:cs typeface="Georgia" pitchFamily="34" charset="-120"/>
              </a:rPr>
              <a:t>Il «sonno» e la costola: tzela</a:t>
            </a:r>
            <a:endParaRPr lang="en-US" sz="3000" dirty="0"/>
          </a:p>
        </p:txBody>
      </p:sp>
      <p:pic>
        <p:nvPicPr>
          <p:cNvPr id="4" name="Image 0" descr="assets/tzela_terra.png">    </p:cNvPr>
          <p:cNvPicPr>
            <a:picLocks noChangeAspect="1"/>
          </p:cNvPicPr>
          <p:nvPr/>
        </p:nvPicPr>
        <p:blipFill>
          <a:blip r:embed="rId1"/>
          <a:stretch>
            <a:fillRect/>
          </a:stretch>
        </p:blipFill>
        <p:spPr>
          <a:xfrm>
            <a:off x="1443882" y="1783080"/>
            <a:ext cx="1775676" cy="1417320"/>
          </a:xfrm>
          <a:prstGeom prst="rect">
            <a:avLst/>
          </a:prstGeom>
        </p:spPr>
      </p:pic>
      <p:sp>
        <p:nvSpPr>
          <p:cNvPr id="5" name="Text 2"/>
          <p:cNvSpPr/>
          <p:nvPr/>
        </p:nvSpPr>
        <p:spPr>
          <a:xfrm>
            <a:off x="548640" y="3291840"/>
            <a:ext cx="3566160" cy="365760"/>
          </a:xfrm>
          <a:prstGeom prst="rect">
            <a:avLst/>
          </a:prstGeom>
          <a:noFill/>
          <a:ln/>
        </p:spPr>
        <p:txBody>
          <a:bodyPr wrap="square" lIns="0" tIns="0" rIns="0" bIns="0" rtlCol="0" anchor="ctr"/>
          <a:lstStyle/>
          <a:p>
            <a:pPr algn="ctr" indent="0" marL="0">
              <a:buNone/>
            </a:pPr>
            <a:r>
              <a:rPr lang="en-US" sz="2000" b="1" i="1" dirty="0">
                <a:solidFill>
                  <a:srgbClr val="B0492B"/>
                </a:solidFill>
                <a:latin typeface="Georgia" pitchFamily="34" charset="0"/>
                <a:ea typeface="Georgia" pitchFamily="34" charset="-122"/>
                <a:cs typeface="Georgia" pitchFamily="34" charset="-120"/>
              </a:rPr>
              <a:t>tzelà</a:t>
            </a:r>
            <a:endParaRPr lang="en-US" sz="2000" dirty="0"/>
          </a:p>
        </p:txBody>
      </p:sp>
      <p:sp>
        <p:nvSpPr>
          <p:cNvPr id="6" name="Text 3"/>
          <p:cNvSpPr/>
          <p:nvPr/>
        </p:nvSpPr>
        <p:spPr>
          <a:xfrm>
            <a:off x="4480560" y="1783080"/>
            <a:ext cx="7132320" cy="1051560"/>
          </a:xfrm>
          <a:prstGeom prst="rect">
            <a:avLst/>
          </a:prstGeom>
          <a:noFill/>
          <a:ln/>
        </p:spPr>
        <p:txBody>
          <a:bodyPr wrap="square" lIns="0" tIns="0" rIns="0" bIns="0" rtlCol="0" anchor="t"/>
          <a:lstStyle/>
          <a:p>
            <a:pPr indent="0" marL="0">
              <a:lnSpc>
                <a:spcPct val="112000"/>
              </a:lnSpc>
              <a:buNone/>
            </a:pPr>
            <a:r>
              <a:rPr lang="en-US" sz="1450" b="1" i="1" dirty="0">
                <a:solidFill>
                  <a:srgbClr val="8A3620"/>
                </a:solidFill>
                <a:latin typeface="Calibri" pitchFamily="34" charset="0"/>
                <a:ea typeface="Calibri" pitchFamily="34" charset="-122"/>
                <a:cs typeface="Calibri" pitchFamily="34" charset="-120"/>
              </a:rPr>
              <a:t>tardemàh</a:t>
            </a:r>
            <a:pPr indent="0" marL="0">
              <a:lnSpc>
                <a:spcPct val="112000"/>
              </a:lnSpc>
              <a:buNone/>
            </a:pPr>
            <a:r>
              <a:rPr lang="en-US" sz="1450" dirty="0">
                <a:solidFill>
                  <a:srgbClr val="2B2118"/>
                </a:solidFill>
                <a:latin typeface="Calibri" pitchFamily="34" charset="0"/>
                <a:ea typeface="Calibri" pitchFamily="34" charset="-122"/>
                <a:cs typeface="Calibri" pitchFamily="34" charset="-120"/>
              </a:rPr>
              <a:t>  —  non un sonnellino, ma un «sonno profondo» mandato da Dio: la creazione della donna è un mistero, sottratto al controllo dell'uomo.</a:t>
            </a:r>
            <a:endParaRPr lang="en-US" sz="1450" dirty="0"/>
          </a:p>
        </p:txBody>
      </p:sp>
      <p:sp>
        <p:nvSpPr>
          <p:cNvPr id="7" name="Text 4"/>
          <p:cNvSpPr/>
          <p:nvPr/>
        </p:nvSpPr>
        <p:spPr>
          <a:xfrm>
            <a:off x="4480560" y="2926080"/>
            <a:ext cx="7132320" cy="1051560"/>
          </a:xfrm>
          <a:prstGeom prst="rect">
            <a:avLst/>
          </a:prstGeom>
          <a:noFill/>
          <a:ln/>
        </p:spPr>
        <p:txBody>
          <a:bodyPr wrap="square" lIns="0" tIns="0" rIns="0" bIns="0" rtlCol="0" anchor="t"/>
          <a:lstStyle/>
          <a:p>
            <a:pPr indent="0" marL="0">
              <a:lnSpc>
                <a:spcPct val="112000"/>
              </a:lnSpc>
              <a:buNone/>
            </a:pPr>
            <a:r>
              <a:rPr lang="en-US" sz="1450" b="1" i="1" dirty="0">
                <a:solidFill>
                  <a:srgbClr val="8A3620"/>
                </a:solidFill>
                <a:latin typeface="Calibri" pitchFamily="34" charset="0"/>
                <a:ea typeface="Calibri" pitchFamily="34" charset="-122"/>
                <a:cs typeface="Calibri" pitchFamily="34" charset="-120"/>
              </a:rPr>
              <a:t>tzelà</a:t>
            </a:r>
            <a:pPr indent="0" marL="0">
              <a:lnSpc>
                <a:spcPct val="112000"/>
              </a:lnSpc>
              <a:buNone/>
            </a:pPr>
            <a:r>
              <a:rPr lang="en-US" sz="1450" dirty="0">
                <a:solidFill>
                  <a:srgbClr val="2B2118"/>
                </a:solidFill>
                <a:latin typeface="Calibri" pitchFamily="34" charset="0"/>
                <a:ea typeface="Calibri" pitchFamily="34" charset="-122"/>
                <a:cs typeface="Calibri" pitchFamily="34" charset="-120"/>
              </a:rPr>
              <a:t>  —  tradotto «costola», ma in ebraico significa anche </a:t>
            </a:r>
            <a:pPr indent="0" marL="0">
              <a:lnSpc>
                <a:spcPct val="112000"/>
              </a:lnSpc>
              <a:buNone/>
            </a:pPr>
            <a:r>
              <a:rPr lang="en-US" sz="1450" b="1" dirty="0">
                <a:solidFill>
                  <a:srgbClr val="2B2118"/>
                </a:solidFill>
                <a:latin typeface="Calibri" pitchFamily="34" charset="0"/>
                <a:ea typeface="Calibri" pitchFamily="34" charset="-122"/>
                <a:cs typeface="Calibri" pitchFamily="34" charset="-120"/>
              </a:rPr>
              <a:t>«fianco / lato»</a:t>
            </a:r>
            <a:pPr indent="0" marL="0">
              <a:lnSpc>
                <a:spcPct val="112000"/>
              </a:lnSpc>
              <a:buNone/>
            </a:pPr>
            <a:r>
              <a:rPr lang="en-US" sz="1450" dirty="0">
                <a:solidFill>
                  <a:srgbClr val="2B2118"/>
                </a:solidFill>
                <a:latin typeface="Calibri" pitchFamily="34" charset="0"/>
                <a:ea typeface="Calibri" pitchFamily="34" charset="-122"/>
                <a:cs typeface="Calibri" pitchFamily="34" charset="-120"/>
              </a:rPr>
              <a:t> (il lato dell'arca, il lato di un edificio).</a:t>
            </a:r>
            <a:endParaRPr lang="en-US" sz="1450" dirty="0"/>
          </a:p>
        </p:txBody>
      </p:sp>
      <p:sp>
        <p:nvSpPr>
          <p:cNvPr id="8" name="Shape 5"/>
          <p:cNvSpPr/>
          <p:nvPr/>
        </p:nvSpPr>
        <p:spPr>
          <a:xfrm>
            <a:off x="4480560" y="4069080"/>
            <a:ext cx="7132320" cy="868680"/>
          </a:xfrm>
          <a:prstGeom prst="rect">
            <a:avLst/>
          </a:prstGeom>
          <a:solidFill>
            <a:srgbClr val="F5EEE4"/>
          </a:solidFill>
          <a:ln/>
        </p:spPr>
      </p:sp>
      <p:sp>
        <p:nvSpPr>
          <p:cNvPr id="9" name="Shape 6"/>
          <p:cNvSpPr/>
          <p:nvPr/>
        </p:nvSpPr>
        <p:spPr>
          <a:xfrm>
            <a:off x="4480560" y="4069080"/>
            <a:ext cx="73152" cy="868680"/>
          </a:xfrm>
          <a:prstGeom prst="rect">
            <a:avLst/>
          </a:prstGeom>
          <a:solidFill>
            <a:srgbClr val="B0492B"/>
          </a:solidFill>
          <a:ln/>
        </p:spPr>
      </p:sp>
      <p:sp>
        <p:nvSpPr>
          <p:cNvPr id="10" name="Text 7"/>
          <p:cNvSpPr/>
          <p:nvPr/>
        </p:nvSpPr>
        <p:spPr>
          <a:xfrm>
            <a:off x="4754880" y="4069080"/>
            <a:ext cx="6720840" cy="868680"/>
          </a:xfrm>
          <a:prstGeom prst="rect">
            <a:avLst/>
          </a:prstGeom>
          <a:noFill/>
          <a:ln/>
        </p:spPr>
        <p:txBody>
          <a:bodyPr wrap="square" lIns="0" tIns="0" rIns="0" bIns="0" rtlCol="0" anchor="ctr"/>
          <a:lstStyle/>
          <a:p>
            <a:pPr indent="0" marL="0">
              <a:lnSpc>
                <a:spcPct val="108000"/>
              </a:lnSpc>
              <a:buNone/>
            </a:pPr>
            <a:r>
              <a:rPr lang="en-US" sz="1350" b="1" dirty="0">
                <a:solidFill>
                  <a:srgbClr val="2B2118"/>
                </a:solidFill>
                <a:latin typeface="Calibri" pitchFamily="34" charset="0"/>
                <a:ea typeface="Calibri" pitchFamily="34" charset="-122"/>
                <a:cs typeface="Calibri" pitchFamily="34" charset="-120"/>
              </a:rPr>
              <a:t>Il senso: </a:t>
            </a:r>
            <a:pPr indent="0" marL="0">
              <a:lnSpc>
                <a:spcPct val="108000"/>
              </a:lnSpc>
              <a:buNone/>
            </a:pPr>
            <a:r>
              <a:rPr lang="en-US" sz="1350" dirty="0">
                <a:solidFill>
                  <a:srgbClr val="2B2118"/>
                </a:solidFill>
                <a:latin typeface="Calibri" pitchFamily="34" charset="0"/>
                <a:ea typeface="Calibri" pitchFamily="34" charset="-122"/>
                <a:cs typeface="Calibri" pitchFamily="34" charset="-120"/>
              </a:rPr>
              <a:t>la donna non è plasmata da un'altra zolla, ma dal fianco stesso dell'adam → stessa sostanza, stessa dignità.</a:t>
            </a:r>
            <a:endParaRPr lang="en-US" sz="1350" dirty="0"/>
          </a:p>
        </p:txBody>
      </p:sp>
      <p:sp>
        <p:nvSpPr>
          <p:cNvPr id="11" name="Shape 8"/>
          <p:cNvSpPr/>
          <p:nvPr/>
        </p:nvSpPr>
        <p:spPr>
          <a:xfrm>
            <a:off x="548640" y="5166360"/>
            <a:ext cx="11064240" cy="1005840"/>
          </a:xfrm>
          <a:prstGeom prst="rect">
            <a:avLst/>
          </a:prstGeom>
          <a:solidFill>
            <a:srgbClr val="33211A"/>
          </a:solidFill>
          <a:ln/>
        </p:spPr>
      </p:sp>
      <p:pic>
        <p:nvPicPr>
          <p:cNvPr id="12" name="Image 1" descr="assets/ic_quote_dim.png">    </p:cNvPr>
          <p:cNvPicPr>
            <a:picLocks noChangeAspect="1"/>
          </p:cNvPicPr>
          <p:nvPr/>
        </p:nvPicPr>
        <p:blipFill>
          <a:blip r:embed="rId2"/>
          <a:stretch>
            <a:fillRect/>
          </a:stretch>
        </p:blipFill>
        <p:spPr>
          <a:xfrm>
            <a:off x="868680" y="5394960"/>
            <a:ext cx="502920" cy="502920"/>
          </a:xfrm>
          <a:prstGeom prst="rect">
            <a:avLst/>
          </a:prstGeom>
        </p:spPr>
      </p:pic>
      <p:sp>
        <p:nvSpPr>
          <p:cNvPr id="13" name="Text 9"/>
          <p:cNvSpPr/>
          <p:nvPr/>
        </p:nvSpPr>
        <p:spPr>
          <a:xfrm>
            <a:off x="1691640" y="5166360"/>
            <a:ext cx="9692640" cy="1005840"/>
          </a:xfrm>
          <a:prstGeom prst="rect">
            <a:avLst/>
          </a:prstGeom>
          <a:noFill/>
          <a:ln/>
        </p:spPr>
        <p:txBody>
          <a:bodyPr wrap="square" lIns="0" tIns="0" rIns="0" bIns="0" rtlCol="0" anchor="ctr"/>
          <a:lstStyle/>
          <a:p>
            <a:pPr indent="0" marL="0">
              <a:lnSpc>
                <a:spcPct val="110000"/>
              </a:lnSpc>
              <a:buNone/>
            </a:pPr>
            <a:r>
              <a:rPr lang="en-US" sz="1450" i="1" dirty="0">
                <a:solidFill>
                  <a:srgbClr val="F5EFE8"/>
                </a:solidFill>
                <a:latin typeface="Georgia" pitchFamily="34" charset="0"/>
                <a:ea typeface="Georgia" pitchFamily="34" charset="-122"/>
                <a:cs typeface="Georgia" pitchFamily="34" charset="-120"/>
              </a:rPr>
              <a:t>La tradizione rabbinica commenta: non dalla testa, perché non lo domini; non dai piedi, perché non sia calpestata; ma dal fianco, per starle accanto, vicino al cuore.</a:t>
            </a:r>
            <a:endParaRPr lang="en-US" sz="1450" dirty="0"/>
          </a:p>
        </p:txBody>
      </p:sp>
      <p:sp>
        <p:nvSpPr>
          <p:cNvPr id="14" name="Text 10"/>
          <p:cNvSpPr/>
          <p:nvPr/>
        </p:nvSpPr>
        <p:spPr>
          <a:xfrm>
            <a:off x="502920" y="6437376"/>
            <a:ext cx="4572000" cy="274320"/>
          </a:xfrm>
          <a:prstGeom prst="rect">
            <a:avLst/>
          </a:prstGeom>
          <a:noFill/>
          <a:ln/>
        </p:spPr>
        <p:txBody>
          <a:bodyPr wrap="square" lIns="0" tIns="0" rIns="0" bIns="0" rtlCol="0" anchor="ctr"/>
          <a:lstStyle/>
          <a:p>
            <a:pPr algn="l" indent="0" marL="0">
              <a:buNone/>
            </a:pPr>
            <a:r>
              <a:rPr lang="en-US" sz="900" dirty="0">
                <a:solidFill>
                  <a:srgbClr val="8A7A6B"/>
                </a:solidFill>
                <a:latin typeface="Calibri" pitchFamily="34" charset="0"/>
                <a:ea typeface="Calibri" pitchFamily="34" charset="-122"/>
                <a:cs typeface="Calibri" pitchFamily="34" charset="-120"/>
              </a:rPr>
              <a:t>IRC · Liceo Scientifico</a:t>
            </a:r>
            <a:endParaRPr lang="en-US" sz="900" dirty="0"/>
          </a:p>
        </p:txBody>
      </p:sp>
      <p:sp>
        <p:nvSpPr>
          <p:cNvPr id="15" name="Text 11"/>
          <p:cNvSpPr/>
          <p:nvPr/>
        </p:nvSpPr>
        <p:spPr>
          <a:xfrm>
            <a:off x="7116775" y="6437376"/>
            <a:ext cx="4572000" cy="274320"/>
          </a:xfrm>
          <a:prstGeom prst="rect">
            <a:avLst/>
          </a:prstGeom>
          <a:noFill/>
          <a:ln/>
        </p:spPr>
        <p:txBody>
          <a:bodyPr wrap="square" lIns="0" tIns="0" rIns="0" bIns="0" rtlCol="0" anchor="ctr"/>
          <a:lstStyle/>
          <a:p>
            <a:pPr algn="r" indent="0" marL="0">
              <a:buNone/>
            </a:pPr>
            <a:r>
              <a:rPr lang="en-US" sz="900" dirty="0">
                <a:solidFill>
                  <a:srgbClr val="8A7A6B"/>
                </a:solidFill>
                <a:latin typeface="Calibri" pitchFamily="34" charset="0"/>
                <a:ea typeface="Calibri" pitchFamily="34" charset="-122"/>
                <a:cs typeface="Calibri" pitchFamily="34" charset="-120"/>
              </a:rPr>
              <a:t>Tzela   ·   </a:t>
            </a:r>
            <a:pPr algn="r" indent="0" marL="0">
              <a:buNone/>
            </a:pPr>
            <a:r>
              <a:rPr lang="en-US" sz="900" b="1" dirty="0">
                <a:solidFill>
                  <a:srgbClr val="B0492B"/>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33211A"/>
        </a:solidFill>
      </p:bgPr>
    </p:bg>
    <p:spTree>
      <p:nvGrpSpPr>
        <p:cNvPr id="1" name=""/>
        <p:cNvGrpSpPr/>
        <p:nvPr/>
      </p:nvGrpSpPr>
      <p:grpSpPr>
        <a:xfrm>
          <a:off x="0" y="0"/>
          <a:ext cx="0" cy="0"/>
          <a:chOff x="0" y="0"/>
          <a:chExt cx="0" cy="0"/>
        </a:xfrm>
      </p:grpSpPr>
      <p:sp>
        <p:nvSpPr>
          <p:cNvPr id="2" name="Text 0"/>
          <p:cNvSpPr/>
          <p:nvPr/>
        </p:nvSpPr>
        <p:spPr>
          <a:xfrm>
            <a:off x="548640" y="502920"/>
            <a:ext cx="9144000" cy="274320"/>
          </a:xfrm>
          <a:prstGeom prst="rect">
            <a:avLst/>
          </a:prstGeom>
          <a:noFill/>
          <a:ln/>
        </p:spPr>
        <p:txBody>
          <a:bodyPr wrap="square" lIns="0" tIns="0" rIns="0" bIns="0" rtlCol="0" anchor="ctr"/>
          <a:lstStyle/>
          <a:p>
            <a:pPr algn="l" indent="0" marL="0">
              <a:buNone/>
            </a:pPr>
            <a:r>
              <a:rPr lang="en-US" sz="1150" b="1" spc="300" kern="0" dirty="0">
                <a:solidFill>
                  <a:srgbClr val="D8A24A"/>
                </a:solidFill>
                <a:latin typeface="Calibri" pitchFamily="34" charset="0"/>
                <a:ea typeface="Calibri" pitchFamily="34" charset="-122"/>
                <a:cs typeface="Calibri" pitchFamily="34" charset="-120"/>
              </a:rPr>
              <a:t>IL CUORE DEL RACCONTO · GENESI 2,23</a:t>
            </a:r>
            <a:endParaRPr lang="en-US" sz="1150" dirty="0"/>
          </a:p>
        </p:txBody>
      </p:sp>
      <p:sp>
        <p:nvSpPr>
          <p:cNvPr id="3" name="Text 1"/>
          <p:cNvSpPr/>
          <p:nvPr/>
        </p:nvSpPr>
        <p:spPr>
          <a:xfrm>
            <a:off x="502920" y="786384"/>
            <a:ext cx="10972800" cy="640080"/>
          </a:xfrm>
          <a:prstGeom prst="rect">
            <a:avLst/>
          </a:prstGeom>
          <a:noFill/>
          <a:ln/>
        </p:spPr>
        <p:txBody>
          <a:bodyPr wrap="square" lIns="0" tIns="0" rIns="0" bIns="0" rtlCol="0" anchor="ctr"/>
          <a:lstStyle/>
          <a:p>
            <a:pPr indent="0" marL="0">
              <a:buNone/>
            </a:pPr>
            <a:r>
              <a:rPr lang="en-US" sz="3000" b="1" dirty="0">
                <a:solidFill>
                  <a:srgbClr val="F5EFE8"/>
                </a:solidFill>
                <a:latin typeface="Georgia" pitchFamily="34" charset="0"/>
                <a:ea typeface="Georgia" pitchFamily="34" charset="-122"/>
                <a:cs typeface="Georgia" pitchFamily="34" charset="-120"/>
              </a:rPr>
              <a:t>Ish e Ishà: il riconoscimento</a:t>
            </a:r>
            <a:endParaRPr lang="en-US" sz="3000" dirty="0"/>
          </a:p>
        </p:txBody>
      </p:sp>
      <p:pic>
        <p:nvPicPr>
          <p:cNvPr id="4" name="Image 0" descr="assets/zot_gold.png">    </p:cNvPr>
          <p:cNvPicPr>
            <a:picLocks noChangeAspect="1"/>
          </p:cNvPicPr>
          <p:nvPr/>
        </p:nvPicPr>
        <p:blipFill>
          <a:blip r:embed="rId1"/>
          <a:stretch>
            <a:fillRect/>
          </a:stretch>
        </p:blipFill>
        <p:spPr>
          <a:xfrm>
            <a:off x="1670326" y="1691640"/>
            <a:ext cx="2145749" cy="548640"/>
          </a:xfrm>
          <a:prstGeom prst="rect">
            <a:avLst/>
          </a:prstGeom>
        </p:spPr>
      </p:pic>
      <p:sp>
        <p:nvSpPr>
          <p:cNvPr id="5" name="Text 2"/>
          <p:cNvSpPr/>
          <p:nvPr/>
        </p:nvSpPr>
        <p:spPr>
          <a:xfrm>
            <a:off x="548640" y="2286000"/>
            <a:ext cx="4572000" cy="365760"/>
          </a:xfrm>
          <a:prstGeom prst="rect">
            <a:avLst/>
          </a:prstGeom>
          <a:noFill/>
          <a:ln/>
        </p:spPr>
        <p:txBody>
          <a:bodyPr wrap="square" lIns="0" tIns="0" rIns="0" bIns="0" rtlCol="0" anchor="ctr"/>
          <a:lstStyle/>
          <a:p>
            <a:pPr algn="ctr" indent="0" marL="0">
              <a:buNone/>
            </a:pPr>
            <a:r>
              <a:rPr lang="en-US" sz="1500" i="1" dirty="0">
                <a:solidFill>
                  <a:srgbClr val="C9B5A4"/>
                </a:solidFill>
                <a:latin typeface="Georgia" pitchFamily="34" charset="0"/>
                <a:ea typeface="Georgia" pitchFamily="34" charset="-122"/>
                <a:cs typeface="Georgia" pitchFamily="34" charset="-120"/>
              </a:rPr>
              <a:t>«questa volta…» — finalmente!</a:t>
            </a:r>
            <a:endParaRPr lang="en-US" sz="1500" dirty="0"/>
          </a:p>
        </p:txBody>
      </p:sp>
      <p:sp>
        <p:nvSpPr>
          <p:cNvPr id="6" name="Text 3"/>
          <p:cNvSpPr/>
          <p:nvPr/>
        </p:nvSpPr>
        <p:spPr>
          <a:xfrm>
            <a:off x="548640" y="2834640"/>
            <a:ext cx="5486400" cy="1737360"/>
          </a:xfrm>
          <a:prstGeom prst="rect">
            <a:avLst/>
          </a:prstGeom>
          <a:noFill/>
          <a:ln/>
        </p:spPr>
        <p:txBody>
          <a:bodyPr wrap="square" lIns="0" tIns="0" rIns="0" bIns="0" rtlCol="0" anchor="t"/>
          <a:lstStyle/>
          <a:p>
            <a:pPr indent="0" marL="0">
              <a:lnSpc>
                <a:spcPct val="118000"/>
              </a:lnSpc>
              <a:spcAft>
                <a:spcPts val="400"/>
              </a:spcAft>
              <a:buNone/>
            </a:pPr>
            <a:r>
              <a:rPr lang="en-US" sz="1800" i="1" dirty="0">
                <a:solidFill>
                  <a:srgbClr val="F5EFE8"/>
                </a:solidFill>
                <a:latin typeface="Georgia" pitchFamily="34" charset="0"/>
                <a:ea typeface="Georgia" pitchFamily="34" charset="-122"/>
                <a:cs typeface="Georgia" pitchFamily="34" charset="-120"/>
              </a:rPr>
              <a:t>«Osso dalle mie ossa, carne dalla mia carne!</a:t>
            </a:r>
            <a:endParaRPr lang="en-US" sz="1800" dirty="0"/>
          </a:p>
          <a:p>
            <a:pPr indent="0" marL="0">
              <a:lnSpc>
                <a:spcPct val="118000"/>
              </a:lnSpc>
              <a:buNone/>
            </a:pPr>
            <a:r>
              <a:rPr lang="en-US" sz="1800" i="1" dirty="0">
                <a:solidFill>
                  <a:srgbClr val="F5EFE8"/>
                </a:solidFill>
                <a:latin typeface="Georgia" pitchFamily="34" charset="0"/>
                <a:ea typeface="Georgia" pitchFamily="34" charset="-122"/>
                <a:cs typeface="Georgia" pitchFamily="34" charset="-120"/>
              </a:rPr>
              <a:t>La si chiamerà </a:t>
            </a:r>
            <a:pPr indent="0" marL="0">
              <a:lnSpc>
                <a:spcPct val="118000"/>
              </a:lnSpc>
              <a:buNone/>
            </a:pPr>
            <a:r>
              <a:rPr lang="en-US" sz="1800" b="1" i="1" dirty="0">
                <a:solidFill>
                  <a:srgbClr val="D8A24A"/>
                </a:solidFill>
                <a:latin typeface="Georgia" pitchFamily="34" charset="0"/>
                <a:ea typeface="Georgia" pitchFamily="34" charset="-122"/>
                <a:cs typeface="Georgia" pitchFamily="34" charset="-120"/>
              </a:rPr>
              <a:t>ishà</a:t>
            </a:r>
            <a:pPr indent="0" marL="0">
              <a:lnSpc>
                <a:spcPct val="118000"/>
              </a:lnSpc>
              <a:buNone/>
            </a:pPr>
            <a:r>
              <a:rPr lang="en-US" sz="1800" i="1" dirty="0">
                <a:solidFill>
                  <a:srgbClr val="F5EFE8"/>
                </a:solidFill>
                <a:latin typeface="Georgia" pitchFamily="34" charset="0"/>
                <a:ea typeface="Georgia" pitchFamily="34" charset="-122"/>
                <a:cs typeface="Georgia" pitchFamily="34" charset="-120"/>
              </a:rPr>
              <a:t> (donna), perché da </a:t>
            </a:r>
            <a:pPr indent="0" marL="0">
              <a:lnSpc>
                <a:spcPct val="118000"/>
              </a:lnSpc>
              <a:buNone/>
            </a:pPr>
            <a:r>
              <a:rPr lang="en-US" sz="1800" b="1" i="1" dirty="0">
                <a:solidFill>
                  <a:srgbClr val="D8A24A"/>
                </a:solidFill>
                <a:latin typeface="Georgia" pitchFamily="34" charset="0"/>
                <a:ea typeface="Georgia" pitchFamily="34" charset="-122"/>
                <a:cs typeface="Georgia" pitchFamily="34" charset="-120"/>
              </a:rPr>
              <a:t>ish</a:t>
            </a:r>
            <a:pPr indent="0" marL="0">
              <a:lnSpc>
                <a:spcPct val="118000"/>
              </a:lnSpc>
              <a:buNone/>
            </a:pPr>
            <a:r>
              <a:rPr lang="en-US" sz="1800" i="1" dirty="0">
                <a:solidFill>
                  <a:srgbClr val="F5EFE8"/>
                </a:solidFill>
                <a:latin typeface="Georgia" pitchFamily="34" charset="0"/>
                <a:ea typeface="Georgia" pitchFamily="34" charset="-122"/>
                <a:cs typeface="Georgia" pitchFamily="34" charset="-120"/>
              </a:rPr>
              <a:t> (uomo) è stata tratta.»</a:t>
            </a:r>
            <a:endParaRPr lang="en-US" sz="1800" dirty="0"/>
          </a:p>
        </p:txBody>
      </p:sp>
      <p:pic>
        <p:nvPicPr>
          <p:cNvPr id="7" name="Image 1" descr="assets/ish_gold.png">    </p:cNvPr>
          <p:cNvPicPr>
            <a:picLocks noChangeAspect="1"/>
          </p:cNvPicPr>
          <p:nvPr/>
        </p:nvPicPr>
        <p:blipFill>
          <a:blip r:embed="rId2"/>
          <a:stretch>
            <a:fillRect/>
          </a:stretch>
        </p:blipFill>
        <p:spPr>
          <a:xfrm>
            <a:off x="6906768" y="1783080"/>
            <a:ext cx="1822704" cy="1188720"/>
          </a:xfrm>
          <a:prstGeom prst="rect">
            <a:avLst/>
          </a:prstGeom>
        </p:spPr>
      </p:pic>
      <p:sp>
        <p:nvSpPr>
          <p:cNvPr id="8" name="Text 4"/>
          <p:cNvSpPr/>
          <p:nvPr/>
        </p:nvSpPr>
        <p:spPr>
          <a:xfrm>
            <a:off x="6812280" y="3017520"/>
            <a:ext cx="2011680" cy="320040"/>
          </a:xfrm>
          <a:prstGeom prst="rect">
            <a:avLst/>
          </a:prstGeom>
          <a:noFill/>
          <a:ln/>
        </p:spPr>
        <p:txBody>
          <a:bodyPr wrap="square" lIns="0" tIns="0" rIns="0" bIns="0" rtlCol="0" anchor="ctr"/>
          <a:lstStyle/>
          <a:p>
            <a:pPr algn="ctr" indent="0" marL="0">
              <a:buNone/>
            </a:pPr>
            <a:r>
              <a:rPr lang="en-US" sz="1300" i="1" dirty="0">
                <a:solidFill>
                  <a:srgbClr val="C9B5A4"/>
                </a:solidFill>
                <a:latin typeface="Calibri" pitchFamily="34" charset="0"/>
                <a:ea typeface="Calibri" pitchFamily="34" charset="-122"/>
                <a:cs typeface="Calibri" pitchFamily="34" charset="-120"/>
              </a:rPr>
              <a:t>ish · uomo</a:t>
            </a:r>
            <a:endParaRPr lang="en-US" sz="1300" dirty="0"/>
          </a:p>
        </p:txBody>
      </p:sp>
      <p:pic>
        <p:nvPicPr>
          <p:cNvPr id="9" name="Image 2" descr="assets/ishah_gold.png">    </p:cNvPr>
          <p:cNvPicPr>
            <a:picLocks noChangeAspect="1"/>
          </p:cNvPicPr>
          <p:nvPr/>
        </p:nvPicPr>
        <p:blipFill>
          <a:blip r:embed="rId3"/>
          <a:stretch>
            <a:fillRect/>
          </a:stretch>
        </p:blipFill>
        <p:spPr>
          <a:xfrm>
            <a:off x="9518152" y="1783080"/>
            <a:ext cx="1903457" cy="1188720"/>
          </a:xfrm>
          <a:prstGeom prst="rect">
            <a:avLst/>
          </a:prstGeom>
        </p:spPr>
      </p:pic>
      <p:sp>
        <p:nvSpPr>
          <p:cNvPr id="10" name="Text 5"/>
          <p:cNvSpPr/>
          <p:nvPr/>
        </p:nvSpPr>
        <p:spPr>
          <a:xfrm>
            <a:off x="9464040" y="3017520"/>
            <a:ext cx="2011680" cy="320040"/>
          </a:xfrm>
          <a:prstGeom prst="rect">
            <a:avLst/>
          </a:prstGeom>
          <a:noFill/>
          <a:ln/>
        </p:spPr>
        <p:txBody>
          <a:bodyPr wrap="square" lIns="0" tIns="0" rIns="0" bIns="0" rtlCol="0" anchor="ctr"/>
          <a:lstStyle/>
          <a:p>
            <a:pPr algn="ctr" indent="0" marL="0">
              <a:buNone/>
            </a:pPr>
            <a:r>
              <a:rPr lang="en-US" sz="1300" i="1" dirty="0">
                <a:solidFill>
                  <a:srgbClr val="C9B5A4"/>
                </a:solidFill>
                <a:latin typeface="Calibri" pitchFamily="34" charset="0"/>
                <a:ea typeface="Calibri" pitchFamily="34" charset="-122"/>
                <a:cs typeface="Calibri" pitchFamily="34" charset="-120"/>
              </a:rPr>
              <a:t>ishà · donna</a:t>
            </a:r>
            <a:endParaRPr lang="en-US" sz="1300" dirty="0"/>
          </a:p>
        </p:txBody>
      </p:sp>
      <p:sp>
        <p:nvSpPr>
          <p:cNvPr id="11" name="Text 6"/>
          <p:cNvSpPr/>
          <p:nvPr/>
        </p:nvSpPr>
        <p:spPr>
          <a:xfrm>
            <a:off x="8503920" y="1920240"/>
            <a:ext cx="1280160" cy="822960"/>
          </a:xfrm>
          <a:prstGeom prst="rect">
            <a:avLst/>
          </a:prstGeom>
          <a:noFill/>
          <a:ln/>
        </p:spPr>
        <p:txBody>
          <a:bodyPr wrap="square" lIns="0" tIns="0" rIns="0" bIns="0" rtlCol="0" anchor="ctr"/>
          <a:lstStyle/>
          <a:p>
            <a:pPr algn="ctr" indent="0" marL="0">
              <a:buNone/>
            </a:pPr>
            <a:r>
              <a:rPr lang="en-US" sz="3800" b="1" dirty="0">
                <a:solidFill>
                  <a:srgbClr val="B0492B"/>
                </a:solidFill>
                <a:latin typeface="Georgia" pitchFamily="34" charset="0"/>
                <a:ea typeface="Georgia" pitchFamily="34" charset="-122"/>
                <a:cs typeface="Georgia" pitchFamily="34" charset="-120"/>
              </a:rPr>
              <a:t>↔</a:t>
            </a:r>
            <a:endParaRPr lang="en-US" sz="3800" dirty="0"/>
          </a:p>
        </p:txBody>
      </p:sp>
      <p:sp>
        <p:nvSpPr>
          <p:cNvPr id="12" name="Shape 7"/>
          <p:cNvSpPr/>
          <p:nvPr/>
        </p:nvSpPr>
        <p:spPr>
          <a:xfrm>
            <a:off x="6355080" y="3703320"/>
            <a:ext cx="5257800" cy="1874520"/>
          </a:xfrm>
          <a:prstGeom prst="rect">
            <a:avLst/>
          </a:prstGeom>
          <a:solidFill>
            <a:srgbClr val="FFFFFF">
              <a:alpha val="10000"/>
            </a:srgbClr>
          </a:solidFill>
          <a:ln w="12700">
            <a:solidFill>
              <a:srgbClr val="D8A24A"/>
            </a:solidFill>
            <a:prstDash val="solid"/>
          </a:ln>
        </p:spPr>
      </p:sp>
      <p:pic>
        <p:nvPicPr>
          <p:cNvPr id="13" name="Image 3" descr="assets/ic_bulb_gold.png">    </p:cNvPr>
          <p:cNvPicPr>
            <a:picLocks noChangeAspect="1"/>
          </p:cNvPicPr>
          <p:nvPr/>
        </p:nvPicPr>
        <p:blipFill>
          <a:blip r:embed="rId4"/>
          <a:stretch>
            <a:fillRect/>
          </a:stretch>
        </p:blipFill>
        <p:spPr>
          <a:xfrm>
            <a:off x="6629400" y="3931920"/>
            <a:ext cx="502920" cy="502920"/>
          </a:xfrm>
          <a:prstGeom prst="rect">
            <a:avLst/>
          </a:prstGeom>
        </p:spPr>
      </p:pic>
      <p:sp>
        <p:nvSpPr>
          <p:cNvPr id="14" name="Text 8"/>
          <p:cNvSpPr/>
          <p:nvPr/>
        </p:nvSpPr>
        <p:spPr>
          <a:xfrm>
            <a:off x="7269480" y="3913632"/>
            <a:ext cx="4114800" cy="411480"/>
          </a:xfrm>
          <a:prstGeom prst="rect">
            <a:avLst/>
          </a:prstGeom>
          <a:noFill/>
          <a:ln/>
        </p:spPr>
        <p:txBody>
          <a:bodyPr wrap="square" lIns="0" tIns="0" rIns="0" bIns="0" rtlCol="0" anchor="ctr"/>
          <a:lstStyle/>
          <a:p>
            <a:pPr indent="0" marL="0">
              <a:buNone/>
            </a:pPr>
            <a:r>
              <a:rPr lang="en-US" sz="1600" b="1" dirty="0">
                <a:solidFill>
                  <a:srgbClr val="D8A24A"/>
                </a:solidFill>
                <a:latin typeface="Georgia" pitchFamily="34" charset="0"/>
                <a:ea typeface="Georgia" pitchFamily="34" charset="-122"/>
                <a:cs typeface="Georgia" pitchFamily="34" charset="-120"/>
              </a:rPr>
              <a:t>L'idea decisiva</a:t>
            </a:r>
            <a:endParaRPr lang="en-US" sz="1600" dirty="0"/>
          </a:p>
        </p:txBody>
      </p:sp>
      <p:sp>
        <p:nvSpPr>
          <p:cNvPr id="15" name="Text 9"/>
          <p:cNvSpPr/>
          <p:nvPr/>
        </p:nvSpPr>
        <p:spPr>
          <a:xfrm>
            <a:off x="6629400" y="4434840"/>
            <a:ext cx="4754880" cy="1051560"/>
          </a:xfrm>
          <a:prstGeom prst="rect">
            <a:avLst/>
          </a:prstGeom>
          <a:noFill/>
          <a:ln/>
        </p:spPr>
        <p:txBody>
          <a:bodyPr wrap="square" lIns="0" tIns="0" rIns="0" bIns="0" rtlCol="0" anchor="t"/>
          <a:lstStyle/>
          <a:p>
            <a:pPr indent="0" marL="0">
              <a:lnSpc>
                <a:spcPct val="112000"/>
              </a:lnSpc>
              <a:buNone/>
            </a:pPr>
            <a:r>
              <a:rPr lang="en-US" sz="1450" dirty="0">
                <a:solidFill>
                  <a:srgbClr val="F5EFE8"/>
                </a:solidFill>
                <a:latin typeface="Calibri" pitchFamily="34" charset="0"/>
                <a:ea typeface="Calibri" pitchFamily="34" charset="-122"/>
                <a:cs typeface="Calibri" pitchFamily="34" charset="-120"/>
              </a:rPr>
              <a:t>Solo </a:t>
            </a:r>
            <a:pPr indent="0" marL="0">
              <a:lnSpc>
                <a:spcPct val="112000"/>
              </a:lnSpc>
              <a:buNone/>
            </a:pPr>
            <a:r>
              <a:rPr lang="en-US" sz="1450" b="1" dirty="0">
                <a:solidFill>
                  <a:srgbClr val="D8A24A"/>
                </a:solidFill>
                <a:latin typeface="Calibri" pitchFamily="34" charset="0"/>
                <a:ea typeface="Calibri" pitchFamily="34" charset="-122"/>
                <a:cs typeface="Calibri" pitchFamily="34" charset="-120"/>
              </a:rPr>
              <a:t>ora</a:t>
            </a:r>
            <a:pPr indent="0" marL="0">
              <a:lnSpc>
                <a:spcPct val="112000"/>
              </a:lnSpc>
              <a:buNone/>
            </a:pPr>
            <a:r>
              <a:rPr lang="en-US" sz="1450" dirty="0">
                <a:solidFill>
                  <a:srgbClr val="F5EFE8"/>
                </a:solidFill>
                <a:latin typeface="Calibri" pitchFamily="34" charset="0"/>
                <a:ea typeface="Calibri" pitchFamily="34" charset="-122"/>
                <a:cs typeface="Calibri" pitchFamily="34" charset="-120"/>
              </a:rPr>
              <a:t>, davanti all'altra, l'adam si dice </a:t>
            </a:r>
            <a:pPr indent="0" marL="0">
              <a:lnSpc>
                <a:spcPct val="112000"/>
              </a:lnSpc>
              <a:buNone/>
            </a:pPr>
            <a:r>
              <a:rPr lang="en-US" sz="1450" b="1" i="1" dirty="0">
                <a:solidFill>
                  <a:srgbClr val="D8A24A"/>
                </a:solidFill>
                <a:latin typeface="Calibri" pitchFamily="34" charset="0"/>
                <a:ea typeface="Calibri" pitchFamily="34" charset="-122"/>
                <a:cs typeface="Calibri" pitchFamily="34" charset="-120"/>
              </a:rPr>
              <a:t>ish</a:t>
            </a:r>
            <a:pPr indent="0" marL="0">
              <a:lnSpc>
                <a:spcPct val="112000"/>
              </a:lnSpc>
              <a:buNone/>
            </a:pPr>
            <a:r>
              <a:rPr lang="en-US" sz="1450" dirty="0">
                <a:solidFill>
                  <a:srgbClr val="F5EFE8"/>
                </a:solidFill>
                <a:latin typeface="Calibri" pitchFamily="34" charset="0"/>
                <a:ea typeface="Calibri" pitchFamily="34" charset="-122"/>
                <a:cs typeface="Calibri" pitchFamily="34" charset="-120"/>
              </a:rPr>
              <a:t>. L'identità maschile e femminile nasce </a:t>
            </a:r>
            <a:pPr indent="0" marL="0">
              <a:lnSpc>
                <a:spcPct val="112000"/>
              </a:lnSpc>
              <a:buNone/>
            </a:pPr>
            <a:r>
              <a:rPr lang="en-US" sz="1450" b="1" dirty="0">
                <a:solidFill>
                  <a:srgbClr val="D8A24A"/>
                </a:solidFill>
                <a:latin typeface="Calibri" pitchFamily="34" charset="0"/>
                <a:ea typeface="Calibri" pitchFamily="34" charset="-122"/>
                <a:cs typeface="Calibri" pitchFamily="34" charset="-120"/>
              </a:rPr>
              <a:t>nell'incontro</a:t>
            </a:r>
            <a:pPr indent="0" marL="0">
              <a:lnSpc>
                <a:spcPct val="112000"/>
              </a:lnSpc>
              <a:buNone/>
            </a:pPr>
            <a:r>
              <a:rPr lang="en-US" sz="1450" dirty="0">
                <a:solidFill>
                  <a:srgbClr val="F5EFE8"/>
                </a:solidFill>
                <a:latin typeface="Calibri" pitchFamily="34" charset="0"/>
                <a:ea typeface="Calibri" pitchFamily="34" charset="-122"/>
                <a:cs typeface="Calibri" pitchFamily="34" charset="-120"/>
              </a:rPr>
              <a:t>, non prima.</a:t>
            </a:r>
            <a:endParaRPr lang="en-US" sz="1450" dirty="0"/>
          </a:p>
        </p:txBody>
      </p:sp>
      <p:sp>
        <p:nvSpPr>
          <p:cNvPr id="16" name="Text 10"/>
          <p:cNvSpPr/>
          <p:nvPr/>
        </p:nvSpPr>
        <p:spPr>
          <a:xfrm>
            <a:off x="502920" y="6437376"/>
            <a:ext cx="4572000" cy="274320"/>
          </a:xfrm>
          <a:prstGeom prst="rect">
            <a:avLst/>
          </a:prstGeom>
          <a:noFill/>
          <a:ln/>
        </p:spPr>
        <p:txBody>
          <a:bodyPr wrap="square" lIns="0" tIns="0" rIns="0" bIns="0" rtlCol="0" anchor="ctr"/>
          <a:lstStyle/>
          <a:p>
            <a:pPr algn="l" indent="0" marL="0">
              <a:buNone/>
            </a:pPr>
            <a:r>
              <a:rPr lang="en-US" sz="900" dirty="0">
                <a:solidFill>
                  <a:srgbClr val="C9B5A4"/>
                </a:solidFill>
                <a:latin typeface="Calibri" pitchFamily="34" charset="0"/>
                <a:ea typeface="Calibri" pitchFamily="34" charset="-122"/>
                <a:cs typeface="Calibri" pitchFamily="34" charset="-120"/>
              </a:rPr>
              <a:t>IRC · Liceo Scientifico</a:t>
            </a:r>
            <a:endParaRPr lang="en-US" sz="900" dirty="0"/>
          </a:p>
        </p:txBody>
      </p:sp>
      <p:sp>
        <p:nvSpPr>
          <p:cNvPr id="17" name="Text 11"/>
          <p:cNvSpPr/>
          <p:nvPr/>
        </p:nvSpPr>
        <p:spPr>
          <a:xfrm>
            <a:off x="7116775" y="6437376"/>
            <a:ext cx="4572000" cy="274320"/>
          </a:xfrm>
          <a:prstGeom prst="rect">
            <a:avLst/>
          </a:prstGeom>
          <a:noFill/>
          <a:ln/>
        </p:spPr>
        <p:txBody>
          <a:bodyPr wrap="square" lIns="0" tIns="0" rIns="0" bIns="0" rtlCol="0" anchor="ctr"/>
          <a:lstStyle/>
          <a:p>
            <a:pPr algn="r" indent="0" marL="0">
              <a:buNone/>
            </a:pPr>
            <a:r>
              <a:rPr lang="en-US" sz="900" dirty="0">
                <a:solidFill>
                  <a:srgbClr val="C9B5A4"/>
                </a:solidFill>
                <a:latin typeface="Calibri" pitchFamily="34" charset="0"/>
                <a:ea typeface="Calibri" pitchFamily="34" charset="-122"/>
                <a:cs typeface="Calibri" pitchFamily="34" charset="-120"/>
              </a:rPr>
              <a:t>Ish e Ishà   ·   </a:t>
            </a:r>
            <a:pPr algn="r" indent="0" marL="0">
              <a:buNone/>
            </a:pPr>
            <a:r>
              <a:rPr lang="en-US" sz="900" b="1" dirty="0">
                <a:solidFill>
                  <a:srgbClr val="D8A24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lIns="0" tIns="0" rIns="0" bIns="0" rtlCol="0" anchor="ctr"/>
          <a:lstStyle/>
          <a:p>
            <a:pPr algn="l" indent="0" marL="0">
              <a:buNone/>
            </a:pPr>
            <a:r>
              <a:rPr lang="en-US" sz="1150" b="1" spc="300" kern="0" dirty="0">
                <a:solidFill>
                  <a:srgbClr val="B0492B"/>
                </a:solidFill>
                <a:latin typeface="Calibri" pitchFamily="34" charset="0"/>
                <a:ea typeface="Calibri" pitchFamily="34" charset="-122"/>
                <a:cs typeface="Calibri" pitchFamily="34" charset="-120"/>
              </a:rPr>
              <a:t>LA GRAMMATICA DELL'UGUAGLIANZA</a:t>
            </a:r>
            <a:endParaRPr lang="en-US" sz="1150" dirty="0"/>
          </a:p>
        </p:txBody>
      </p:sp>
      <p:sp>
        <p:nvSpPr>
          <p:cNvPr id="3" name="Text 1"/>
          <p:cNvSpPr/>
          <p:nvPr/>
        </p:nvSpPr>
        <p:spPr>
          <a:xfrm>
            <a:off x="502920" y="777240"/>
            <a:ext cx="10972800" cy="640080"/>
          </a:xfrm>
          <a:prstGeom prst="rect">
            <a:avLst/>
          </a:prstGeom>
          <a:noFill/>
          <a:ln/>
        </p:spPr>
        <p:txBody>
          <a:bodyPr wrap="square" lIns="0" tIns="0" rIns="0" bIns="0" rtlCol="0" anchor="ctr"/>
          <a:lstStyle/>
          <a:p>
            <a:pPr indent="0" marL="0">
              <a:buNone/>
            </a:pPr>
            <a:r>
              <a:rPr lang="en-US" sz="3000" b="1" dirty="0">
                <a:solidFill>
                  <a:srgbClr val="2B2118"/>
                </a:solidFill>
                <a:latin typeface="Georgia" pitchFamily="34" charset="0"/>
                <a:ea typeface="Georgia" pitchFamily="34" charset="-122"/>
                <a:cs typeface="Georgia" pitchFamily="34" charset="-120"/>
              </a:rPr>
              <a:t>ADAM diventa Ish e Ishà</a:t>
            </a:r>
            <a:endParaRPr lang="en-US" sz="3000" dirty="0"/>
          </a:p>
        </p:txBody>
      </p:sp>
      <p:sp>
        <p:nvSpPr>
          <p:cNvPr id="4" name="Shape 2"/>
          <p:cNvSpPr/>
          <p:nvPr/>
        </p:nvSpPr>
        <p:spPr>
          <a:xfrm>
            <a:off x="777240" y="1965960"/>
            <a:ext cx="2286000" cy="2286000"/>
          </a:xfrm>
          <a:prstGeom prst="ellipse">
            <a:avLst/>
          </a:prstGeom>
          <a:solidFill>
            <a:srgbClr val="6F7B53">
              <a:alpha val="84000"/>
            </a:srgbClr>
          </a:solidFill>
          <a:ln w="19050">
            <a:solidFill>
              <a:srgbClr val="6F7B53"/>
            </a:solidFill>
            <a:prstDash val="solid"/>
          </a:ln>
        </p:spPr>
      </p:sp>
      <p:sp>
        <p:nvSpPr>
          <p:cNvPr id="5" name="Text 3"/>
          <p:cNvSpPr/>
          <p:nvPr/>
        </p:nvSpPr>
        <p:spPr>
          <a:xfrm>
            <a:off x="777240" y="2606040"/>
            <a:ext cx="2286000" cy="457200"/>
          </a:xfrm>
          <a:prstGeom prst="rect">
            <a:avLst/>
          </a:prstGeom>
          <a:noFill/>
          <a:ln/>
        </p:spPr>
        <p:txBody>
          <a:bodyPr wrap="square" lIns="0" tIns="0" rIns="0" bIns="0" rtlCol="0" anchor="ctr"/>
          <a:lstStyle/>
          <a:p>
            <a:pPr algn="ctr" indent="0" marL="0">
              <a:buNone/>
            </a:pPr>
            <a:r>
              <a:rPr lang="en-US" sz="2200" b="1" dirty="0">
                <a:solidFill>
                  <a:srgbClr val="4F5A3E"/>
                </a:solidFill>
                <a:latin typeface="Georgia" pitchFamily="34" charset="0"/>
                <a:ea typeface="Georgia" pitchFamily="34" charset="-122"/>
                <a:cs typeface="Georgia" pitchFamily="34" charset="-120"/>
              </a:rPr>
              <a:t>ADAM</a:t>
            </a:r>
            <a:endParaRPr lang="en-US" sz="2200" dirty="0"/>
          </a:p>
        </p:txBody>
      </p:sp>
      <p:sp>
        <p:nvSpPr>
          <p:cNvPr id="6" name="Text 4"/>
          <p:cNvSpPr/>
          <p:nvPr/>
        </p:nvSpPr>
        <p:spPr>
          <a:xfrm>
            <a:off x="777240" y="3063240"/>
            <a:ext cx="2286000" cy="365760"/>
          </a:xfrm>
          <a:prstGeom prst="rect">
            <a:avLst/>
          </a:prstGeom>
          <a:noFill/>
          <a:ln/>
        </p:spPr>
        <p:txBody>
          <a:bodyPr wrap="square" lIns="0" tIns="0" rIns="0" bIns="0" rtlCol="0" anchor="ctr"/>
          <a:lstStyle/>
          <a:p>
            <a:pPr algn="ctr" indent="0" marL="0">
              <a:buNone/>
            </a:pPr>
            <a:r>
              <a:rPr lang="en-US" sz="1300" i="1" dirty="0">
                <a:solidFill>
                  <a:srgbClr val="4F5A3E"/>
                </a:solidFill>
                <a:latin typeface="Calibri" pitchFamily="34" charset="0"/>
                <a:ea typeface="Calibri" pitchFamily="34" charset="-122"/>
                <a:cs typeface="Calibri" pitchFamily="34" charset="-120"/>
              </a:rPr>
              <a:t>l'umano</a:t>
            </a:r>
            <a:endParaRPr lang="en-US" sz="1300" dirty="0"/>
          </a:p>
        </p:txBody>
      </p:sp>
      <p:sp>
        <p:nvSpPr>
          <p:cNvPr id="7" name="Text 5"/>
          <p:cNvSpPr/>
          <p:nvPr/>
        </p:nvSpPr>
        <p:spPr>
          <a:xfrm>
            <a:off x="3154680" y="2697480"/>
            <a:ext cx="1097280" cy="822960"/>
          </a:xfrm>
          <a:prstGeom prst="rect">
            <a:avLst/>
          </a:prstGeom>
          <a:noFill/>
          <a:ln/>
        </p:spPr>
        <p:txBody>
          <a:bodyPr wrap="square" lIns="0" tIns="0" rIns="0" bIns="0" rtlCol="0" anchor="ctr"/>
          <a:lstStyle/>
          <a:p>
            <a:pPr algn="ctr" indent="0" marL="0">
              <a:buNone/>
            </a:pPr>
            <a:r>
              <a:rPr lang="en-US" sz="4000" b="1" dirty="0">
                <a:solidFill>
                  <a:srgbClr val="B0492B"/>
                </a:solidFill>
                <a:latin typeface="Georgia" pitchFamily="34" charset="0"/>
                <a:ea typeface="Georgia" pitchFamily="34" charset="-122"/>
                <a:cs typeface="Georgia" pitchFamily="34" charset="-120"/>
              </a:rPr>
              <a:t>→</a:t>
            </a:r>
            <a:endParaRPr lang="en-US" sz="4000" dirty="0"/>
          </a:p>
        </p:txBody>
      </p:sp>
      <p:sp>
        <p:nvSpPr>
          <p:cNvPr id="8" name="Text 6"/>
          <p:cNvSpPr/>
          <p:nvPr/>
        </p:nvSpPr>
        <p:spPr>
          <a:xfrm>
            <a:off x="3063240" y="3520440"/>
            <a:ext cx="1325880" cy="320040"/>
          </a:xfrm>
          <a:prstGeom prst="rect">
            <a:avLst/>
          </a:prstGeom>
          <a:noFill/>
          <a:ln/>
        </p:spPr>
        <p:txBody>
          <a:bodyPr wrap="square" lIns="0" tIns="0" rIns="0" bIns="0" rtlCol="0" anchor="ctr"/>
          <a:lstStyle/>
          <a:p>
            <a:pPr algn="ctr" indent="0" marL="0">
              <a:buNone/>
            </a:pPr>
            <a:r>
              <a:rPr lang="en-US" sz="1150" i="1" dirty="0">
                <a:solidFill>
                  <a:srgbClr val="8A7A6B"/>
                </a:solidFill>
                <a:latin typeface="Calibri" pitchFamily="34" charset="0"/>
                <a:ea typeface="Calibri" pitchFamily="34" charset="-122"/>
                <a:cs typeface="Calibri" pitchFamily="34" charset="-120"/>
              </a:rPr>
              <a:t>incontro</a:t>
            </a:r>
            <a:endParaRPr lang="en-US" sz="1150" dirty="0"/>
          </a:p>
        </p:txBody>
      </p:sp>
      <p:sp>
        <p:nvSpPr>
          <p:cNvPr id="9" name="Shape 7"/>
          <p:cNvSpPr/>
          <p:nvPr/>
        </p:nvSpPr>
        <p:spPr>
          <a:xfrm>
            <a:off x="4526280" y="1965960"/>
            <a:ext cx="2286000" cy="2286000"/>
          </a:xfrm>
          <a:prstGeom prst="ellipse">
            <a:avLst/>
          </a:prstGeom>
          <a:solidFill>
            <a:srgbClr val="B0492B">
              <a:alpha val="70000"/>
            </a:srgbClr>
          </a:solidFill>
          <a:ln w="19050">
            <a:solidFill>
              <a:srgbClr val="B0492B"/>
            </a:solidFill>
            <a:prstDash val="solid"/>
          </a:ln>
        </p:spPr>
      </p:sp>
      <p:sp>
        <p:nvSpPr>
          <p:cNvPr id="10" name="Shape 8"/>
          <p:cNvSpPr/>
          <p:nvPr/>
        </p:nvSpPr>
        <p:spPr>
          <a:xfrm>
            <a:off x="5989320" y="1965960"/>
            <a:ext cx="2286000" cy="2286000"/>
          </a:xfrm>
          <a:prstGeom prst="ellipse">
            <a:avLst/>
          </a:prstGeom>
          <a:solidFill>
            <a:srgbClr val="C68A3E">
              <a:alpha val="70000"/>
            </a:srgbClr>
          </a:solidFill>
          <a:ln w="19050">
            <a:solidFill>
              <a:srgbClr val="C68A3E"/>
            </a:solidFill>
            <a:prstDash val="solid"/>
          </a:ln>
        </p:spPr>
      </p:sp>
      <p:sp>
        <p:nvSpPr>
          <p:cNvPr id="11" name="Text 9"/>
          <p:cNvSpPr/>
          <p:nvPr/>
        </p:nvSpPr>
        <p:spPr>
          <a:xfrm>
            <a:off x="4572000" y="2697480"/>
            <a:ext cx="1371600" cy="457200"/>
          </a:xfrm>
          <a:prstGeom prst="rect">
            <a:avLst/>
          </a:prstGeom>
          <a:noFill/>
          <a:ln/>
        </p:spPr>
        <p:txBody>
          <a:bodyPr wrap="square" lIns="0" tIns="0" rIns="0" bIns="0" rtlCol="0" anchor="ctr"/>
          <a:lstStyle/>
          <a:p>
            <a:pPr algn="ctr" indent="0" marL="0">
              <a:buNone/>
            </a:pPr>
            <a:r>
              <a:rPr lang="en-US" sz="2000" b="1" dirty="0">
                <a:solidFill>
                  <a:srgbClr val="8A3620"/>
                </a:solidFill>
                <a:latin typeface="Georgia" pitchFamily="34" charset="0"/>
                <a:ea typeface="Georgia" pitchFamily="34" charset="-122"/>
                <a:cs typeface="Georgia" pitchFamily="34" charset="-120"/>
              </a:rPr>
              <a:t>ISH</a:t>
            </a:r>
            <a:endParaRPr lang="en-US" sz="2000" dirty="0"/>
          </a:p>
        </p:txBody>
      </p:sp>
      <p:sp>
        <p:nvSpPr>
          <p:cNvPr id="12" name="Text 10"/>
          <p:cNvSpPr/>
          <p:nvPr/>
        </p:nvSpPr>
        <p:spPr>
          <a:xfrm>
            <a:off x="6858000" y="2697480"/>
            <a:ext cx="1371600" cy="457200"/>
          </a:xfrm>
          <a:prstGeom prst="rect">
            <a:avLst/>
          </a:prstGeom>
          <a:noFill/>
          <a:ln/>
        </p:spPr>
        <p:txBody>
          <a:bodyPr wrap="square" lIns="0" tIns="0" rIns="0" bIns="0" rtlCol="0" anchor="ctr"/>
          <a:lstStyle/>
          <a:p>
            <a:pPr algn="ctr" indent="0" marL="0">
              <a:buNone/>
            </a:pPr>
            <a:r>
              <a:rPr lang="en-US" sz="2000" b="1" dirty="0">
                <a:solidFill>
                  <a:srgbClr val="8A5A1E"/>
                </a:solidFill>
                <a:latin typeface="Georgia" pitchFamily="34" charset="0"/>
                <a:ea typeface="Georgia" pitchFamily="34" charset="-122"/>
                <a:cs typeface="Georgia" pitchFamily="34" charset="-120"/>
              </a:rPr>
              <a:t>ISHÀ</a:t>
            </a:r>
            <a:endParaRPr lang="en-US" sz="2000" dirty="0"/>
          </a:p>
        </p:txBody>
      </p:sp>
      <p:sp>
        <p:nvSpPr>
          <p:cNvPr id="13" name="Text 11"/>
          <p:cNvSpPr/>
          <p:nvPr/>
        </p:nvSpPr>
        <p:spPr>
          <a:xfrm>
            <a:off x="8275320" y="2697480"/>
            <a:ext cx="640080" cy="822960"/>
          </a:xfrm>
          <a:prstGeom prst="rect">
            <a:avLst/>
          </a:prstGeom>
          <a:noFill/>
          <a:ln/>
        </p:spPr>
        <p:txBody>
          <a:bodyPr wrap="square" lIns="0" tIns="0" rIns="0" bIns="0" rtlCol="0" anchor="ctr"/>
          <a:lstStyle/>
          <a:p>
            <a:pPr algn="ctr" indent="0" marL="0">
              <a:buNone/>
            </a:pPr>
            <a:r>
              <a:rPr lang="en-US" sz="3400" b="1" dirty="0">
                <a:solidFill>
                  <a:srgbClr val="2B2118"/>
                </a:solidFill>
                <a:latin typeface="Georgia" pitchFamily="34" charset="0"/>
                <a:ea typeface="Georgia" pitchFamily="34" charset="-122"/>
                <a:cs typeface="Georgia" pitchFamily="34" charset="-120"/>
              </a:rPr>
              <a:t>=</a:t>
            </a:r>
            <a:endParaRPr lang="en-US" sz="3400" dirty="0"/>
          </a:p>
        </p:txBody>
      </p:sp>
      <p:sp>
        <p:nvSpPr>
          <p:cNvPr id="14" name="Text 12"/>
          <p:cNvSpPr/>
          <p:nvPr/>
        </p:nvSpPr>
        <p:spPr>
          <a:xfrm>
            <a:off x="8869680" y="2606040"/>
            <a:ext cx="2743200" cy="1005840"/>
          </a:xfrm>
          <a:prstGeom prst="rect">
            <a:avLst/>
          </a:prstGeom>
          <a:noFill/>
          <a:ln/>
        </p:spPr>
        <p:txBody>
          <a:bodyPr wrap="square" lIns="0" tIns="0" rIns="0" bIns="0" rtlCol="0" anchor="ctr"/>
          <a:lstStyle/>
          <a:p>
            <a:pPr indent="0" marL="0">
              <a:lnSpc>
                <a:spcPct val="100000"/>
              </a:lnSpc>
              <a:buNone/>
            </a:pPr>
            <a:r>
              <a:rPr lang="en-US" sz="2100" b="1" dirty="0">
                <a:solidFill>
                  <a:srgbClr val="2B2118"/>
                </a:solidFill>
                <a:latin typeface="Georgia" pitchFamily="34" charset="0"/>
                <a:ea typeface="Georgia" pitchFamily="34" charset="-122"/>
                <a:cs typeface="Georgia" pitchFamily="34" charset="-120"/>
              </a:rPr>
              <a:t>una sola
</a:t>
            </a:r>
            <a:pPr indent="0" marL="0">
              <a:lnSpc>
                <a:spcPct val="100000"/>
              </a:lnSpc>
              <a:buNone/>
            </a:pPr>
            <a:r>
              <a:rPr lang="en-US" sz="2100" b="1" dirty="0">
                <a:solidFill>
                  <a:srgbClr val="B0492B"/>
                </a:solidFill>
                <a:latin typeface="Georgia" pitchFamily="34" charset="0"/>
                <a:ea typeface="Georgia" pitchFamily="34" charset="-122"/>
                <a:cs typeface="Georgia" pitchFamily="34" charset="-120"/>
              </a:rPr>
              <a:t>carne</a:t>
            </a:r>
            <a:endParaRPr lang="en-US" sz="2100" dirty="0"/>
          </a:p>
        </p:txBody>
      </p:sp>
      <p:sp>
        <p:nvSpPr>
          <p:cNvPr id="15" name="Shape 13"/>
          <p:cNvSpPr/>
          <p:nvPr/>
        </p:nvSpPr>
        <p:spPr>
          <a:xfrm>
            <a:off x="548640" y="4663440"/>
            <a:ext cx="3566160" cy="1417320"/>
          </a:xfrm>
          <a:prstGeom prst="rect">
            <a:avLst/>
          </a:prstGeom>
          <a:solidFill>
            <a:srgbClr val="F5EEE4"/>
          </a:solidFill>
          <a:ln/>
        </p:spPr>
      </p:sp>
      <p:sp>
        <p:nvSpPr>
          <p:cNvPr id="16" name="Shape 14"/>
          <p:cNvSpPr/>
          <p:nvPr/>
        </p:nvSpPr>
        <p:spPr>
          <a:xfrm>
            <a:off x="822960" y="4892040"/>
            <a:ext cx="274320" cy="274320"/>
          </a:xfrm>
          <a:prstGeom prst="ellipse">
            <a:avLst/>
          </a:prstGeom>
          <a:solidFill>
            <a:srgbClr val="B0492B"/>
          </a:solidFill>
          <a:ln/>
        </p:spPr>
      </p:sp>
      <p:sp>
        <p:nvSpPr>
          <p:cNvPr id="17" name="Text 15"/>
          <p:cNvSpPr/>
          <p:nvPr/>
        </p:nvSpPr>
        <p:spPr>
          <a:xfrm>
            <a:off x="1234440" y="4828032"/>
            <a:ext cx="2743200" cy="411480"/>
          </a:xfrm>
          <a:prstGeom prst="rect">
            <a:avLst/>
          </a:prstGeom>
          <a:noFill/>
          <a:ln/>
        </p:spPr>
        <p:txBody>
          <a:bodyPr wrap="square" lIns="0" tIns="0" rIns="0" bIns="0" rtlCol="0" anchor="ctr"/>
          <a:lstStyle/>
          <a:p>
            <a:pPr indent="0" marL="0">
              <a:buNone/>
            </a:pPr>
            <a:r>
              <a:rPr lang="en-US" sz="1450" b="1" dirty="0">
                <a:solidFill>
                  <a:srgbClr val="2B2118"/>
                </a:solidFill>
                <a:latin typeface="Georgia" pitchFamily="34" charset="0"/>
                <a:ea typeface="Georgia" pitchFamily="34" charset="-122"/>
                <a:cs typeface="Georgia" pitchFamily="34" charset="-120"/>
              </a:rPr>
              <a:t>Parole quasi gemelle</a:t>
            </a:r>
            <a:endParaRPr lang="en-US" sz="1450" dirty="0"/>
          </a:p>
        </p:txBody>
      </p:sp>
      <p:sp>
        <p:nvSpPr>
          <p:cNvPr id="18" name="Text 16"/>
          <p:cNvSpPr/>
          <p:nvPr/>
        </p:nvSpPr>
        <p:spPr>
          <a:xfrm>
            <a:off x="822960" y="5285232"/>
            <a:ext cx="3063240" cy="731520"/>
          </a:xfrm>
          <a:prstGeom prst="rect">
            <a:avLst/>
          </a:prstGeom>
          <a:noFill/>
          <a:ln/>
        </p:spPr>
        <p:txBody>
          <a:bodyPr wrap="square" lIns="0" tIns="0" rIns="0" bIns="0" rtlCol="0" anchor="t"/>
          <a:lstStyle/>
          <a:p>
            <a:pPr indent="0" marL="0">
              <a:lnSpc>
                <a:spcPct val="105000"/>
              </a:lnSpc>
              <a:buNone/>
            </a:pPr>
            <a:r>
              <a:rPr lang="en-US" sz="1250" dirty="0">
                <a:solidFill>
                  <a:srgbClr val="2B2118"/>
                </a:solidFill>
                <a:latin typeface="Calibri" pitchFamily="34" charset="0"/>
                <a:ea typeface="Calibri" pitchFamily="34" charset="-122"/>
                <a:cs typeface="Calibri" pitchFamily="34" charset="-120"/>
              </a:rPr>
              <a:t>ish / ishà: la lingua stessa dice corrispondenza e pari dignità.</a:t>
            </a:r>
            <a:endParaRPr lang="en-US" sz="1250" dirty="0"/>
          </a:p>
        </p:txBody>
      </p:sp>
      <p:sp>
        <p:nvSpPr>
          <p:cNvPr id="19" name="Shape 17"/>
          <p:cNvSpPr/>
          <p:nvPr/>
        </p:nvSpPr>
        <p:spPr>
          <a:xfrm>
            <a:off x="4315968" y="4663440"/>
            <a:ext cx="3566160" cy="1417320"/>
          </a:xfrm>
          <a:prstGeom prst="rect">
            <a:avLst/>
          </a:prstGeom>
          <a:solidFill>
            <a:srgbClr val="F5EEE4"/>
          </a:solidFill>
          <a:ln/>
        </p:spPr>
      </p:sp>
      <p:sp>
        <p:nvSpPr>
          <p:cNvPr id="20" name="Shape 18"/>
          <p:cNvSpPr/>
          <p:nvPr/>
        </p:nvSpPr>
        <p:spPr>
          <a:xfrm>
            <a:off x="4590288" y="4892040"/>
            <a:ext cx="274320" cy="274320"/>
          </a:xfrm>
          <a:prstGeom prst="ellipse">
            <a:avLst/>
          </a:prstGeom>
          <a:solidFill>
            <a:srgbClr val="B0492B"/>
          </a:solidFill>
          <a:ln/>
        </p:spPr>
      </p:sp>
      <p:sp>
        <p:nvSpPr>
          <p:cNvPr id="21" name="Text 19"/>
          <p:cNvSpPr/>
          <p:nvPr/>
        </p:nvSpPr>
        <p:spPr>
          <a:xfrm>
            <a:off x="5001768" y="4828032"/>
            <a:ext cx="2743200" cy="411480"/>
          </a:xfrm>
          <a:prstGeom prst="rect">
            <a:avLst/>
          </a:prstGeom>
          <a:noFill/>
          <a:ln/>
        </p:spPr>
        <p:txBody>
          <a:bodyPr wrap="square" lIns="0" tIns="0" rIns="0" bIns="0" rtlCol="0" anchor="ctr"/>
          <a:lstStyle/>
          <a:p>
            <a:pPr indent="0" marL="0">
              <a:buNone/>
            </a:pPr>
            <a:r>
              <a:rPr lang="en-US" sz="1450" b="1" dirty="0">
                <a:solidFill>
                  <a:srgbClr val="2B2118"/>
                </a:solidFill>
                <a:latin typeface="Georgia" pitchFamily="34" charset="0"/>
                <a:ea typeface="Georgia" pitchFamily="34" charset="-122"/>
                <a:cs typeface="Georgia" pitchFamily="34" charset="-120"/>
              </a:rPr>
              <a:t>«Osso dalle mie ossa»</a:t>
            </a:r>
            <a:endParaRPr lang="en-US" sz="1450" dirty="0"/>
          </a:p>
        </p:txBody>
      </p:sp>
      <p:sp>
        <p:nvSpPr>
          <p:cNvPr id="22" name="Text 20"/>
          <p:cNvSpPr/>
          <p:nvPr/>
        </p:nvSpPr>
        <p:spPr>
          <a:xfrm>
            <a:off x="4590288" y="5285232"/>
            <a:ext cx="3063240" cy="731520"/>
          </a:xfrm>
          <a:prstGeom prst="rect">
            <a:avLst/>
          </a:prstGeom>
          <a:noFill/>
          <a:ln/>
        </p:spPr>
        <p:txBody>
          <a:bodyPr wrap="square" lIns="0" tIns="0" rIns="0" bIns="0" rtlCol="0" anchor="t"/>
          <a:lstStyle/>
          <a:p>
            <a:pPr indent="0" marL="0">
              <a:lnSpc>
                <a:spcPct val="105000"/>
              </a:lnSpc>
              <a:buNone/>
            </a:pPr>
            <a:r>
              <a:rPr lang="en-US" sz="1250" dirty="0">
                <a:solidFill>
                  <a:srgbClr val="2B2118"/>
                </a:solidFill>
                <a:latin typeface="Calibri" pitchFamily="34" charset="0"/>
                <a:ea typeface="Calibri" pitchFamily="34" charset="-122"/>
                <a:cs typeface="Calibri" pitchFamily="34" charset="-120"/>
              </a:rPr>
              <a:t>Parentela e somiglianza: non un essere di rango inferiore.</a:t>
            </a:r>
            <a:endParaRPr lang="en-US" sz="1250" dirty="0"/>
          </a:p>
        </p:txBody>
      </p:sp>
      <p:sp>
        <p:nvSpPr>
          <p:cNvPr id="23" name="Shape 21"/>
          <p:cNvSpPr/>
          <p:nvPr/>
        </p:nvSpPr>
        <p:spPr>
          <a:xfrm>
            <a:off x="8083296" y="4663440"/>
            <a:ext cx="3566160" cy="1417320"/>
          </a:xfrm>
          <a:prstGeom prst="rect">
            <a:avLst/>
          </a:prstGeom>
          <a:solidFill>
            <a:srgbClr val="F5EEE4"/>
          </a:solidFill>
          <a:ln/>
        </p:spPr>
      </p:sp>
      <p:sp>
        <p:nvSpPr>
          <p:cNvPr id="24" name="Shape 22"/>
          <p:cNvSpPr/>
          <p:nvPr/>
        </p:nvSpPr>
        <p:spPr>
          <a:xfrm>
            <a:off x="8357616" y="4892040"/>
            <a:ext cx="274320" cy="274320"/>
          </a:xfrm>
          <a:prstGeom prst="ellipse">
            <a:avLst/>
          </a:prstGeom>
          <a:solidFill>
            <a:srgbClr val="B0492B"/>
          </a:solidFill>
          <a:ln/>
        </p:spPr>
      </p:sp>
      <p:sp>
        <p:nvSpPr>
          <p:cNvPr id="25" name="Text 23"/>
          <p:cNvSpPr/>
          <p:nvPr/>
        </p:nvSpPr>
        <p:spPr>
          <a:xfrm>
            <a:off x="8769096" y="4828032"/>
            <a:ext cx="2743200" cy="411480"/>
          </a:xfrm>
          <a:prstGeom prst="rect">
            <a:avLst/>
          </a:prstGeom>
          <a:noFill/>
          <a:ln/>
        </p:spPr>
        <p:txBody>
          <a:bodyPr wrap="square" lIns="0" tIns="0" rIns="0" bIns="0" rtlCol="0" anchor="ctr"/>
          <a:lstStyle/>
          <a:p>
            <a:pPr indent="0" marL="0">
              <a:buNone/>
            </a:pPr>
            <a:r>
              <a:rPr lang="en-US" sz="1450" b="1" dirty="0">
                <a:solidFill>
                  <a:srgbClr val="2B2118"/>
                </a:solidFill>
                <a:latin typeface="Georgia" pitchFamily="34" charset="0"/>
                <a:ea typeface="Georgia" pitchFamily="34" charset="-122"/>
                <a:cs typeface="Georgia" pitchFamily="34" charset="-120"/>
              </a:rPr>
              <a:t>La differenza unisce</a:t>
            </a:r>
            <a:endParaRPr lang="en-US" sz="1450" dirty="0"/>
          </a:p>
        </p:txBody>
      </p:sp>
      <p:sp>
        <p:nvSpPr>
          <p:cNvPr id="26" name="Text 24"/>
          <p:cNvSpPr/>
          <p:nvPr/>
        </p:nvSpPr>
        <p:spPr>
          <a:xfrm>
            <a:off x="8357616" y="5285232"/>
            <a:ext cx="3063240" cy="731520"/>
          </a:xfrm>
          <a:prstGeom prst="rect">
            <a:avLst/>
          </a:prstGeom>
          <a:noFill/>
          <a:ln/>
        </p:spPr>
        <p:txBody>
          <a:bodyPr wrap="square" lIns="0" tIns="0" rIns="0" bIns="0" rtlCol="0" anchor="t"/>
          <a:lstStyle/>
          <a:p>
            <a:pPr indent="0" marL="0">
              <a:lnSpc>
                <a:spcPct val="105000"/>
              </a:lnSpc>
              <a:buNone/>
            </a:pPr>
            <a:r>
              <a:rPr lang="en-US" sz="1250" dirty="0">
                <a:solidFill>
                  <a:srgbClr val="2B2118"/>
                </a:solidFill>
                <a:latin typeface="Calibri" pitchFamily="34" charset="0"/>
                <a:ea typeface="Calibri" pitchFamily="34" charset="-122"/>
                <a:cs typeface="Calibri" pitchFamily="34" charset="-120"/>
              </a:rPr>
              <a:t>Non separa: apre all'incontro e alla reciprocità.</a:t>
            </a:r>
            <a:endParaRPr lang="en-US" sz="1250" dirty="0"/>
          </a:p>
        </p:txBody>
      </p:sp>
      <p:sp>
        <p:nvSpPr>
          <p:cNvPr id="27" name="Text 25"/>
          <p:cNvSpPr/>
          <p:nvPr/>
        </p:nvSpPr>
        <p:spPr>
          <a:xfrm>
            <a:off x="502920" y="6437376"/>
            <a:ext cx="4572000" cy="274320"/>
          </a:xfrm>
          <a:prstGeom prst="rect">
            <a:avLst/>
          </a:prstGeom>
          <a:noFill/>
          <a:ln/>
        </p:spPr>
        <p:txBody>
          <a:bodyPr wrap="square" lIns="0" tIns="0" rIns="0" bIns="0" rtlCol="0" anchor="ctr"/>
          <a:lstStyle/>
          <a:p>
            <a:pPr algn="l" indent="0" marL="0">
              <a:buNone/>
            </a:pPr>
            <a:r>
              <a:rPr lang="en-US" sz="900" dirty="0">
                <a:solidFill>
                  <a:srgbClr val="8A7A6B"/>
                </a:solidFill>
                <a:latin typeface="Calibri" pitchFamily="34" charset="0"/>
                <a:ea typeface="Calibri" pitchFamily="34" charset="-122"/>
                <a:cs typeface="Calibri" pitchFamily="34" charset="-120"/>
              </a:rPr>
              <a:t>IRC · Liceo Scientifico</a:t>
            </a:r>
            <a:endParaRPr lang="en-US" sz="900" dirty="0"/>
          </a:p>
        </p:txBody>
      </p:sp>
      <p:sp>
        <p:nvSpPr>
          <p:cNvPr id="28" name="Text 26"/>
          <p:cNvSpPr/>
          <p:nvPr/>
        </p:nvSpPr>
        <p:spPr>
          <a:xfrm>
            <a:off x="7116775" y="6437376"/>
            <a:ext cx="4572000" cy="274320"/>
          </a:xfrm>
          <a:prstGeom prst="rect">
            <a:avLst/>
          </a:prstGeom>
          <a:noFill/>
          <a:ln/>
        </p:spPr>
        <p:txBody>
          <a:bodyPr wrap="square" lIns="0" tIns="0" rIns="0" bIns="0" rtlCol="0" anchor="ctr"/>
          <a:lstStyle/>
          <a:p>
            <a:pPr algn="r" indent="0" marL="0">
              <a:buNone/>
            </a:pPr>
            <a:r>
              <a:rPr lang="en-US" sz="900" dirty="0">
                <a:solidFill>
                  <a:srgbClr val="8A7A6B"/>
                </a:solidFill>
                <a:latin typeface="Calibri" pitchFamily="34" charset="0"/>
                <a:ea typeface="Calibri" pitchFamily="34" charset="-122"/>
                <a:cs typeface="Calibri" pitchFamily="34" charset="-120"/>
              </a:rPr>
              <a:t>Grammatica dell'uguaglianza   ·   </a:t>
            </a:r>
            <a:pPr algn="r" indent="0" marL="0">
              <a:buNone/>
            </a:pPr>
            <a:r>
              <a:rPr lang="en-US" sz="900" b="1" dirty="0">
                <a:solidFill>
                  <a:srgbClr val="B0492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lIns="0" tIns="0" rIns="0" bIns="0" rtlCol="0" anchor="ctr"/>
          <a:lstStyle/>
          <a:p>
            <a:pPr algn="l" indent="0" marL="0">
              <a:buNone/>
            </a:pPr>
            <a:r>
              <a:rPr lang="en-US" sz="1150" b="1" spc="300" kern="0" dirty="0">
                <a:solidFill>
                  <a:srgbClr val="B0492B"/>
                </a:solidFill>
                <a:latin typeface="Calibri" pitchFamily="34" charset="0"/>
                <a:ea typeface="Calibri" pitchFamily="34" charset="-122"/>
                <a:cs typeface="Calibri" pitchFamily="34" charset="-120"/>
              </a:rPr>
              <a:t>GENESI 2,24</a:t>
            </a:r>
            <a:endParaRPr lang="en-US" sz="1150" dirty="0"/>
          </a:p>
        </p:txBody>
      </p:sp>
      <p:sp>
        <p:nvSpPr>
          <p:cNvPr id="3" name="Text 1"/>
          <p:cNvSpPr/>
          <p:nvPr/>
        </p:nvSpPr>
        <p:spPr>
          <a:xfrm>
            <a:off x="502920" y="777240"/>
            <a:ext cx="10972800" cy="640080"/>
          </a:xfrm>
          <a:prstGeom prst="rect">
            <a:avLst/>
          </a:prstGeom>
          <a:noFill/>
          <a:ln/>
        </p:spPr>
        <p:txBody>
          <a:bodyPr wrap="square" lIns="0" tIns="0" rIns="0" bIns="0" rtlCol="0" anchor="ctr"/>
          <a:lstStyle/>
          <a:p>
            <a:pPr indent="0" marL="0">
              <a:buNone/>
            </a:pPr>
            <a:r>
              <a:rPr lang="en-US" sz="3000" b="1" dirty="0">
                <a:solidFill>
                  <a:srgbClr val="2B2118"/>
                </a:solidFill>
                <a:latin typeface="Georgia" pitchFamily="34" charset="0"/>
                <a:ea typeface="Georgia" pitchFamily="34" charset="-122"/>
                <a:cs typeface="Georgia" pitchFamily="34" charset="-120"/>
              </a:rPr>
              <a:t>«I due saranno una sola carne»</a:t>
            </a:r>
            <a:endParaRPr lang="en-US" sz="3000" dirty="0"/>
          </a:p>
        </p:txBody>
      </p:sp>
      <p:sp>
        <p:nvSpPr>
          <p:cNvPr id="4" name="Shape 2"/>
          <p:cNvSpPr/>
          <p:nvPr/>
        </p:nvSpPr>
        <p:spPr>
          <a:xfrm>
            <a:off x="1097280" y="2194560"/>
            <a:ext cx="2651760" cy="2651760"/>
          </a:xfrm>
          <a:prstGeom prst="ellipse">
            <a:avLst/>
          </a:prstGeom>
          <a:solidFill>
            <a:srgbClr val="B0492B">
              <a:alpha val="58000"/>
            </a:srgbClr>
          </a:solidFill>
          <a:ln w="19050">
            <a:solidFill>
              <a:srgbClr val="B0492B"/>
            </a:solidFill>
            <a:prstDash val="solid"/>
          </a:ln>
        </p:spPr>
      </p:sp>
      <p:sp>
        <p:nvSpPr>
          <p:cNvPr id="5" name="Shape 3"/>
          <p:cNvSpPr/>
          <p:nvPr/>
        </p:nvSpPr>
        <p:spPr>
          <a:xfrm>
            <a:off x="2468880" y="2194560"/>
            <a:ext cx="2651760" cy="2651760"/>
          </a:xfrm>
          <a:prstGeom prst="ellipse">
            <a:avLst/>
          </a:prstGeom>
          <a:solidFill>
            <a:srgbClr val="C68A3E">
              <a:alpha val="58000"/>
            </a:srgbClr>
          </a:solidFill>
          <a:ln w="19050">
            <a:solidFill>
              <a:srgbClr val="C68A3E"/>
            </a:solidFill>
            <a:prstDash val="solid"/>
          </a:ln>
        </p:spPr>
      </p:sp>
      <p:pic>
        <p:nvPicPr>
          <p:cNvPr id="6" name="Image 0" descr="assets/basar_terra.png">    </p:cNvPr>
          <p:cNvPicPr>
            <a:picLocks noChangeAspect="1"/>
          </p:cNvPicPr>
          <p:nvPr/>
        </p:nvPicPr>
        <p:blipFill>
          <a:blip r:embed="rId1"/>
          <a:stretch>
            <a:fillRect/>
          </a:stretch>
        </p:blipFill>
        <p:spPr>
          <a:xfrm>
            <a:off x="2225425" y="5074920"/>
            <a:ext cx="1767071" cy="548640"/>
          </a:xfrm>
          <a:prstGeom prst="rect">
            <a:avLst/>
          </a:prstGeom>
        </p:spPr>
      </p:pic>
      <p:sp>
        <p:nvSpPr>
          <p:cNvPr id="7" name="Text 4"/>
          <p:cNvSpPr/>
          <p:nvPr/>
        </p:nvSpPr>
        <p:spPr>
          <a:xfrm>
            <a:off x="1280160" y="5669280"/>
            <a:ext cx="3657600" cy="320040"/>
          </a:xfrm>
          <a:prstGeom prst="rect">
            <a:avLst/>
          </a:prstGeom>
          <a:noFill/>
          <a:ln/>
        </p:spPr>
        <p:txBody>
          <a:bodyPr wrap="square" lIns="0" tIns="0" rIns="0" bIns="0" rtlCol="0" anchor="ctr"/>
          <a:lstStyle/>
          <a:p>
            <a:pPr algn="ctr" indent="0" marL="0">
              <a:buNone/>
            </a:pPr>
            <a:r>
              <a:rPr lang="en-US" sz="1250" i="1" dirty="0">
                <a:solidFill>
                  <a:srgbClr val="8A7A6B"/>
                </a:solidFill>
                <a:latin typeface="Calibri" pitchFamily="34" charset="0"/>
                <a:ea typeface="Calibri" pitchFamily="34" charset="-122"/>
                <a:cs typeface="Calibri" pitchFamily="34" charset="-120"/>
              </a:rPr>
              <a:t>basar echàd</a:t>
            </a:r>
            <a:endParaRPr lang="en-US" sz="1250" dirty="0"/>
          </a:p>
        </p:txBody>
      </p:sp>
      <p:sp>
        <p:nvSpPr>
          <p:cNvPr id="8" name="Text 5"/>
          <p:cNvSpPr/>
          <p:nvPr/>
        </p:nvSpPr>
        <p:spPr>
          <a:xfrm>
            <a:off x="5852160" y="2240280"/>
            <a:ext cx="5760720" cy="548640"/>
          </a:xfrm>
          <a:prstGeom prst="rect">
            <a:avLst/>
          </a:prstGeom>
          <a:noFill/>
          <a:ln/>
        </p:spPr>
        <p:txBody>
          <a:bodyPr wrap="square" lIns="0" tIns="0" rIns="0" bIns="0" rtlCol="0" anchor="t"/>
          <a:lstStyle/>
          <a:p>
            <a:pPr indent="0" marL="0">
              <a:buNone/>
            </a:pPr>
            <a:r>
              <a:rPr lang="en-US" sz="2200" dirty="0">
                <a:solidFill>
                  <a:srgbClr val="2B2118"/>
                </a:solidFill>
                <a:latin typeface="Georgia" pitchFamily="34" charset="0"/>
                <a:ea typeface="Georgia" pitchFamily="34" charset="-122"/>
                <a:cs typeface="Georgia" pitchFamily="34" charset="-120"/>
              </a:rPr>
              <a:t>Il senso della differenza è la </a:t>
            </a:r>
            <a:pPr indent="0" marL="0">
              <a:buNone/>
            </a:pPr>
            <a:r>
              <a:rPr lang="en-US" sz="2200" b="1" dirty="0">
                <a:solidFill>
                  <a:srgbClr val="8A3620"/>
                </a:solidFill>
                <a:latin typeface="Georgia" pitchFamily="34" charset="0"/>
                <a:ea typeface="Georgia" pitchFamily="34" charset="-122"/>
                <a:cs typeface="Georgia" pitchFamily="34" charset="-120"/>
              </a:rPr>
              <a:t>comunione</a:t>
            </a:r>
            <a:pPr indent="0" marL="0">
              <a:buNone/>
            </a:pPr>
            <a:r>
              <a:rPr lang="en-US" sz="2200" dirty="0">
                <a:solidFill>
                  <a:srgbClr val="2B2118"/>
                </a:solidFill>
                <a:latin typeface="Georgia" pitchFamily="34" charset="0"/>
                <a:ea typeface="Georgia" pitchFamily="34" charset="-122"/>
                <a:cs typeface="Georgia" pitchFamily="34" charset="-120"/>
              </a:rPr>
              <a:t>.</a:t>
            </a:r>
            <a:endParaRPr lang="en-US" sz="2200" dirty="0"/>
          </a:p>
        </p:txBody>
      </p:sp>
      <p:sp>
        <p:nvSpPr>
          <p:cNvPr id="9" name="Text 6"/>
          <p:cNvSpPr/>
          <p:nvPr/>
        </p:nvSpPr>
        <p:spPr>
          <a:xfrm>
            <a:off x="5852160" y="2926080"/>
            <a:ext cx="5760720" cy="1188720"/>
          </a:xfrm>
          <a:prstGeom prst="rect">
            <a:avLst/>
          </a:prstGeom>
          <a:noFill/>
          <a:ln/>
        </p:spPr>
        <p:txBody>
          <a:bodyPr wrap="square" lIns="0" tIns="0" rIns="0" bIns="0" rtlCol="0" anchor="t"/>
          <a:lstStyle/>
          <a:p>
            <a:pPr indent="0" marL="0">
              <a:lnSpc>
                <a:spcPct val="115000"/>
              </a:lnSpc>
              <a:buNone/>
            </a:pPr>
            <a:r>
              <a:rPr lang="en-US" sz="1500" dirty="0">
                <a:solidFill>
                  <a:srgbClr val="2B2118"/>
                </a:solidFill>
                <a:latin typeface="Calibri" pitchFamily="34" charset="0"/>
                <a:ea typeface="Calibri" pitchFamily="34" charset="-122"/>
                <a:cs typeface="Calibri" pitchFamily="34" charset="-120"/>
              </a:rPr>
              <a:t>Due che </a:t>
            </a:r>
            <a:pPr indent="0" marL="0">
              <a:lnSpc>
                <a:spcPct val="115000"/>
              </a:lnSpc>
              <a:buNone/>
            </a:pPr>
            <a:r>
              <a:rPr lang="en-US" sz="1500" b="1" dirty="0">
                <a:solidFill>
                  <a:srgbClr val="2B2118"/>
                </a:solidFill>
                <a:latin typeface="Calibri" pitchFamily="34" charset="0"/>
                <a:ea typeface="Calibri" pitchFamily="34" charset="-122"/>
                <a:cs typeface="Calibri" pitchFamily="34" charset="-120"/>
              </a:rPr>
              <a:t>restano due</a:t>
            </a:r>
            <a:pPr indent="0" marL="0">
              <a:lnSpc>
                <a:spcPct val="115000"/>
              </a:lnSpc>
              <a:buNone/>
            </a:pPr>
            <a:r>
              <a:rPr lang="en-US" sz="1500" dirty="0">
                <a:solidFill>
                  <a:srgbClr val="2B2118"/>
                </a:solidFill>
                <a:latin typeface="Calibri" pitchFamily="34" charset="0"/>
                <a:ea typeface="Calibri" pitchFamily="34" charset="-122"/>
                <a:cs typeface="Calibri" pitchFamily="34" charset="-120"/>
              </a:rPr>
              <a:t> e diventano «uno».</a:t>
            </a:r>
            <a:pPr indent="0" marL="0">
              <a:lnSpc>
                <a:spcPct val="115000"/>
              </a:lnSpc>
              <a:buNone/>
            </a:pPr>
            <a:r>
              <a:rPr lang="en-US" sz="1500" dirty="0">
                <a:solidFill>
                  <a:srgbClr val="2B2118"/>
                </a:solidFill>
                <a:latin typeface="Calibri" pitchFamily="34" charset="0"/>
                <a:ea typeface="Calibri" pitchFamily="34" charset="-122"/>
                <a:cs typeface="Calibri" pitchFamily="34" charset="-120"/>
              </a:rPr>
              <a:t>  Non una fusione che cancella le differenze, ma un'unità che le presuppone.</a:t>
            </a:r>
            <a:endParaRPr lang="en-US" sz="1500" dirty="0"/>
          </a:p>
        </p:txBody>
      </p:sp>
      <p:sp>
        <p:nvSpPr>
          <p:cNvPr id="10" name="Shape 7"/>
          <p:cNvSpPr/>
          <p:nvPr/>
        </p:nvSpPr>
        <p:spPr>
          <a:xfrm>
            <a:off x="5852160" y="4251960"/>
            <a:ext cx="5760720" cy="1280160"/>
          </a:xfrm>
          <a:prstGeom prst="rect">
            <a:avLst/>
          </a:prstGeom>
          <a:solidFill>
            <a:srgbClr val="F5EEE4"/>
          </a:solidFill>
          <a:ln/>
        </p:spPr>
      </p:sp>
      <p:sp>
        <p:nvSpPr>
          <p:cNvPr id="11" name="Shape 8"/>
          <p:cNvSpPr/>
          <p:nvPr/>
        </p:nvSpPr>
        <p:spPr>
          <a:xfrm>
            <a:off x="5852160" y="4251960"/>
            <a:ext cx="73152" cy="1280160"/>
          </a:xfrm>
          <a:prstGeom prst="rect">
            <a:avLst/>
          </a:prstGeom>
          <a:solidFill>
            <a:srgbClr val="B0492B"/>
          </a:solidFill>
          <a:ln/>
        </p:spPr>
      </p:sp>
      <p:pic>
        <p:nvPicPr>
          <p:cNvPr id="12" name="Image 1" descr="assets/ic_hand_terra.png">    </p:cNvPr>
          <p:cNvPicPr>
            <a:picLocks noChangeAspect="1"/>
          </p:cNvPicPr>
          <p:nvPr/>
        </p:nvPicPr>
        <p:blipFill>
          <a:blip r:embed="rId2"/>
          <a:stretch>
            <a:fillRect/>
          </a:stretch>
        </p:blipFill>
        <p:spPr>
          <a:xfrm>
            <a:off x="6126480" y="4498848"/>
            <a:ext cx="457200" cy="457200"/>
          </a:xfrm>
          <a:prstGeom prst="rect">
            <a:avLst/>
          </a:prstGeom>
        </p:spPr>
      </p:pic>
      <p:sp>
        <p:nvSpPr>
          <p:cNvPr id="13" name="Text 9"/>
          <p:cNvSpPr/>
          <p:nvPr/>
        </p:nvSpPr>
        <p:spPr>
          <a:xfrm>
            <a:off x="6812280" y="4434840"/>
            <a:ext cx="4572000" cy="960120"/>
          </a:xfrm>
          <a:prstGeom prst="rect">
            <a:avLst/>
          </a:prstGeom>
          <a:noFill/>
          <a:ln/>
        </p:spPr>
        <p:txBody>
          <a:bodyPr wrap="square" lIns="0" tIns="0" rIns="0" bIns="0" rtlCol="0" anchor="ctr"/>
          <a:lstStyle/>
          <a:p>
            <a:pPr indent="0" marL="0">
              <a:lnSpc>
                <a:spcPct val="110000"/>
              </a:lnSpc>
              <a:spcAft>
                <a:spcPts val="400"/>
              </a:spcAft>
              <a:buNone/>
            </a:pPr>
            <a:r>
              <a:rPr lang="en-US" sz="1350" b="1" dirty="0">
                <a:solidFill>
                  <a:srgbClr val="8A3620"/>
                </a:solidFill>
                <a:latin typeface="Calibri" pitchFamily="34" charset="0"/>
                <a:ea typeface="Calibri" pitchFamily="34" charset="-122"/>
                <a:cs typeface="Calibri" pitchFamily="34" charset="-120"/>
              </a:rPr>
              <a:t>«Comunione di persone»</a:t>
            </a:r>
            <a:endParaRPr lang="en-US" sz="1350" dirty="0"/>
          </a:p>
          <a:p>
            <a:pPr indent="0" marL="0">
              <a:lnSpc>
                <a:spcPct val="110000"/>
              </a:lnSpc>
              <a:buNone/>
            </a:pPr>
            <a:r>
              <a:rPr lang="en-US" sz="1350" dirty="0">
                <a:solidFill>
                  <a:srgbClr val="2B2118"/>
                </a:solidFill>
                <a:latin typeface="Calibri" pitchFamily="34" charset="0"/>
                <a:ea typeface="Calibri" pitchFamily="34" charset="-122"/>
                <a:cs typeface="Calibri" pitchFamily="34" charset="-120"/>
              </a:rPr>
              <a:t>Una visione relazionale dell'essere umano: ci si compie nel rapporto con l'altro.</a:t>
            </a:r>
            <a:endParaRPr lang="en-US" sz="1350" dirty="0"/>
          </a:p>
        </p:txBody>
      </p:sp>
      <p:sp>
        <p:nvSpPr>
          <p:cNvPr id="14" name="Text 10"/>
          <p:cNvSpPr/>
          <p:nvPr/>
        </p:nvSpPr>
        <p:spPr>
          <a:xfrm>
            <a:off x="502920" y="6437376"/>
            <a:ext cx="4572000" cy="274320"/>
          </a:xfrm>
          <a:prstGeom prst="rect">
            <a:avLst/>
          </a:prstGeom>
          <a:noFill/>
          <a:ln/>
        </p:spPr>
        <p:txBody>
          <a:bodyPr wrap="square" lIns="0" tIns="0" rIns="0" bIns="0" rtlCol="0" anchor="ctr"/>
          <a:lstStyle/>
          <a:p>
            <a:pPr algn="l" indent="0" marL="0">
              <a:buNone/>
            </a:pPr>
            <a:r>
              <a:rPr lang="en-US" sz="900" dirty="0">
                <a:solidFill>
                  <a:srgbClr val="8A7A6B"/>
                </a:solidFill>
                <a:latin typeface="Calibri" pitchFamily="34" charset="0"/>
                <a:ea typeface="Calibri" pitchFamily="34" charset="-122"/>
                <a:cs typeface="Calibri" pitchFamily="34" charset="-120"/>
              </a:rPr>
              <a:t>IRC · Liceo Scientifico</a:t>
            </a:r>
            <a:endParaRPr lang="en-US" sz="900" dirty="0"/>
          </a:p>
        </p:txBody>
      </p:sp>
      <p:sp>
        <p:nvSpPr>
          <p:cNvPr id="15" name="Text 11"/>
          <p:cNvSpPr/>
          <p:nvPr/>
        </p:nvSpPr>
        <p:spPr>
          <a:xfrm>
            <a:off x="7116775" y="6437376"/>
            <a:ext cx="4572000" cy="274320"/>
          </a:xfrm>
          <a:prstGeom prst="rect">
            <a:avLst/>
          </a:prstGeom>
          <a:noFill/>
          <a:ln/>
        </p:spPr>
        <p:txBody>
          <a:bodyPr wrap="square" lIns="0" tIns="0" rIns="0" bIns="0" rtlCol="0" anchor="ctr"/>
          <a:lstStyle/>
          <a:p>
            <a:pPr algn="r" indent="0" marL="0">
              <a:buNone/>
            </a:pPr>
            <a:r>
              <a:rPr lang="en-US" sz="900" dirty="0">
                <a:solidFill>
                  <a:srgbClr val="8A7A6B"/>
                </a:solidFill>
                <a:latin typeface="Calibri" pitchFamily="34" charset="0"/>
                <a:ea typeface="Calibri" pitchFamily="34" charset="-122"/>
                <a:cs typeface="Calibri" pitchFamily="34" charset="-120"/>
              </a:rPr>
              <a:t>Una sola carne   ·   </a:t>
            </a:r>
            <a:pPr algn="r" indent="0" marL="0">
              <a:buNone/>
            </a:pPr>
            <a:r>
              <a:rPr lang="en-US" sz="900" b="1" dirty="0">
                <a:solidFill>
                  <a:srgbClr val="B0492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lIns="0" tIns="0" rIns="0" bIns="0" rtlCol="0" anchor="ctr"/>
          <a:lstStyle/>
          <a:p>
            <a:pPr algn="l" indent="0" marL="0">
              <a:buNone/>
            </a:pPr>
            <a:r>
              <a:rPr lang="en-US" sz="1150" b="1" spc="300" kern="0" dirty="0">
                <a:solidFill>
                  <a:srgbClr val="B0492B"/>
                </a:solidFill>
                <a:latin typeface="Calibri" pitchFamily="34" charset="0"/>
                <a:ea typeface="Calibri" pitchFamily="34" charset="-122"/>
                <a:cs typeface="Calibri" pitchFamily="34" charset="-120"/>
              </a:rPr>
              <a:t>STORIA DELLE INTERPRETAZIONI</a:t>
            </a:r>
            <a:endParaRPr lang="en-US" sz="1150" dirty="0"/>
          </a:p>
        </p:txBody>
      </p:sp>
      <p:sp>
        <p:nvSpPr>
          <p:cNvPr id="3" name="Text 1"/>
          <p:cNvSpPr/>
          <p:nvPr/>
        </p:nvSpPr>
        <p:spPr>
          <a:xfrm>
            <a:off x="502920" y="777240"/>
            <a:ext cx="10972800" cy="640080"/>
          </a:xfrm>
          <a:prstGeom prst="rect">
            <a:avLst/>
          </a:prstGeom>
          <a:noFill/>
          <a:ln/>
        </p:spPr>
        <p:txBody>
          <a:bodyPr wrap="square" lIns="0" tIns="0" rIns="0" bIns="0" rtlCol="0" anchor="ctr"/>
          <a:lstStyle/>
          <a:p>
            <a:pPr indent="0" marL="0">
              <a:buNone/>
            </a:pPr>
            <a:r>
              <a:rPr lang="en-US" sz="3000" b="1" dirty="0">
                <a:solidFill>
                  <a:srgbClr val="2B2118"/>
                </a:solidFill>
                <a:latin typeface="Georgia" pitchFamily="34" charset="0"/>
                <a:ea typeface="Georgia" pitchFamily="34" charset="-122"/>
                <a:cs typeface="Georgia" pitchFamily="34" charset="-120"/>
              </a:rPr>
              <a:t>Letture nella storia: luci e ombre</a:t>
            </a:r>
            <a:endParaRPr lang="en-US" sz="3000" dirty="0"/>
          </a:p>
        </p:txBody>
      </p:sp>
      <p:sp>
        <p:nvSpPr>
          <p:cNvPr id="4" name="Shape 2"/>
          <p:cNvSpPr/>
          <p:nvPr/>
        </p:nvSpPr>
        <p:spPr>
          <a:xfrm>
            <a:off x="548640" y="1783080"/>
            <a:ext cx="5349240" cy="2331720"/>
          </a:xfrm>
          <a:prstGeom prst="rect">
            <a:avLst/>
          </a:prstGeom>
          <a:solidFill>
            <a:srgbClr val="FBF6EF"/>
          </a:solidFill>
          <a:ln/>
          <a:effectLst>
            <a:outerShdw sx="100000" sy="100000" kx="0" ky="0" algn="bl" rotWithShape="0" blurRad="127000" dist="25400" dir="5400000">
              <a:srgbClr val="000000">
                <a:alpha val="10000"/>
              </a:srgbClr>
            </a:outerShdw>
          </a:effectLst>
        </p:spPr>
      </p:sp>
      <p:sp>
        <p:nvSpPr>
          <p:cNvPr id="5" name="Text 3"/>
          <p:cNvSpPr/>
          <p:nvPr/>
        </p:nvSpPr>
        <p:spPr>
          <a:xfrm>
            <a:off x="868680" y="1993392"/>
            <a:ext cx="4572000" cy="365760"/>
          </a:xfrm>
          <a:prstGeom prst="rect">
            <a:avLst/>
          </a:prstGeom>
          <a:noFill/>
          <a:ln/>
        </p:spPr>
        <p:txBody>
          <a:bodyPr wrap="square" lIns="0" tIns="0" rIns="0" bIns="0" rtlCol="0" anchor="ctr"/>
          <a:lstStyle/>
          <a:p>
            <a:pPr indent="0" marL="0">
              <a:buNone/>
            </a:pPr>
            <a:r>
              <a:rPr lang="en-US" sz="1200" b="1" spc="200" kern="0" dirty="0">
                <a:solidFill>
                  <a:srgbClr val="8A7A6B"/>
                </a:solidFill>
                <a:latin typeface="Calibri" pitchFamily="34" charset="0"/>
                <a:ea typeface="Calibri" pitchFamily="34" charset="-122"/>
                <a:cs typeface="Calibri" pitchFamily="34" charset="-120"/>
              </a:rPr>
              <a:t>LE OMBRE</a:t>
            </a:r>
            <a:endParaRPr lang="en-US" sz="1200" dirty="0"/>
          </a:p>
        </p:txBody>
      </p:sp>
      <p:sp>
        <p:nvSpPr>
          <p:cNvPr id="6" name="Text 4"/>
          <p:cNvSpPr/>
          <p:nvPr/>
        </p:nvSpPr>
        <p:spPr>
          <a:xfrm>
            <a:off x="868680" y="2286000"/>
            <a:ext cx="4709160" cy="548640"/>
          </a:xfrm>
          <a:prstGeom prst="rect">
            <a:avLst/>
          </a:prstGeom>
          <a:noFill/>
          <a:ln/>
        </p:spPr>
        <p:txBody>
          <a:bodyPr wrap="square" lIns="0" tIns="0" rIns="0" bIns="0" rtlCol="0" anchor="ctr"/>
          <a:lstStyle/>
          <a:p>
            <a:pPr indent="0" marL="0">
              <a:buNone/>
            </a:pPr>
            <a:r>
              <a:rPr lang="en-US" sz="1650" b="1" dirty="0">
                <a:solidFill>
                  <a:srgbClr val="2B2118"/>
                </a:solidFill>
                <a:latin typeface="Georgia" pitchFamily="34" charset="0"/>
                <a:ea typeface="Georgia" pitchFamily="34" charset="-122"/>
                <a:cs typeface="Georgia" pitchFamily="34" charset="-120"/>
              </a:rPr>
              <a:t>Letture che hanno deformato il testo</a:t>
            </a:r>
            <a:endParaRPr lang="en-US" sz="1650" dirty="0"/>
          </a:p>
        </p:txBody>
      </p:sp>
      <p:sp>
        <p:nvSpPr>
          <p:cNvPr id="7" name="Text 5"/>
          <p:cNvSpPr/>
          <p:nvPr/>
        </p:nvSpPr>
        <p:spPr>
          <a:xfrm>
            <a:off x="868680" y="2880360"/>
            <a:ext cx="4709160" cy="1097280"/>
          </a:xfrm>
          <a:prstGeom prst="rect">
            <a:avLst/>
          </a:prstGeom>
          <a:noFill/>
          <a:ln/>
        </p:spPr>
        <p:txBody>
          <a:bodyPr wrap="square" lIns="0" tIns="0" rIns="0" bIns="0" rtlCol="0" anchor="t"/>
          <a:lstStyle/>
          <a:p>
            <a:pPr indent="0" marL="0">
              <a:lnSpc>
                <a:spcPct val="112000"/>
              </a:lnSpc>
              <a:spcAft>
                <a:spcPts val="600"/>
              </a:spcAft>
              <a:buNone/>
            </a:pPr>
            <a:r>
              <a:rPr lang="en-US" sz="1350" dirty="0">
                <a:solidFill>
                  <a:srgbClr val="2B2118"/>
                </a:solidFill>
                <a:latin typeface="Calibri" pitchFamily="34" charset="0"/>
                <a:ea typeface="Calibri" pitchFamily="34" charset="-122"/>
                <a:cs typeface="Calibri" pitchFamily="34" charset="-120"/>
              </a:rPr>
              <a:t>Per secoli usato per giustificare la subordinazione della donna:</a:t>
            </a:r>
            <a:endParaRPr lang="en-US" sz="1350" dirty="0"/>
          </a:p>
          <a:p>
            <a:pPr indent="0" marL="0">
              <a:lnSpc>
                <a:spcPct val="112000"/>
              </a:lnSpc>
              <a:buNone/>
            </a:pPr>
            <a:r>
              <a:rPr lang="en-US" sz="1350" i="1" dirty="0">
                <a:solidFill>
                  <a:srgbClr val="7A4A3A"/>
                </a:solidFill>
                <a:latin typeface="Calibri" pitchFamily="34" charset="0"/>
                <a:ea typeface="Calibri" pitchFamily="34" charset="-122"/>
                <a:cs typeface="Calibri" pitchFamily="34" charset="-120"/>
              </a:rPr>
              <a:t>«nata dopo», «dalla costola», «fatta per l'uomo».</a:t>
            </a:r>
            <a:endParaRPr lang="en-US" sz="1350" dirty="0"/>
          </a:p>
        </p:txBody>
      </p:sp>
      <p:sp>
        <p:nvSpPr>
          <p:cNvPr id="8" name="Shape 6"/>
          <p:cNvSpPr/>
          <p:nvPr/>
        </p:nvSpPr>
        <p:spPr>
          <a:xfrm>
            <a:off x="6263640" y="1783080"/>
            <a:ext cx="5349240" cy="2331720"/>
          </a:xfrm>
          <a:prstGeom prst="rect">
            <a:avLst/>
          </a:prstGeom>
          <a:solidFill>
            <a:srgbClr val="F5EEE4"/>
          </a:solidFill>
          <a:ln/>
          <a:effectLst>
            <a:outerShdw sx="100000" sy="100000" kx="0" ky="0" algn="bl" rotWithShape="0" blurRad="127000" dist="25400" dir="5400000">
              <a:srgbClr val="000000">
                <a:alpha val="10000"/>
              </a:srgbClr>
            </a:outerShdw>
          </a:effectLst>
        </p:spPr>
      </p:sp>
      <p:sp>
        <p:nvSpPr>
          <p:cNvPr id="9" name="Shape 7"/>
          <p:cNvSpPr/>
          <p:nvPr/>
        </p:nvSpPr>
        <p:spPr>
          <a:xfrm>
            <a:off x="6263640" y="1783080"/>
            <a:ext cx="5349240" cy="109728"/>
          </a:xfrm>
          <a:prstGeom prst="rect">
            <a:avLst/>
          </a:prstGeom>
          <a:solidFill>
            <a:srgbClr val="B0492B"/>
          </a:solidFill>
          <a:ln/>
        </p:spPr>
      </p:sp>
      <p:sp>
        <p:nvSpPr>
          <p:cNvPr id="10" name="Text 8"/>
          <p:cNvSpPr/>
          <p:nvPr/>
        </p:nvSpPr>
        <p:spPr>
          <a:xfrm>
            <a:off x="6583680" y="2057400"/>
            <a:ext cx="4572000" cy="365760"/>
          </a:xfrm>
          <a:prstGeom prst="rect">
            <a:avLst/>
          </a:prstGeom>
          <a:noFill/>
          <a:ln/>
        </p:spPr>
        <p:txBody>
          <a:bodyPr wrap="square" lIns="0" tIns="0" rIns="0" bIns="0" rtlCol="0" anchor="ctr"/>
          <a:lstStyle/>
          <a:p>
            <a:pPr indent="0" marL="0">
              <a:buNone/>
            </a:pPr>
            <a:r>
              <a:rPr lang="en-US" sz="1200" b="1" spc="200" kern="0" dirty="0">
                <a:solidFill>
                  <a:srgbClr val="B0492B"/>
                </a:solidFill>
                <a:latin typeface="Calibri" pitchFamily="34" charset="0"/>
                <a:ea typeface="Calibri" pitchFamily="34" charset="-122"/>
                <a:cs typeface="Calibri" pitchFamily="34" charset="-120"/>
              </a:rPr>
              <a:t>LE LUCI</a:t>
            </a:r>
            <a:endParaRPr lang="en-US" sz="1200" dirty="0"/>
          </a:p>
        </p:txBody>
      </p:sp>
      <p:sp>
        <p:nvSpPr>
          <p:cNvPr id="11" name="Text 9"/>
          <p:cNvSpPr/>
          <p:nvPr/>
        </p:nvSpPr>
        <p:spPr>
          <a:xfrm>
            <a:off x="6583680" y="2350008"/>
            <a:ext cx="4709160" cy="548640"/>
          </a:xfrm>
          <a:prstGeom prst="rect">
            <a:avLst/>
          </a:prstGeom>
          <a:noFill/>
          <a:ln/>
        </p:spPr>
        <p:txBody>
          <a:bodyPr wrap="square" lIns="0" tIns="0" rIns="0" bIns="0" rtlCol="0" anchor="ctr"/>
          <a:lstStyle/>
          <a:p>
            <a:pPr indent="0" marL="0">
              <a:buNone/>
            </a:pPr>
            <a:r>
              <a:rPr lang="en-US" sz="1650" b="1" dirty="0">
                <a:solidFill>
                  <a:srgbClr val="2B2118"/>
                </a:solidFill>
                <a:latin typeface="Georgia" pitchFamily="34" charset="0"/>
                <a:ea typeface="Georgia" pitchFamily="34" charset="-122"/>
                <a:cs typeface="Georgia" pitchFamily="34" charset="-120"/>
              </a:rPr>
              <a:t>Che cosa dice davvero l'ebraico</a:t>
            </a:r>
            <a:endParaRPr lang="en-US" sz="1650" dirty="0"/>
          </a:p>
        </p:txBody>
      </p:sp>
      <p:sp>
        <p:nvSpPr>
          <p:cNvPr id="12" name="Text 10"/>
          <p:cNvSpPr/>
          <p:nvPr/>
        </p:nvSpPr>
        <p:spPr>
          <a:xfrm>
            <a:off x="6583680" y="2944368"/>
            <a:ext cx="4709160" cy="1097280"/>
          </a:xfrm>
          <a:prstGeom prst="rect">
            <a:avLst/>
          </a:prstGeom>
          <a:noFill/>
          <a:ln/>
        </p:spPr>
        <p:txBody>
          <a:bodyPr wrap="square" lIns="0" tIns="0" rIns="0" bIns="0" rtlCol="0" anchor="t"/>
          <a:lstStyle/>
          <a:p>
            <a:pPr indent="0" marL="0">
              <a:lnSpc>
                <a:spcPct val="112000"/>
              </a:lnSpc>
              <a:spcAft>
                <a:spcPts val="600"/>
              </a:spcAft>
              <a:buNone/>
            </a:pPr>
            <a:r>
              <a:rPr lang="en-US" sz="1350" i="1" dirty="0">
                <a:solidFill>
                  <a:srgbClr val="8A3620"/>
                </a:solidFill>
                <a:latin typeface="Calibri" pitchFamily="34" charset="0"/>
                <a:ea typeface="Calibri" pitchFamily="34" charset="-122"/>
                <a:cs typeface="Calibri" pitchFamily="34" charset="-120"/>
              </a:rPr>
              <a:t>adam non-maschile · ezer kenegdo · tzela come «fianco» · ish/ishà gemelli.</a:t>
            </a:r>
            <a:endParaRPr lang="en-US" sz="1350" dirty="0"/>
          </a:p>
          <a:p>
            <a:pPr indent="0" marL="0">
              <a:lnSpc>
                <a:spcPct val="112000"/>
              </a:lnSpc>
              <a:buNone/>
            </a:pPr>
            <a:r>
              <a:rPr lang="en-US" sz="1350" b="1" dirty="0">
                <a:solidFill>
                  <a:srgbClr val="2B2118"/>
                </a:solidFill>
                <a:latin typeface="Calibri" pitchFamily="34" charset="0"/>
                <a:ea typeface="Calibri" pitchFamily="34" charset="-122"/>
                <a:cs typeface="Calibri" pitchFamily="34" charset="-120"/>
              </a:rPr>
              <a:t>Il testo dice pari dignità.</a:t>
            </a:r>
            <a:endParaRPr lang="en-US" sz="1350" dirty="0"/>
          </a:p>
        </p:txBody>
      </p:sp>
      <p:sp>
        <p:nvSpPr>
          <p:cNvPr id="13" name="Shape 11"/>
          <p:cNvSpPr/>
          <p:nvPr/>
        </p:nvSpPr>
        <p:spPr>
          <a:xfrm>
            <a:off x="548640" y="4297680"/>
            <a:ext cx="11064240" cy="777240"/>
          </a:xfrm>
          <a:prstGeom prst="rect">
            <a:avLst/>
          </a:prstGeom>
          <a:solidFill>
            <a:srgbClr val="33211A"/>
          </a:solidFill>
          <a:ln/>
        </p:spPr>
      </p:sp>
      <p:pic>
        <p:nvPicPr>
          <p:cNvPr id="14" name="Image 0" descr="assets/ic_bulb_gold.png">    </p:cNvPr>
          <p:cNvPicPr>
            <a:picLocks noChangeAspect="1"/>
          </p:cNvPicPr>
          <p:nvPr/>
        </p:nvPicPr>
        <p:blipFill>
          <a:blip r:embed="rId1"/>
          <a:stretch>
            <a:fillRect/>
          </a:stretch>
        </p:blipFill>
        <p:spPr>
          <a:xfrm>
            <a:off x="822960" y="4480560"/>
            <a:ext cx="411480" cy="411480"/>
          </a:xfrm>
          <a:prstGeom prst="rect">
            <a:avLst/>
          </a:prstGeom>
        </p:spPr>
      </p:pic>
      <p:sp>
        <p:nvSpPr>
          <p:cNvPr id="15" name="Text 12"/>
          <p:cNvSpPr/>
          <p:nvPr/>
        </p:nvSpPr>
        <p:spPr>
          <a:xfrm>
            <a:off x="1463040" y="4297680"/>
            <a:ext cx="9875520" cy="777240"/>
          </a:xfrm>
          <a:prstGeom prst="rect">
            <a:avLst/>
          </a:prstGeom>
          <a:noFill/>
          <a:ln/>
        </p:spPr>
        <p:txBody>
          <a:bodyPr wrap="square" lIns="0" tIns="0" rIns="0" bIns="0" rtlCol="0" anchor="ctr"/>
          <a:lstStyle/>
          <a:p>
            <a:pPr indent="0" marL="0">
              <a:buNone/>
            </a:pPr>
            <a:r>
              <a:rPr lang="en-US" sz="1400" b="1" dirty="0">
                <a:solidFill>
                  <a:srgbClr val="D8A24A"/>
                </a:solidFill>
                <a:latin typeface="Calibri" pitchFamily="34" charset="0"/>
                <a:ea typeface="Calibri" pitchFamily="34" charset="-122"/>
                <a:cs typeface="Calibri" pitchFamily="34" charset="-120"/>
              </a:rPr>
              <a:t>Metodo: </a:t>
            </a:r>
            <a:pPr indent="0" marL="0">
              <a:buNone/>
            </a:pPr>
            <a:r>
              <a:rPr lang="en-US" sz="1400" dirty="0">
                <a:solidFill>
                  <a:srgbClr val="F5EFE8"/>
                </a:solidFill>
                <a:latin typeface="Calibri" pitchFamily="34" charset="0"/>
                <a:ea typeface="Calibri" pitchFamily="34" charset="-122"/>
                <a:cs typeface="Calibri" pitchFamily="34" charset="-120"/>
              </a:rPr>
              <a:t>una cosa è il testo, un'altra le sue interpretazioni. Leggere bene le fonti smonta molti pregiudizi.</a:t>
            </a:r>
            <a:endParaRPr lang="en-US" sz="1400" dirty="0"/>
          </a:p>
        </p:txBody>
      </p:sp>
      <p:sp>
        <p:nvSpPr>
          <p:cNvPr id="16" name="Shape 13"/>
          <p:cNvSpPr/>
          <p:nvPr/>
        </p:nvSpPr>
        <p:spPr>
          <a:xfrm>
            <a:off x="548640" y="5257800"/>
            <a:ext cx="11064240" cy="822960"/>
          </a:xfrm>
          <a:prstGeom prst="rect">
            <a:avLst/>
          </a:prstGeom>
          <a:solidFill>
            <a:srgbClr val="F5EEE4"/>
          </a:solidFill>
          <a:ln/>
        </p:spPr>
      </p:sp>
      <p:sp>
        <p:nvSpPr>
          <p:cNvPr id="17" name="Shape 14"/>
          <p:cNvSpPr/>
          <p:nvPr/>
        </p:nvSpPr>
        <p:spPr>
          <a:xfrm>
            <a:off x="548640" y="5257800"/>
            <a:ext cx="73152" cy="822960"/>
          </a:xfrm>
          <a:prstGeom prst="rect">
            <a:avLst/>
          </a:prstGeom>
          <a:solidFill>
            <a:srgbClr val="B0492B"/>
          </a:solidFill>
          <a:ln/>
        </p:spPr>
      </p:sp>
      <p:pic>
        <p:nvPicPr>
          <p:cNvPr id="18" name="Image 1" descr="assets/ic_comments_terra.png">    </p:cNvPr>
          <p:cNvPicPr>
            <a:picLocks noChangeAspect="1"/>
          </p:cNvPicPr>
          <p:nvPr/>
        </p:nvPicPr>
        <p:blipFill>
          <a:blip r:embed="rId2"/>
          <a:stretch>
            <a:fillRect/>
          </a:stretch>
        </p:blipFill>
        <p:spPr>
          <a:xfrm>
            <a:off x="822960" y="5458968"/>
            <a:ext cx="411480" cy="411480"/>
          </a:xfrm>
          <a:prstGeom prst="rect">
            <a:avLst/>
          </a:prstGeom>
        </p:spPr>
      </p:pic>
      <p:sp>
        <p:nvSpPr>
          <p:cNvPr id="19" name="Text 15"/>
          <p:cNvSpPr/>
          <p:nvPr/>
        </p:nvSpPr>
        <p:spPr>
          <a:xfrm>
            <a:off x="1463040" y="5257800"/>
            <a:ext cx="9966960" cy="822960"/>
          </a:xfrm>
          <a:prstGeom prst="rect">
            <a:avLst/>
          </a:prstGeom>
          <a:noFill/>
          <a:ln/>
        </p:spPr>
        <p:txBody>
          <a:bodyPr wrap="square" lIns="0" tIns="0" rIns="0" bIns="0" rtlCol="0" anchor="ctr"/>
          <a:lstStyle/>
          <a:p>
            <a:pPr indent="0" marL="0">
              <a:buNone/>
            </a:pPr>
            <a:r>
              <a:rPr lang="en-US" sz="1350" i="1" dirty="0">
                <a:solidFill>
                  <a:srgbClr val="2B2118"/>
                </a:solidFill>
                <a:latin typeface="Calibri" pitchFamily="34" charset="0"/>
                <a:ea typeface="Calibri" pitchFamily="34" charset="-122"/>
                <a:cs typeface="Calibri" pitchFamily="34" charset="-120"/>
              </a:rPr>
              <a:t>Domanda aperta: avete mai sentito usare «la costola di Adamo» in modo svalutante? Che cosa risponde l'ebraico?</a:t>
            </a:r>
            <a:endParaRPr lang="en-US" sz="1350" dirty="0"/>
          </a:p>
        </p:txBody>
      </p:sp>
      <p:sp>
        <p:nvSpPr>
          <p:cNvPr id="20" name="Text 16"/>
          <p:cNvSpPr/>
          <p:nvPr/>
        </p:nvSpPr>
        <p:spPr>
          <a:xfrm>
            <a:off x="502920" y="6437376"/>
            <a:ext cx="4572000" cy="274320"/>
          </a:xfrm>
          <a:prstGeom prst="rect">
            <a:avLst/>
          </a:prstGeom>
          <a:noFill/>
          <a:ln/>
        </p:spPr>
        <p:txBody>
          <a:bodyPr wrap="square" lIns="0" tIns="0" rIns="0" bIns="0" rtlCol="0" anchor="ctr"/>
          <a:lstStyle/>
          <a:p>
            <a:pPr algn="l" indent="0" marL="0">
              <a:buNone/>
            </a:pPr>
            <a:r>
              <a:rPr lang="en-US" sz="900" dirty="0">
                <a:solidFill>
                  <a:srgbClr val="8A7A6B"/>
                </a:solidFill>
                <a:latin typeface="Calibri" pitchFamily="34" charset="0"/>
                <a:ea typeface="Calibri" pitchFamily="34" charset="-122"/>
                <a:cs typeface="Calibri" pitchFamily="34" charset="-120"/>
              </a:rPr>
              <a:t>IRC · Liceo Scientifico</a:t>
            </a:r>
            <a:endParaRPr lang="en-US" sz="900" dirty="0"/>
          </a:p>
        </p:txBody>
      </p:sp>
      <p:sp>
        <p:nvSpPr>
          <p:cNvPr id="21" name="Text 17"/>
          <p:cNvSpPr/>
          <p:nvPr/>
        </p:nvSpPr>
        <p:spPr>
          <a:xfrm>
            <a:off x="7116775" y="6437376"/>
            <a:ext cx="4572000" cy="274320"/>
          </a:xfrm>
          <a:prstGeom prst="rect">
            <a:avLst/>
          </a:prstGeom>
          <a:noFill/>
          <a:ln/>
        </p:spPr>
        <p:txBody>
          <a:bodyPr wrap="square" lIns="0" tIns="0" rIns="0" bIns="0" rtlCol="0" anchor="ctr"/>
          <a:lstStyle/>
          <a:p>
            <a:pPr algn="r" indent="0" marL="0">
              <a:buNone/>
            </a:pPr>
            <a:r>
              <a:rPr lang="en-US" sz="900" dirty="0">
                <a:solidFill>
                  <a:srgbClr val="8A7A6B"/>
                </a:solidFill>
                <a:latin typeface="Calibri" pitchFamily="34" charset="0"/>
                <a:ea typeface="Calibri" pitchFamily="34" charset="-122"/>
                <a:cs typeface="Calibri" pitchFamily="34" charset="-120"/>
              </a:rPr>
              <a:t>Luci e ombre   ·   </a:t>
            </a:r>
            <a:pPr algn="r" indent="0" marL="0">
              <a:buNone/>
            </a:pPr>
            <a:r>
              <a:rPr lang="en-US" sz="900" b="1" dirty="0">
                <a:solidFill>
                  <a:srgbClr val="B0492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lIns="0" tIns="0" rIns="0" bIns="0" rtlCol="0" anchor="ctr"/>
          <a:lstStyle/>
          <a:p>
            <a:pPr algn="l" indent="0" marL="0">
              <a:buNone/>
            </a:pPr>
            <a:r>
              <a:rPr lang="en-US" sz="1150" b="1" spc="300" kern="0" dirty="0">
                <a:solidFill>
                  <a:srgbClr val="B0492B"/>
                </a:solidFill>
                <a:latin typeface="Calibri" pitchFamily="34" charset="0"/>
                <a:ea typeface="Calibri" pitchFamily="34" charset="-122"/>
                <a:cs typeface="Calibri" pitchFamily="34" charset="-120"/>
              </a:rPr>
              <a:t>ATTUALIZZAZIONE</a:t>
            </a:r>
            <a:endParaRPr lang="en-US" sz="1150" dirty="0"/>
          </a:p>
        </p:txBody>
      </p:sp>
      <p:sp>
        <p:nvSpPr>
          <p:cNvPr id="3" name="Text 1"/>
          <p:cNvSpPr/>
          <p:nvPr/>
        </p:nvSpPr>
        <p:spPr>
          <a:xfrm>
            <a:off x="502920" y="777240"/>
            <a:ext cx="10972800" cy="640080"/>
          </a:xfrm>
          <a:prstGeom prst="rect">
            <a:avLst/>
          </a:prstGeom>
          <a:noFill/>
          <a:ln/>
        </p:spPr>
        <p:txBody>
          <a:bodyPr wrap="square" lIns="0" tIns="0" rIns="0" bIns="0" rtlCol="0" anchor="ctr"/>
          <a:lstStyle/>
          <a:p>
            <a:pPr indent="0" marL="0">
              <a:buNone/>
            </a:pPr>
            <a:r>
              <a:rPr lang="en-US" sz="3000" b="1" dirty="0">
                <a:solidFill>
                  <a:srgbClr val="2B2118"/>
                </a:solidFill>
                <a:latin typeface="Georgia" pitchFamily="34" charset="0"/>
                <a:ea typeface="Georgia" pitchFamily="34" charset="-122"/>
                <a:cs typeface="Georgia" pitchFamily="34" charset="-120"/>
              </a:rPr>
              <a:t>Dal testo all'oggi</a:t>
            </a:r>
            <a:endParaRPr lang="en-US" sz="3000" dirty="0"/>
          </a:p>
        </p:txBody>
      </p:sp>
      <p:sp>
        <p:nvSpPr>
          <p:cNvPr id="4" name="Shape 2"/>
          <p:cNvSpPr/>
          <p:nvPr/>
        </p:nvSpPr>
        <p:spPr>
          <a:xfrm>
            <a:off x="548640" y="1828800"/>
            <a:ext cx="3566160" cy="2331720"/>
          </a:xfrm>
          <a:prstGeom prst="rect">
            <a:avLst/>
          </a:prstGeom>
          <a:solidFill>
            <a:srgbClr val="F5EEE4"/>
          </a:solidFill>
          <a:ln/>
          <a:effectLst>
            <a:outerShdw sx="100000" sy="100000" kx="0" ky="0" algn="bl" rotWithShape="0" blurRad="127000" dist="25400" dir="5400000">
              <a:srgbClr val="000000">
                <a:alpha val="10000"/>
              </a:srgbClr>
            </a:outerShdw>
          </a:effectLst>
        </p:spPr>
      </p:sp>
      <p:sp>
        <p:nvSpPr>
          <p:cNvPr id="5" name="Shape 3"/>
          <p:cNvSpPr/>
          <p:nvPr/>
        </p:nvSpPr>
        <p:spPr>
          <a:xfrm>
            <a:off x="841248" y="2103120"/>
            <a:ext cx="502920" cy="502920"/>
          </a:xfrm>
          <a:prstGeom prst="ellipse">
            <a:avLst/>
          </a:prstGeom>
          <a:solidFill>
            <a:srgbClr val="B0492B"/>
          </a:solidFill>
          <a:ln/>
        </p:spPr>
      </p:sp>
      <p:sp>
        <p:nvSpPr>
          <p:cNvPr id="6" name="Text 4"/>
          <p:cNvSpPr/>
          <p:nvPr/>
        </p:nvSpPr>
        <p:spPr>
          <a:xfrm>
            <a:off x="841248" y="2103120"/>
            <a:ext cx="502920" cy="502920"/>
          </a:xfrm>
          <a:prstGeom prst="rect">
            <a:avLst/>
          </a:prstGeom>
          <a:noFill/>
          <a:ln/>
        </p:spPr>
        <p:txBody>
          <a:bodyPr wrap="square" lIns="0" tIns="0" rIns="0" bIns="0" rtlCol="0" anchor="ctr"/>
          <a:lstStyle/>
          <a:p>
            <a:pPr algn="ctr" indent="0" marL="0">
              <a:buNone/>
            </a:pPr>
            <a:r>
              <a:rPr lang="en-US" sz="1430" b="1" dirty="0">
                <a:solidFill>
                  <a:srgbClr val="FFFFFF"/>
                </a:solidFill>
                <a:latin typeface="Georgia" pitchFamily="34" charset="0"/>
                <a:ea typeface="Georgia" pitchFamily="34" charset="-122"/>
                <a:cs typeface="Georgia" pitchFamily="34" charset="-120"/>
              </a:rPr>
              <a:t>1</a:t>
            </a:r>
            <a:endParaRPr lang="en-US" sz="1430" dirty="0"/>
          </a:p>
        </p:txBody>
      </p:sp>
      <p:sp>
        <p:nvSpPr>
          <p:cNvPr id="7" name="Text 5"/>
          <p:cNvSpPr/>
          <p:nvPr/>
        </p:nvSpPr>
        <p:spPr>
          <a:xfrm>
            <a:off x="841248" y="2743200"/>
            <a:ext cx="3017520" cy="457200"/>
          </a:xfrm>
          <a:prstGeom prst="rect">
            <a:avLst/>
          </a:prstGeom>
          <a:noFill/>
          <a:ln/>
        </p:spPr>
        <p:txBody>
          <a:bodyPr wrap="square" lIns="0" tIns="0" rIns="0" bIns="0" rtlCol="0" anchor="ctr"/>
          <a:lstStyle/>
          <a:p>
            <a:pPr indent="0" marL="0">
              <a:buNone/>
            </a:pPr>
            <a:r>
              <a:rPr lang="en-US" sz="1700" b="1" dirty="0">
                <a:solidFill>
                  <a:srgbClr val="2B2118"/>
                </a:solidFill>
                <a:latin typeface="Georgia" pitchFamily="34" charset="0"/>
                <a:ea typeface="Georgia" pitchFamily="34" charset="-122"/>
                <a:cs typeface="Georgia" pitchFamily="34" charset="-120"/>
              </a:rPr>
              <a:t>Pari dignità</a:t>
            </a:r>
            <a:endParaRPr lang="en-US" sz="1700" dirty="0"/>
          </a:p>
        </p:txBody>
      </p:sp>
      <p:sp>
        <p:nvSpPr>
          <p:cNvPr id="8" name="Text 6"/>
          <p:cNvSpPr/>
          <p:nvPr/>
        </p:nvSpPr>
        <p:spPr>
          <a:xfrm>
            <a:off x="841248" y="3246120"/>
            <a:ext cx="3063240" cy="868680"/>
          </a:xfrm>
          <a:prstGeom prst="rect">
            <a:avLst/>
          </a:prstGeom>
          <a:noFill/>
          <a:ln/>
        </p:spPr>
        <p:txBody>
          <a:bodyPr wrap="square" lIns="0" tIns="0" rIns="0" bIns="0" rtlCol="0" anchor="t"/>
          <a:lstStyle/>
          <a:p>
            <a:pPr indent="0" marL="0">
              <a:lnSpc>
                <a:spcPct val="110000"/>
              </a:lnSpc>
              <a:buNone/>
            </a:pPr>
            <a:r>
              <a:rPr lang="en-US" sz="1300" dirty="0">
                <a:solidFill>
                  <a:srgbClr val="2B2118"/>
                </a:solidFill>
                <a:latin typeface="Calibri" pitchFamily="34" charset="0"/>
                <a:ea typeface="Calibri" pitchFamily="34" charset="-122"/>
                <a:cs typeface="Calibri" pitchFamily="34" charset="-120"/>
              </a:rPr>
              <a:t>Uomo e donna alla pari: una radice antica, non solo una conquista recente.</a:t>
            </a:r>
            <a:endParaRPr lang="en-US" sz="1300" dirty="0"/>
          </a:p>
        </p:txBody>
      </p:sp>
      <p:sp>
        <p:nvSpPr>
          <p:cNvPr id="9" name="Shape 7"/>
          <p:cNvSpPr/>
          <p:nvPr/>
        </p:nvSpPr>
        <p:spPr>
          <a:xfrm>
            <a:off x="4315968" y="1828800"/>
            <a:ext cx="3566160" cy="2331720"/>
          </a:xfrm>
          <a:prstGeom prst="rect">
            <a:avLst/>
          </a:prstGeom>
          <a:solidFill>
            <a:srgbClr val="F5EEE4"/>
          </a:solidFill>
          <a:ln/>
          <a:effectLst>
            <a:outerShdw sx="100000" sy="100000" kx="0" ky="0" algn="bl" rotWithShape="0" blurRad="127000" dist="25400" dir="5400000">
              <a:srgbClr val="000000">
                <a:alpha val="10000"/>
              </a:srgbClr>
            </a:outerShdw>
          </a:effectLst>
        </p:spPr>
      </p:sp>
      <p:sp>
        <p:nvSpPr>
          <p:cNvPr id="10" name="Shape 8"/>
          <p:cNvSpPr/>
          <p:nvPr/>
        </p:nvSpPr>
        <p:spPr>
          <a:xfrm>
            <a:off x="4608576" y="2103120"/>
            <a:ext cx="502920" cy="502920"/>
          </a:xfrm>
          <a:prstGeom prst="ellipse">
            <a:avLst/>
          </a:prstGeom>
          <a:solidFill>
            <a:srgbClr val="B0492B"/>
          </a:solidFill>
          <a:ln/>
        </p:spPr>
      </p:sp>
      <p:sp>
        <p:nvSpPr>
          <p:cNvPr id="11" name="Text 9"/>
          <p:cNvSpPr/>
          <p:nvPr/>
        </p:nvSpPr>
        <p:spPr>
          <a:xfrm>
            <a:off x="4608576" y="2103120"/>
            <a:ext cx="502920" cy="502920"/>
          </a:xfrm>
          <a:prstGeom prst="rect">
            <a:avLst/>
          </a:prstGeom>
          <a:noFill/>
          <a:ln/>
        </p:spPr>
        <p:txBody>
          <a:bodyPr wrap="square" lIns="0" tIns="0" rIns="0" bIns="0" rtlCol="0" anchor="ctr"/>
          <a:lstStyle/>
          <a:p>
            <a:pPr algn="ctr" indent="0" marL="0">
              <a:buNone/>
            </a:pPr>
            <a:r>
              <a:rPr lang="en-US" sz="1430" b="1" dirty="0">
                <a:solidFill>
                  <a:srgbClr val="FFFFFF"/>
                </a:solidFill>
                <a:latin typeface="Georgia" pitchFamily="34" charset="0"/>
                <a:ea typeface="Georgia" pitchFamily="34" charset="-122"/>
                <a:cs typeface="Georgia" pitchFamily="34" charset="-120"/>
              </a:rPr>
              <a:t>2</a:t>
            </a:r>
            <a:endParaRPr lang="en-US" sz="1430" dirty="0"/>
          </a:p>
        </p:txBody>
      </p:sp>
      <p:sp>
        <p:nvSpPr>
          <p:cNvPr id="12" name="Text 10"/>
          <p:cNvSpPr/>
          <p:nvPr/>
        </p:nvSpPr>
        <p:spPr>
          <a:xfrm>
            <a:off x="4608576" y="2743200"/>
            <a:ext cx="3017520" cy="457200"/>
          </a:xfrm>
          <a:prstGeom prst="rect">
            <a:avLst/>
          </a:prstGeom>
          <a:noFill/>
          <a:ln/>
        </p:spPr>
        <p:txBody>
          <a:bodyPr wrap="square" lIns="0" tIns="0" rIns="0" bIns="0" rtlCol="0" anchor="ctr"/>
          <a:lstStyle/>
          <a:p>
            <a:pPr indent="0" marL="0">
              <a:buNone/>
            </a:pPr>
            <a:r>
              <a:rPr lang="en-US" sz="1700" b="1" dirty="0">
                <a:solidFill>
                  <a:srgbClr val="2B2118"/>
                </a:solidFill>
                <a:latin typeface="Georgia" pitchFamily="34" charset="0"/>
                <a:ea typeface="Georgia" pitchFamily="34" charset="-122"/>
                <a:cs typeface="Georgia" pitchFamily="34" charset="-120"/>
              </a:rPr>
              <a:t>Differenza come dono</a:t>
            </a:r>
            <a:endParaRPr lang="en-US" sz="1700" dirty="0"/>
          </a:p>
        </p:txBody>
      </p:sp>
      <p:sp>
        <p:nvSpPr>
          <p:cNvPr id="13" name="Text 11"/>
          <p:cNvSpPr/>
          <p:nvPr/>
        </p:nvSpPr>
        <p:spPr>
          <a:xfrm>
            <a:off x="4608576" y="3246120"/>
            <a:ext cx="3063240" cy="868680"/>
          </a:xfrm>
          <a:prstGeom prst="rect">
            <a:avLst/>
          </a:prstGeom>
          <a:noFill/>
          <a:ln/>
        </p:spPr>
        <p:txBody>
          <a:bodyPr wrap="square" lIns="0" tIns="0" rIns="0" bIns="0" rtlCol="0" anchor="t"/>
          <a:lstStyle/>
          <a:p>
            <a:pPr indent="0" marL="0">
              <a:lnSpc>
                <a:spcPct val="110000"/>
              </a:lnSpc>
              <a:buNone/>
            </a:pPr>
            <a:r>
              <a:rPr lang="en-US" sz="1300" dirty="0">
                <a:solidFill>
                  <a:srgbClr val="2B2118"/>
                </a:solidFill>
                <a:latin typeface="Calibri" pitchFamily="34" charset="0"/>
                <a:ea typeface="Calibri" pitchFamily="34" charset="-122"/>
                <a:cs typeface="Calibri" pitchFamily="34" charset="-120"/>
              </a:rPr>
              <a:t>La diversità non è gerarchia: è via alla relazione e alla reciprocità.</a:t>
            </a:r>
            <a:endParaRPr lang="en-US" sz="1300" dirty="0"/>
          </a:p>
        </p:txBody>
      </p:sp>
      <p:sp>
        <p:nvSpPr>
          <p:cNvPr id="14" name="Shape 12"/>
          <p:cNvSpPr/>
          <p:nvPr/>
        </p:nvSpPr>
        <p:spPr>
          <a:xfrm>
            <a:off x="8083296" y="1828800"/>
            <a:ext cx="3566160" cy="2331720"/>
          </a:xfrm>
          <a:prstGeom prst="rect">
            <a:avLst/>
          </a:prstGeom>
          <a:solidFill>
            <a:srgbClr val="F5EEE4"/>
          </a:solidFill>
          <a:ln/>
          <a:effectLst>
            <a:outerShdw sx="100000" sy="100000" kx="0" ky="0" algn="bl" rotWithShape="0" blurRad="127000" dist="25400" dir="5400000">
              <a:srgbClr val="000000">
                <a:alpha val="10000"/>
              </a:srgbClr>
            </a:outerShdw>
          </a:effectLst>
        </p:spPr>
      </p:sp>
      <p:sp>
        <p:nvSpPr>
          <p:cNvPr id="15" name="Shape 13"/>
          <p:cNvSpPr/>
          <p:nvPr/>
        </p:nvSpPr>
        <p:spPr>
          <a:xfrm>
            <a:off x="8375904" y="2103120"/>
            <a:ext cx="502920" cy="502920"/>
          </a:xfrm>
          <a:prstGeom prst="ellipse">
            <a:avLst/>
          </a:prstGeom>
          <a:solidFill>
            <a:srgbClr val="B0492B"/>
          </a:solidFill>
          <a:ln/>
        </p:spPr>
      </p:sp>
      <p:sp>
        <p:nvSpPr>
          <p:cNvPr id="16" name="Text 14"/>
          <p:cNvSpPr/>
          <p:nvPr/>
        </p:nvSpPr>
        <p:spPr>
          <a:xfrm>
            <a:off x="8375904" y="2103120"/>
            <a:ext cx="502920" cy="502920"/>
          </a:xfrm>
          <a:prstGeom prst="rect">
            <a:avLst/>
          </a:prstGeom>
          <a:noFill/>
          <a:ln/>
        </p:spPr>
        <p:txBody>
          <a:bodyPr wrap="square" lIns="0" tIns="0" rIns="0" bIns="0" rtlCol="0" anchor="ctr"/>
          <a:lstStyle/>
          <a:p>
            <a:pPr algn="ctr" indent="0" marL="0">
              <a:buNone/>
            </a:pPr>
            <a:r>
              <a:rPr lang="en-US" sz="1430" b="1" dirty="0">
                <a:solidFill>
                  <a:srgbClr val="FFFFFF"/>
                </a:solidFill>
                <a:latin typeface="Georgia" pitchFamily="34" charset="0"/>
                <a:ea typeface="Georgia" pitchFamily="34" charset="-122"/>
                <a:cs typeface="Georgia" pitchFamily="34" charset="-120"/>
              </a:rPr>
              <a:t>3</a:t>
            </a:r>
            <a:endParaRPr lang="en-US" sz="1430" dirty="0"/>
          </a:p>
        </p:txBody>
      </p:sp>
      <p:sp>
        <p:nvSpPr>
          <p:cNvPr id="17" name="Text 15"/>
          <p:cNvSpPr/>
          <p:nvPr/>
        </p:nvSpPr>
        <p:spPr>
          <a:xfrm>
            <a:off x="8375904" y="2743200"/>
            <a:ext cx="3017520" cy="457200"/>
          </a:xfrm>
          <a:prstGeom prst="rect">
            <a:avLst/>
          </a:prstGeom>
          <a:noFill/>
          <a:ln/>
        </p:spPr>
        <p:txBody>
          <a:bodyPr wrap="square" lIns="0" tIns="0" rIns="0" bIns="0" rtlCol="0" anchor="ctr"/>
          <a:lstStyle/>
          <a:p>
            <a:pPr indent="0" marL="0">
              <a:buNone/>
            </a:pPr>
            <a:r>
              <a:rPr lang="en-US" sz="1700" b="1" dirty="0">
                <a:solidFill>
                  <a:srgbClr val="2B2118"/>
                </a:solidFill>
                <a:latin typeface="Georgia" pitchFamily="34" charset="0"/>
                <a:ea typeface="Georgia" pitchFamily="34" charset="-122"/>
                <a:cs typeface="Georgia" pitchFamily="34" charset="-120"/>
              </a:rPr>
              <a:t>Identità in relazione</a:t>
            </a:r>
            <a:endParaRPr lang="en-US" sz="1700" dirty="0"/>
          </a:p>
        </p:txBody>
      </p:sp>
      <p:sp>
        <p:nvSpPr>
          <p:cNvPr id="18" name="Text 16"/>
          <p:cNvSpPr/>
          <p:nvPr/>
        </p:nvSpPr>
        <p:spPr>
          <a:xfrm>
            <a:off x="8375904" y="3246120"/>
            <a:ext cx="3063240" cy="868680"/>
          </a:xfrm>
          <a:prstGeom prst="rect">
            <a:avLst/>
          </a:prstGeom>
          <a:noFill/>
          <a:ln/>
        </p:spPr>
        <p:txBody>
          <a:bodyPr wrap="square" lIns="0" tIns="0" rIns="0" bIns="0" rtlCol="0" anchor="t"/>
          <a:lstStyle/>
          <a:p>
            <a:pPr indent="0" marL="0">
              <a:lnSpc>
                <a:spcPct val="110000"/>
              </a:lnSpc>
              <a:buNone/>
            </a:pPr>
            <a:r>
              <a:rPr lang="en-US" sz="1300" dirty="0">
                <a:solidFill>
                  <a:srgbClr val="2B2118"/>
                </a:solidFill>
                <a:latin typeface="Calibri" pitchFamily="34" charset="0"/>
                <a:ea typeface="Calibri" pitchFamily="34" charset="-122"/>
                <a:cs typeface="Calibri" pitchFamily="34" charset="-120"/>
              </a:rPr>
              <a:t>Scopriamo chi siamo nell'incontro con l'altro, non in isolamento.</a:t>
            </a:r>
            <a:endParaRPr lang="en-US" sz="1300" dirty="0"/>
          </a:p>
        </p:txBody>
      </p:sp>
      <p:sp>
        <p:nvSpPr>
          <p:cNvPr id="19" name="Shape 17"/>
          <p:cNvSpPr/>
          <p:nvPr/>
        </p:nvSpPr>
        <p:spPr>
          <a:xfrm>
            <a:off x="548640" y="4434840"/>
            <a:ext cx="11064240" cy="548640"/>
          </a:xfrm>
          <a:prstGeom prst="rect">
            <a:avLst/>
          </a:prstGeom>
          <a:solidFill>
            <a:srgbClr val="FBF6EF"/>
          </a:solidFill>
          <a:ln/>
        </p:spPr>
      </p:sp>
      <p:sp>
        <p:nvSpPr>
          <p:cNvPr id="20" name="Text 18"/>
          <p:cNvSpPr/>
          <p:nvPr/>
        </p:nvSpPr>
        <p:spPr>
          <a:xfrm>
            <a:off x="822960" y="4434840"/>
            <a:ext cx="10515600" cy="548640"/>
          </a:xfrm>
          <a:prstGeom prst="rect">
            <a:avLst/>
          </a:prstGeom>
          <a:noFill/>
          <a:ln/>
        </p:spPr>
        <p:txBody>
          <a:bodyPr wrap="square" lIns="0" tIns="0" rIns="0" bIns="0" rtlCol="0" anchor="ctr"/>
          <a:lstStyle/>
          <a:p>
            <a:pPr indent="0" marL="0">
              <a:buNone/>
            </a:pPr>
            <a:r>
              <a:rPr lang="en-US" sz="1450" i="1" dirty="0">
                <a:solidFill>
                  <a:srgbClr val="8A3620"/>
                </a:solidFill>
                <a:latin typeface="Georgia" pitchFamily="34" charset="0"/>
                <a:ea typeface="Georgia" pitchFamily="34" charset="-122"/>
                <a:cs typeface="Georgia" pitchFamily="34" charset="-120"/>
              </a:rPr>
              <a:t>Un testo di 2500 anni fa parla ai dibattiti di oggi su parità, identità e relazioni.</a:t>
            </a:r>
            <a:endParaRPr lang="en-US" sz="1450" dirty="0"/>
          </a:p>
        </p:txBody>
      </p:sp>
      <p:sp>
        <p:nvSpPr>
          <p:cNvPr id="21" name="Shape 19"/>
          <p:cNvSpPr/>
          <p:nvPr/>
        </p:nvSpPr>
        <p:spPr>
          <a:xfrm>
            <a:off x="548640" y="5212080"/>
            <a:ext cx="11064240" cy="868680"/>
          </a:xfrm>
          <a:prstGeom prst="rect">
            <a:avLst/>
          </a:prstGeom>
          <a:solidFill>
            <a:srgbClr val="33211A"/>
          </a:solidFill>
          <a:ln/>
        </p:spPr>
      </p:sp>
      <p:pic>
        <p:nvPicPr>
          <p:cNvPr id="22" name="Image 0" descr="assets/ic_arrows_terra.png">    </p:cNvPr>
          <p:cNvPicPr>
            <a:picLocks noChangeAspect="1"/>
          </p:cNvPicPr>
          <p:nvPr/>
        </p:nvPicPr>
        <p:blipFill>
          <a:blip r:embed="rId1"/>
          <a:stretch>
            <a:fillRect/>
          </a:stretch>
        </p:blipFill>
        <p:spPr>
          <a:xfrm>
            <a:off x="822960" y="5413248"/>
            <a:ext cx="457200" cy="457200"/>
          </a:xfrm>
          <a:prstGeom prst="rect">
            <a:avLst/>
          </a:prstGeom>
        </p:spPr>
      </p:pic>
      <p:sp>
        <p:nvSpPr>
          <p:cNvPr id="23" name="Text 20"/>
          <p:cNvSpPr/>
          <p:nvPr/>
        </p:nvSpPr>
        <p:spPr>
          <a:xfrm>
            <a:off x="1508760" y="5212080"/>
            <a:ext cx="9875520" cy="868680"/>
          </a:xfrm>
          <a:prstGeom prst="rect">
            <a:avLst/>
          </a:prstGeom>
          <a:noFill/>
          <a:ln/>
        </p:spPr>
        <p:txBody>
          <a:bodyPr wrap="square" lIns="0" tIns="0" rIns="0" bIns="0" rtlCol="0" anchor="ctr"/>
          <a:lstStyle/>
          <a:p>
            <a:pPr indent="0" marL="0">
              <a:buNone/>
            </a:pPr>
            <a:r>
              <a:rPr lang="en-US" sz="1400" b="1" dirty="0">
                <a:solidFill>
                  <a:srgbClr val="D8A24A"/>
                </a:solidFill>
                <a:latin typeface="Calibri" pitchFamily="34" charset="0"/>
                <a:ea typeface="Calibri" pitchFamily="34" charset="-122"/>
                <a:cs typeface="Calibri" pitchFamily="34" charset="-120"/>
              </a:rPr>
              <a:t>In coppia: </a:t>
            </a:r>
            <a:pPr indent="0" marL="0">
              <a:buNone/>
            </a:pPr>
            <a:r>
              <a:rPr lang="en-US" sz="1400" dirty="0">
                <a:solidFill>
                  <a:srgbClr val="F5EFE8"/>
                </a:solidFill>
                <a:latin typeface="Calibri" pitchFamily="34" charset="0"/>
                <a:ea typeface="Calibri" pitchFamily="34" charset="-122"/>
                <a:cs typeface="Calibri" pitchFamily="34" charset="-120"/>
              </a:rPr>
              <a:t>che cosa direbbe questo testo a chi pensa che maschile e femminile siano «in competizione»?</a:t>
            </a:r>
            <a:endParaRPr lang="en-US" sz="1400" dirty="0"/>
          </a:p>
        </p:txBody>
      </p:sp>
      <p:sp>
        <p:nvSpPr>
          <p:cNvPr id="24" name="Text 21"/>
          <p:cNvSpPr/>
          <p:nvPr/>
        </p:nvSpPr>
        <p:spPr>
          <a:xfrm>
            <a:off x="502920" y="6437376"/>
            <a:ext cx="4572000" cy="274320"/>
          </a:xfrm>
          <a:prstGeom prst="rect">
            <a:avLst/>
          </a:prstGeom>
          <a:noFill/>
          <a:ln/>
        </p:spPr>
        <p:txBody>
          <a:bodyPr wrap="square" lIns="0" tIns="0" rIns="0" bIns="0" rtlCol="0" anchor="ctr"/>
          <a:lstStyle/>
          <a:p>
            <a:pPr algn="l" indent="0" marL="0">
              <a:buNone/>
            </a:pPr>
            <a:r>
              <a:rPr lang="en-US" sz="900" dirty="0">
                <a:solidFill>
                  <a:srgbClr val="8A7A6B"/>
                </a:solidFill>
                <a:latin typeface="Calibri" pitchFamily="34" charset="0"/>
                <a:ea typeface="Calibri" pitchFamily="34" charset="-122"/>
                <a:cs typeface="Calibri" pitchFamily="34" charset="-120"/>
              </a:rPr>
              <a:t>IRC · Liceo Scientifico</a:t>
            </a:r>
            <a:endParaRPr lang="en-US" sz="900" dirty="0"/>
          </a:p>
        </p:txBody>
      </p:sp>
      <p:sp>
        <p:nvSpPr>
          <p:cNvPr id="25" name="Text 22"/>
          <p:cNvSpPr/>
          <p:nvPr/>
        </p:nvSpPr>
        <p:spPr>
          <a:xfrm>
            <a:off x="7116775" y="6437376"/>
            <a:ext cx="4572000" cy="274320"/>
          </a:xfrm>
          <a:prstGeom prst="rect">
            <a:avLst/>
          </a:prstGeom>
          <a:noFill/>
          <a:ln/>
        </p:spPr>
        <p:txBody>
          <a:bodyPr wrap="square" lIns="0" tIns="0" rIns="0" bIns="0" rtlCol="0" anchor="ctr"/>
          <a:lstStyle/>
          <a:p>
            <a:pPr algn="r" indent="0" marL="0">
              <a:buNone/>
            </a:pPr>
            <a:r>
              <a:rPr lang="en-US" sz="900" dirty="0">
                <a:solidFill>
                  <a:srgbClr val="8A7A6B"/>
                </a:solidFill>
                <a:latin typeface="Calibri" pitchFamily="34" charset="0"/>
                <a:ea typeface="Calibri" pitchFamily="34" charset="-122"/>
                <a:cs typeface="Calibri" pitchFamily="34" charset="-120"/>
              </a:rPr>
              <a:t>Dal testo all'oggi   ·   </a:t>
            </a:r>
            <a:pPr algn="r" indent="0" marL="0">
              <a:buNone/>
            </a:pPr>
            <a:r>
              <a:rPr lang="en-US" sz="900" b="1" dirty="0">
                <a:solidFill>
                  <a:srgbClr val="B0492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7A2E1A"/>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buNone/>
            </a:pPr>
            <a:r>
              <a:rPr lang="en-US" sz="1150" b="1" spc="300" kern="0" dirty="0">
                <a:solidFill>
                  <a:srgbClr val="D8A24A"/>
                </a:solidFill>
                <a:latin typeface="Calibri" pitchFamily="34" charset="0"/>
                <a:ea typeface="Calibri" pitchFamily="34" charset="-122"/>
                <a:cs typeface="Calibri" pitchFamily="34" charset="-120"/>
              </a:rPr>
              <a:t>ATTIVITÀ · TOCCA A VOI</a:t>
            </a:r>
            <a:endParaRPr lang="en-US" sz="1150" dirty="0"/>
          </a:p>
        </p:txBody>
      </p:sp>
      <p:sp>
        <p:nvSpPr>
          <p:cNvPr id="3" name="Text 1"/>
          <p:cNvSpPr/>
          <p:nvPr/>
        </p:nvSpPr>
        <p:spPr>
          <a:xfrm>
            <a:off x="502920" y="786384"/>
            <a:ext cx="10972800" cy="640080"/>
          </a:xfrm>
          <a:prstGeom prst="rect">
            <a:avLst/>
          </a:prstGeom>
          <a:noFill/>
          <a:ln/>
        </p:spPr>
        <p:txBody>
          <a:bodyPr wrap="square" lIns="0" tIns="0" rIns="0" bIns="0" rtlCol="0" anchor="ctr"/>
          <a:lstStyle/>
          <a:p>
            <a:pPr indent="0" marL="0">
              <a:buNone/>
            </a:pPr>
            <a:r>
              <a:rPr lang="en-US" sz="3200" b="1" dirty="0">
                <a:solidFill>
                  <a:srgbClr val="F5EFE8"/>
                </a:solidFill>
                <a:latin typeface="Georgia" pitchFamily="34" charset="0"/>
                <a:ea typeface="Georgia" pitchFamily="34" charset="-122"/>
                <a:cs typeface="Georgia" pitchFamily="34" charset="-120"/>
              </a:rPr>
              <a:t>«Riscrivi l'incontro»</a:t>
            </a:r>
            <a:endParaRPr lang="en-US" sz="3200" dirty="0"/>
          </a:p>
        </p:txBody>
      </p:sp>
      <p:sp>
        <p:nvSpPr>
          <p:cNvPr id="4" name="Shape 2"/>
          <p:cNvSpPr/>
          <p:nvPr/>
        </p:nvSpPr>
        <p:spPr>
          <a:xfrm>
            <a:off x="548640" y="1828800"/>
            <a:ext cx="5349240" cy="2788920"/>
          </a:xfrm>
          <a:prstGeom prst="rect">
            <a:avLst/>
          </a:prstGeom>
          <a:solidFill>
            <a:srgbClr val="FFFFFF"/>
          </a:solidFill>
          <a:ln/>
          <a:effectLst>
            <a:outerShdw sx="100000" sy="100000" kx="0" ky="0" algn="bl" rotWithShape="0" blurRad="101600" dist="38100" dir="8100000">
              <a:srgbClr val="000000">
                <a:alpha val="16000"/>
              </a:srgbClr>
            </a:outerShdw>
          </a:effectLst>
        </p:spPr>
      </p:sp>
      <p:sp>
        <p:nvSpPr>
          <p:cNvPr id="5" name="Shape 3"/>
          <p:cNvSpPr/>
          <p:nvPr/>
        </p:nvSpPr>
        <p:spPr>
          <a:xfrm>
            <a:off x="822960" y="2103120"/>
            <a:ext cx="566928" cy="566928"/>
          </a:xfrm>
          <a:prstGeom prst="ellipse">
            <a:avLst/>
          </a:prstGeom>
          <a:solidFill>
            <a:srgbClr val="B0492B"/>
          </a:solidFill>
          <a:ln/>
        </p:spPr>
      </p:sp>
      <p:sp>
        <p:nvSpPr>
          <p:cNvPr id="6" name="Text 4"/>
          <p:cNvSpPr/>
          <p:nvPr/>
        </p:nvSpPr>
        <p:spPr>
          <a:xfrm>
            <a:off x="822960" y="21031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7" name="Text 5"/>
          <p:cNvSpPr/>
          <p:nvPr/>
        </p:nvSpPr>
        <p:spPr>
          <a:xfrm>
            <a:off x="1554480" y="2103120"/>
            <a:ext cx="4114800" cy="566928"/>
          </a:xfrm>
          <a:prstGeom prst="rect">
            <a:avLst/>
          </a:prstGeom>
          <a:noFill/>
          <a:ln/>
        </p:spPr>
        <p:txBody>
          <a:bodyPr wrap="square" lIns="0" tIns="0" rIns="0" bIns="0" rtlCol="0" anchor="ctr"/>
          <a:lstStyle/>
          <a:p>
            <a:pPr indent="0" marL="0">
              <a:buNone/>
            </a:pPr>
            <a:r>
              <a:rPr lang="en-US" sz="1800" b="1" dirty="0">
                <a:solidFill>
                  <a:srgbClr val="2B2118"/>
                </a:solidFill>
                <a:latin typeface="Georgia" pitchFamily="34" charset="0"/>
                <a:ea typeface="Georgia" pitchFamily="34" charset="-122"/>
                <a:cs typeface="Georgia" pitchFamily="34" charset="-120"/>
              </a:rPr>
              <a:t>In coppia · 5 min</a:t>
            </a:r>
            <a:endParaRPr lang="en-US" sz="1800" dirty="0"/>
          </a:p>
        </p:txBody>
      </p:sp>
      <p:sp>
        <p:nvSpPr>
          <p:cNvPr id="8" name="Text 6"/>
          <p:cNvSpPr/>
          <p:nvPr/>
        </p:nvSpPr>
        <p:spPr>
          <a:xfrm>
            <a:off x="868680" y="2834640"/>
            <a:ext cx="4709160" cy="1097280"/>
          </a:xfrm>
          <a:prstGeom prst="rect">
            <a:avLst/>
          </a:prstGeom>
          <a:noFill/>
          <a:ln/>
        </p:spPr>
        <p:txBody>
          <a:bodyPr wrap="square" lIns="0" tIns="0" rIns="0" bIns="0" rtlCol="0" anchor="t"/>
          <a:lstStyle/>
          <a:p>
            <a:pPr indent="0" marL="0">
              <a:lnSpc>
                <a:spcPct val="115000"/>
              </a:lnSpc>
              <a:buNone/>
            </a:pPr>
            <a:r>
              <a:rPr lang="en-US" sz="1400" dirty="0">
                <a:solidFill>
                  <a:srgbClr val="2B2118"/>
                </a:solidFill>
                <a:latin typeface="Calibri" pitchFamily="34" charset="0"/>
                <a:ea typeface="Calibri" pitchFamily="34" charset="-122"/>
                <a:cs typeface="Calibri" pitchFamily="34" charset="-120"/>
              </a:rPr>
              <a:t>Riscrivete Gen 2,23 con parole vostre, come un messaggio o un breve testo di oggi. Poi 2-3 coppie leggono ad alta voce.</a:t>
            </a:r>
            <a:endParaRPr lang="en-US" sz="1400" dirty="0"/>
          </a:p>
        </p:txBody>
      </p:sp>
      <p:sp>
        <p:nvSpPr>
          <p:cNvPr id="9" name="Text 7"/>
          <p:cNvSpPr/>
          <p:nvPr/>
        </p:nvSpPr>
        <p:spPr>
          <a:xfrm>
            <a:off x="868680" y="4069080"/>
            <a:ext cx="4709160" cy="457200"/>
          </a:xfrm>
          <a:prstGeom prst="rect">
            <a:avLst/>
          </a:prstGeom>
          <a:noFill/>
          <a:ln/>
        </p:spPr>
        <p:txBody>
          <a:bodyPr wrap="square" lIns="0" tIns="0" rIns="0" bIns="0" rtlCol="0" anchor="ctr"/>
          <a:lstStyle/>
          <a:p>
            <a:pPr indent="0" marL="0">
              <a:buNone/>
            </a:pPr>
            <a:r>
              <a:rPr lang="en-US" sz="1200" i="1" dirty="0">
                <a:solidFill>
                  <a:srgbClr val="8A3620"/>
                </a:solidFill>
                <a:latin typeface="Calibri" pitchFamily="34" charset="0"/>
                <a:ea typeface="Calibri" pitchFamily="34" charset="-122"/>
                <a:cs typeface="Calibri" pitchFamily="34" charset="-120"/>
              </a:rPr>
              <a:t>Obiettivo: cogliere lo stupore del «riconoscimento».</a:t>
            </a:r>
            <a:endParaRPr lang="en-US" sz="1200" dirty="0"/>
          </a:p>
        </p:txBody>
      </p:sp>
      <p:sp>
        <p:nvSpPr>
          <p:cNvPr id="10" name="Shape 8"/>
          <p:cNvSpPr/>
          <p:nvPr/>
        </p:nvSpPr>
        <p:spPr>
          <a:xfrm>
            <a:off x="6263640" y="1828800"/>
            <a:ext cx="5349240" cy="2788920"/>
          </a:xfrm>
          <a:prstGeom prst="rect">
            <a:avLst/>
          </a:prstGeom>
          <a:solidFill>
            <a:srgbClr val="FFFFFF"/>
          </a:solidFill>
          <a:ln/>
          <a:effectLst>
            <a:outerShdw sx="100000" sy="100000" kx="0" ky="0" algn="bl" rotWithShape="0" blurRad="101600" dist="38100" dir="8100000">
              <a:srgbClr val="000000">
                <a:alpha val="16000"/>
              </a:srgbClr>
            </a:outerShdw>
          </a:effectLst>
        </p:spPr>
      </p:sp>
      <p:sp>
        <p:nvSpPr>
          <p:cNvPr id="11" name="Shape 9"/>
          <p:cNvSpPr/>
          <p:nvPr/>
        </p:nvSpPr>
        <p:spPr>
          <a:xfrm>
            <a:off x="6537960" y="2103120"/>
            <a:ext cx="566928" cy="566928"/>
          </a:xfrm>
          <a:prstGeom prst="ellipse">
            <a:avLst/>
          </a:prstGeom>
          <a:solidFill>
            <a:srgbClr val="6F7B53"/>
          </a:solidFill>
          <a:ln/>
        </p:spPr>
      </p:sp>
      <p:sp>
        <p:nvSpPr>
          <p:cNvPr id="12" name="Text 10"/>
          <p:cNvSpPr/>
          <p:nvPr/>
        </p:nvSpPr>
        <p:spPr>
          <a:xfrm>
            <a:off x="6537960" y="21031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B</a:t>
            </a:r>
            <a:endParaRPr lang="en-US" sz="2000" dirty="0"/>
          </a:p>
        </p:txBody>
      </p:sp>
      <p:sp>
        <p:nvSpPr>
          <p:cNvPr id="13" name="Text 11"/>
          <p:cNvSpPr/>
          <p:nvPr/>
        </p:nvSpPr>
        <p:spPr>
          <a:xfrm>
            <a:off x="7269480" y="2103120"/>
            <a:ext cx="4114800" cy="566928"/>
          </a:xfrm>
          <a:prstGeom prst="rect">
            <a:avLst/>
          </a:prstGeom>
          <a:noFill/>
          <a:ln/>
        </p:spPr>
        <p:txBody>
          <a:bodyPr wrap="square" lIns="0" tIns="0" rIns="0" bIns="0" rtlCol="0" anchor="ctr"/>
          <a:lstStyle/>
          <a:p>
            <a:pPr indent="0" marL="0">
              <a:buNone/>
            </a:pPr>
            <a:r>
              <a:rPr lang="en-US" sz="1800" b="1" dirty="0">
                <a:solidFill>
                  <a:srgbClr val="2B2118"/>
                </a:solidFill>
                <a:latin typeface="Georgia" pitchFamily="34" charset="0"/>
                <a:ea typeface="Georgia" pitchFamily="34" charset="-122"/>
                <a:cs typeface="Georgia" pitchFamily="34" charset="-120"/>
              </a:rPr>
              <a:t>Mini-dibattito · 10 min</a:t>
            </a:r>
            <a:endParaRPr lang="en-US" sz="1800" dirty="0"/>
          </a:p>
        </p:txBody>
      </p:sp>
      <p:sp>
        <p:nvSpPr>
          <p:cNvPr id="14" name="Text 12"/>
          <p:cNvSpPr/>
          <p:nvPr/>
        </p:nvSpPr>
        <p:spPr>
          <a:xfrm>
            <a:off x="6583680" y="2834640"/>
            <a:ext cx="4709160" cy="1463040"/>
          </a:xfrm>
          <a:prstGeom prst="rect">
            <a:avLst/>
          </a:prstGeom>
          <a:noFill/>
          <a:ln/>
        </p:spPr>
        <p:txBody>
          <a:bodyPr wrap="square" lIns="0" tIns="0" rIns="0" bIns="0" rtlCol="0" anchor="t"/>
          <a:lstStyle/>
          <a:p>
            <a:pPr indent="0" marL="0">
              <a:lnSpc>
                <a:spcPct val="112000"/>
              </a:lnSpc>
              <a:spcAft>
                <a:spcPts val="600"/>
              </a:spcAft>
              <a:buNone/>
            </a:pPr>
            <a:r>
              <a:rPr lang="en-US" sz="1350" b="1" i="1" dirty="0">
                <a:solidFill>
                  <a:srgbClr val="2B2118"/>
                </a:solidFill>
                <a:latin typeface="Calibri" pitchFamily="34" charset="0"/>
                <a:ea typeface="Calibri" pitchFamily="34" charset="-122"/>
                <a:cs typeface="Calibri" pitchFamily="34" charset="-120"/>
              </a:rPr>
              <a:t>«La differenza tra uomo e donna è soprattutto un problema o soprattutto una risorsa?»</a:t>
            </a:r>
            <a:endParaRPr lang="en-US" sz="1350" dirty="0"/>
          </a:p>
          <a:p>
            <a:pPr indent="0" marL="0">
              <a:lnSpc>
                <a:spcPct val="112000"/>
              </a:lnSpc>
              <a:buNone/>
            </a:pPr>
            <a:r>
              <a:rPr lang="en-US" sz="1350" dirty="0">
                <a:solidFill>
                  <a:srgbClr val="2B2118"/>
                </a:solidFill>
                <a:latin typeface="Calibri" pitchFamily="34" charset="0"/>
                <a:ea typeface="Calibri" pitchFamily="34" charset="-122"/>
                <a:cs typeface="Calibri" pitchFamily="34" charset="-120"/>
              </a:rPr>
              <a:t>Due squadre, 3 min di preparazione, poi confronto.</a:t>
            </a:r>
            <a:endParaRPr lang="en-US" sz="1350" dirty="0"/>
          </a:p>
        </p:txBody>
      </p:sp>
      <p:sp>
        <p:nvSpPr>
          <p:cNvPr id="15" name="Shape 13"/>
          <p:cNvSpPr/>
          <p:nvPr/>
        </p:nvSpPr>
        <p:spPr>
          <a:xfrm>
            <a:off x="548640" y="4892040"/>
            <a:ext cx="11064240" cy="1188720"/>
          </a:xfrm>
          <a:prstGeom prst="rect">
            <a:avLst/>
          </a:prstGeom>
          <a:solidFill>
            <a:srgbClr val="FFFFFF">
              <a:alpha val="14000"/>
            </a:srgbClr>
          </a:solidFill>
          <a:ln w="12700">
            <a:solidFill>
              <a:srgbClr val="D8A24A"/>
            </a:solidFill>
            <a:prstDash val="solid"/>
          </a:ln>
        </p:spPr>
      </p:sp>
      <p:pic>
        <p:nvPicPr>
          <p:cNvPr id="16" name="Image 0" descr="assets/ic_bulb_gold.png">    </p:cNvPr>
          <p:cNvPicPr>
            <a:picLocks noChangeAspect="1"/>
          </p:cNvPicPr>
          <p:nvPr/>
        </p:nvPicPr>
        <p:blipFill>
          <a:blip r:embed="rId1"/>
          <a:stretch>
            <a:fillRect/>
          </a:stretch>
        </p:blipFill>
        <p:spPr>
          <a:xfrm>
            <a:off x="868680" y="5212080"/>
            <a:ext cx="502920" cy="502920"/>
          </a:xfrm>
          <a:prstGeom prst="rect">
            <a:avLst/>
          </a:prstGeom>
        </p:spPr>
      </p:pic>
      <p:sp>
        <p:nvSpPr>
          <p:cNvPr id="17" name="Text 14"/>
          <p:cNvSpPr/>
          <p:nvPr/>
        </p:nvSpPr>
        <p:spPr>
          <a:xfrm>
            <a:off x="1554480" y="4892040"/>
            <a:ext cx="9784080" cy="1188720"/>
          </a:xfrm>
          <a:prstGeom prst="rect">
            <a:avLst/>
          </a:prstGeom>
          <a:noFill/>
          <a:ln/>
        </p:spPr>
        <p:txBody>
          <a:bodyPr wrap="square" lIns="0" tIns="0" rIns="0" bIns="0" rtlCol="0" anchor="ctr"/>
          <a:lstStyle/>
          <a:p>
            <a:pPr indent="0" marL="0">
              <a:lnSpc>
                <a:spcPct val="112000"/>
              </a:lnSpc>
              <a:buNone/>
            </a:pPr>
            <a:r>
              <a:rPr lang="en-US" sz="1450" b="1" dirty="0">
                <a:solidFill>
                  <a:srgbClr val="D8A24A"/>
                </a:solidFill>
                <a:latin typeface="Calibri" pitchFamily="34" charset="0"/>
                <a:ea typeface="Calibri" pitchFamily="34" charset="-122"/>
                <a:cs typeface="Calibri" pitchFamily="34" charset="-120"/>
              </a:rPr>
              <a:t>Biglietto d'uscita  —  </a:t>
            </a:r>
            <a:pPr indent="0" marL="0">
              <a:lnSpc>
                <a:spcPct val="112000"/>
              </a:lnSpc>
              <a:buNone/>
            </a:pPr>
            <a:r>
              <a:rPr lang="en-US" sz="1450" dirty="0">
                <a:solidFill>
                  <a:srgbClr val="F5EFE8"/>
                </a:solidFill>
                <a:latin typeface="Calibri" pitchFamily="34" charset="0"/>
                <a:ea typeface="Calibri" pitchFamily="34" charset="-122"/>
                <a:cs typeface="Calibri" pitchFamily="34" charset="-120"/>
              </a:rPr>
              <a:t>ciascuno scrive su un foglietto </a:t>
            </a:r>
            <a:pPr indent="0" marL="0">
              <a:lnSpc>
                <a:spcPct val="112000"/>
              </a:lnSpc>
              <a:buNone/>
            </a:pPr>
            <a:r>
              <a:rPr lang="en-US" sz="1450" b="1" dirty="0">
                <a:solidFill>
                  <a:srgbClr val="F5EFE8"/>
                </a:solidFill>
                <a:latin typeface="Calibri" pitchFamily="34" charset="0"/>
                <a:ea typeface="Calibri" pitchFamily="34" charset="-122"/>
                <a:cs typeface="Calibri" pitchFamily="34" charset="-120"/>
              </a:rPr>
              <a:t>la parola sola</a:t>
            </a:r>
            <a:pPr indent="0" marL="0">
              <a:lnSpc>
                <a:spcPct val="112000"/>
              </a:lnSpc>
              <a:buNone/>
            </a:pPr>
            <a:r>
              <a:rPr lang="en-US" sz="1450" dirty="0">
                <a:solidFill>
                  <a:srgbClr val="F5EFE8"/>
                </a:solidFill>
                <a:latin typeface="Calibri" pitchFamily="34" charset="0"/>
                <a:ea typeface="Calibri" pitchFamily="34" charset="-122"/>
                <a:cs typeface="Calibri" pitchFamily="34" charset="-120"/>
              </a:rPr>
              <a:t> che porta a casa da questa lezione. Le raccogliamo e ne leggiamo alcune.</a:t>
            </a:r>
            <a:endParaRPr lang="en-US" sz="1450" dirty="0"/>
          </a:p>
        </p:txBody>
      </p:sp>
      <p:sp>
        <p:nvSpPr>
          <p:cNvPr id="18" name="Text 15"/>
          <p:cNvSpPr/>
          <p:nvPr/>
        </p:nvSpPr>
        <p:spPr>
          <a:xfrm>
            <a:off x="502920" y="6437376"/>
            <a:ext cx="4572000" cy="274320"/>
          </a:xfrm>
          <a:prstGeom prst="rect">
            <a:avLst/>
          </a:prstGeom>
          <a:noFill/>
          <a:ln/>
        </p:spPr>
        <p:txBody>
          <a:bodyPr wrap="square" lIns="0" tIns="0" rIns="0" bIns="0" rtlCol="0" anchor="ctr"/>
          <a:lstStyle/>
          <a:p>
            <a:pPr algn="l" indent="0" marL="0">
              <a:buNone/>
            </a:pPr>
            <a:r>
              <a:rPr lang="en-US" sz="900" dirty="0">
                <a:solidFill>
                  <a:srgbClr val="C9B5A4"/>
                </a:solidFill>
                <a:latin typeface="Calibri" pitchFamily="34" charset="0"/>
                <a:ea typeface="Calibri" pitchFamily="34" charset="-122"/>
                <a:cs typeface="Calibri" pitchFamily="34" charset="-120"/>
              </a:rPr>
              <a:t>IRC · Liceo Scientifico</a:t>
            </a:r>
            <a:endParaRPr lang="en-US" sz="900" dirty="0"/>
          </a:p>
        </p:txBody>
      </p:sp>
      <p:sp>
        <p:nvSpPr>
          <p:cNvPr id="19" name="Text 16"/>
          <p:cNvSpPr/>
          <p:nvPr/>
        </p:nvSpPr>
        <p:spPr>
          <a:xfrm>
            <a:off x="7116775" y="6437376"/>
            <a:ext cx="4572000" cy="274320"/>
          </a:xfrm>
          <a:prstGeom prst="rect">
            <a:avLst/>
          </a:prstGeom>
          <a:noFill/>
          <a:ln/>
        </p:spPr>
        <p:txBody>
          <a:bodyPr wrap="square" lIns="0" tIns="0" rIns="0" bIns="0" rtlCol="0" anchor="ctr"/>
          <a:lstStyle/>
          <a:p>
            <a:pPr algn="r" indent="0" marL="0">
              <a:buNone/>
            </a:pPr>
            <a:r>
              <a:rPr lang="en-US" sz="900" dirty="0">
                <a:solidFill>
                  <a:srgbClr val="C9B5A4"/>
                </a:solidFill>
                <a:latin typeface="Calibri" pitchFamily="34" charset="0"/>
                <a:ea typeface="Calibri" pitchFamily="34" charset="-122"/>
                <a:cs typeface="Calibri" pitchFamily="34" charset="-120"/>
              </a:rPr>
              <a:t>Attività   ·   </a:t>
            </a:r>
            <a:pPr algn="r" indent="0" marL="0">
              <a:buNone/>
            </a:pPr>
            <a:r>
              <a:rPr lang="en-US" sz="900" b="1" dirty="0">
                <a:solidFill>
                  <a:srgbClr val="D8A24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lIns="0" tIns="0" rIns="0" bIns="0" rtlCol="0" anchor="ctr"/>
          <a:lstStyle/>
          <a:p>
            <a:pPr algn="l" indent="0" marL="0">
              <a:buNone/>
            </a:pPr>
            <a:r>
              <a:rPr lang="en-US" sz="1150" b="1" spc="300" kern="0" dirty="0">
                <a:solidFill>
                  <a:srgbClr val="B0492B"/>
                </a:solidFill>
                <a:latin typeface="Calibri" pitchFamily="34" charset="0"/>
                <a:ea typeface="Calibri" pitchFamily="34" charset="-122"/>
                <a:cs typeface="Calibri" pitchFamily="34" charset="-120"/>
              </a:rPr>
              <a:t>SINTESI</a:t>
            </a:r>
            <a:endParaRPr lang="en-US" sz="1150" dirty="0"/>
          </a:p>
        </p:txBody>
      </p:sp>
      <p:sp>
        <p:nvSpPr>
          <p:cNvPr id="3" name="Text 1"/>
          <p:cNvSpPr/>
          <p:nvPr/>
        </p:nvSpPr>
        <p:spPr>
          <a:xfrm>
            <a:off x="502920" y="777240"/>
            <a:ext cx="10972800" cy="640080"/>
          </a:xfrm>
          <a:prstGeom prst="rect">
            <a:avLst/>
          </a:prstGeom>
          <a:noFill/>
          <a:ln/>
        </p:spPr>
        <p:txBody>
          <a:bodyPr wrap="square" lIns="0" tIns="0" rIns="0" bIns="0" rtlCol="0" anchor="ctr"/>
          <a:lstStyle/>
          <a:p>
            <a:pPr indent="0" marL="0">
              <a:buNone/>
            </a:pPr>
            <a:r>
              <a:rPr lang="en-US" sz="3100" b="1" dirty="0">
                <a:solidFill>
                  <a:srgbClr val="2B2118"/>
                </a:solidFill>
                <a:latin typeface="Georgia" pitchFamily="34" charset="0"/>
                <a:ea typeface="Georgia" pitchFamily="34" charset="-122"/>
                <a:cs typeface="Georgia" pitchFamily="34" charset="-120"/>
              </a:rPr>
              <a:t>Tre idee da portare a casa</a:t>
            </a:r>
            <a:endParaRPr lang="en-US" sz="3100" dirty="0"/>
          </a:p>
        </p:txBody>
      </p:sp>
      <p:sp>
        <p:nvSpPr>
          <p:cNvPr id="4" name="Shape 2"/>
          <p:cNvSpPr/>
          <p:nvPr/>
        </p:nvSpPr>
        <p:spPr>
          <a:xfrm>
            <a:off x="548640" y="1874520"/>
            <a:ext cx="11064240" cy="1280160"/>
          </a:xfrm>
          <a:prstGeom prst="rect">
            <a:avLst/>
          </a:prstGeom>
          <a:solidFill>
            <a:srgbClr val="F5EEE4"/>
          </a:solidFill>
          <a:ln/>
        </p:spPr>
      </p:sp>
      <p:sp>
        <p:nvSpPr>
          <p:cNvPr id="5" name="Shape 3"/>
          <p:cNvSpPr/>
          <p:nvPr/>
        </p:nvSpPr>
        <p:spPr>
          <a:xfrm>
            <a:off x="548640" y="1874520"/>
            <a:ext cx="91440" cy="1280160"/>
          </a:xfrm>
          <a:prstGeom prst="rect">
            <a:avLst/>
          </a:prstGeom>
          <a:solidFill>
            <a:srgbClr val="6F7B53"/>
          </a:solidFill>
          <a:ln/>
        </p:spPr>
      </p:sp>
      <p:sp>
        <p:nvSpPr>
          <p:cNvPr id="6" name="Shape 4"/>
          <p:cNvSpPr/>
          <p:nvPr/>
        </p:nvSpPr>
        <p:spPr>
          <a:xfrm>
            <a:off x="914400" y="2258568"/>
            <a:ext cx="512064" cy="512064"/>
          </a:xfrm>
          <a:prstGeom prst="ellipse">
            <a:avLst/>
          </a:prstGeom>
          <a:solidFill>
            <a:srgbClr val="6F7B53"/>
          </a:solidFill>
          <a:ln/>
        </p:spPr>
      </p:sp>
      <p:sp>
        <p:nvSpPr>
          <p:cNvPr id="7" name="Text 5"/>
          <p:cNvSpPr/>
          <p:nvPr/>
        </p:nvSpPr>
        <p:spPr>
          <a:xfrm>
            <a:off x="914400" y="2258568"/>
            <a:ext cx="512064" cy="512064"/>
          </a:xfrm>
          <a:prstGeom prst="rect">
            <a:avLst/>
          </a:prstGeom>
          <a:noFill/>
          <a:ln/>
        </p:spPr>
        <p:txBody>
          <a:bodyPr wrap="square" lIns="0" tIns="0" rIns="0" bIns="0" rtlCol="0" anchor="ctr"/>
          <a:lstStyle/>
          <a:p>
            <a:pPr algn="ctr" indent="0" marL="0">
              <a:buNone/>
            </a:pPr>
            <a:r>
              <a:rPr lang="en-US" sz="1456" b="1" dirty="0">
                <a:solidFill>
                  <a:srgbClr val="FFFFFF"/>
                </a:solidFill>
                <a:latin typeface="Georgia" pitchFamily="34" charset="0"/>
                <a:ea typeface="Georgia" pitchFamily="34" charset="-122"/>
                <a:cs typeface="Georgia" pitchFamily="34" charset="-120"/>
              </a:rPr>
              <a:t>1</a:t>
            </a:r>
            <a:endParaRPr lang="en-US" sz="1456" dirty="0"/>
          </a:p>
        </p:txBody>
      </p:sp>
      <p:sp>
        <p:nvSpPr>
          <p:cNvPr id="8" name="Text 6"/>
          <p:cNvSpPr/>
          <p:nvPr/>
        </p:nvSpPr>
        <p:spPr>
          <a:xfrm>
            <a:off x="1737360" y="2075688"/>
            <a:ext cx="9509760" cy="411480"/>
          </a:xfrm>
          <a:prstGeom prst="rect">
            <a:avLst/>
          </a:prstGeom>
          <a:noFill/>
          <a:ln/>
        </p:spPr>
        <p:txBody>
          <a:bodyPr wrap="square" lIns="0" tIns="0" rIns="0" bIns="0" rtlCol="0" anchor="ctr"/>
          <a:lstStyle/>
          <a:p>
            <a:pPr indent="0" marL="0">
              <a:buNone/>
            </a:pPr>
            <a:r>
              <a:rPr lang="en-US" sz="1900" b="1" dirty="0">
                <a:solidFill>
                  <a:srgbClr val="2B2118"/>
                </a:solidFill>
                <a:latin typeface="Georgia" pitchFamily="34" charset="0"/>
                <a:ea typeface="Georgia" pitchFamily="34" charset="-122"/>
                <a:cs typeface="Georgia" pitchFamily="34" charset="-120"/>
              </a:rPr>
              <a:t>ADAM = l'umano</a:t>
            </a:r>
            <a:endParaRPr lang="en-US" sz="1900" dirty="0"/>
          </a:p>
        </p:txBody>
      </p:sp>
      <p:sp>
        <p:nvSpPr>
          <p:cNvPr id="9" name="Text 7"/>
          <p:cNvSpPr/>
          <p:nvPr/>
        </p:nvSpPr>
        <p:spPr>
          <a:xfrm>
            <a:off x="1737360" y="2514600"/>
            <a:ext cx="9509760" cy="457200"/>
          </a:xfrm>
          <a:prstGeom prst="rect">
            <a:avLst/>
          </a:prstGeom>
          <a:noFill/>
          <a:ln/>
        </p:spPr>
        <p:txBody>
          <a:bodyPr wrap="square" lIns="0" tIns="0" rIns="0" bIns="0" rtlCol="0" anchor="ctr"/>
          <a:lstStyle/>
          <a:p>
            <a:pPr indent="0" marL="0">
              <a:buNone/>
            </a:pPr>
            <a:r>
              <a:rPr lang="en-US" sz="1400" dirty="0">
                <a:solidFill>
                  <a:srgbClr val="2B2118"/>
                </a:solidFill>
                <a:latin typeface="Calibri" pitchFamily="34" charset="0"/>
                <a:ea typeface="Calibri" pitchFamily="34" charset="-122"/>
                <a:cs typeface="Calibri" pitchFamily="34" charset="-120"/>
              </a:rPr>
              <a:t>Prima della differenza c'è l'umano: veniamo tutti dalla stessa «terra».</a:t>
            </a:r>
            <a:endParaRPr lang="en-US" sz="1400" dirty="0"/>
          </a:p>
        </p:txBody>
      </p:sp>
      <p:sp>
        <p:nvSpPr>
          <p:cNvPr id="10" name="Shape 8"/>
          <p:cNvSpPr/>
          <p:nvPr/>
        </p:nvSpPr>
        <p:spPr>
          <a:xfrm>
            <a:off x="548640" y="3291840"/>
            <a:ext cx="11064240" cy="1280160"/>
          </a:xfrm>
          <a:prstGeom prst="rect">
            <a:avLst/>
          </a:prstGeom>
          <a:solidFill>
            <a:srgbClr val="FBF6EF"/>
          </a:solidFill>
          <a:ln/>
        </p:spPr>
      </p:sp>
      <p:sp>
        <p:nvSpPr>
          <p:cNvPr id="11" name="Shape 9"/>
          <p:cNvSpPr/>
          <p:nvPr/>
        </p:nvSpPr>
        <p:spPr>
          <a:xfrm>
            <a:off x="548640" y="3291840"/>
            <a:ext cx="91440" cy="1280160"/>
          </a:xfrm>
          <a:prstGeom prst="rect">
            <a:avLst/>
          </a:prstGeom>
          <a:solidFill>
            <a:srgbClr val="B0492B"/>
          </a:solidFill>
          <a:ln/>
        </p:spPr>
      </p:sp>
      <p:sp>
        <p:nvSpPr>
          <p:cNvPr id="12" name="Shape 10"/>
          <p:cNvSpPr/>
          <p:nvPr/>
        </p:nvSpPr>
        <p:spPr>
          <a:xfrm>
            <a:off x="914400" y="3675888"/>
            <a:ext cx="512064" cy="512064"/>
          </a:xfrm>
          <a:prstGeom prst="ellipse">
            <a:avLst/>
          </a:prstGeom>
          <a:solidFill>
            <a:srgbClr val="B0492B"/>
          </a:solidFill>
          <a:ln/>
        </p:spPr>
      </p:sp>
      <p:sp>
        <p:nvSpPr>
          <p:cNvPr id="13" name="Text 11"/>
          <p:cNvSpPr/>
          <p:nvPr/>
        </p:nvSpPr>
        <p:spPr>
          <a:xfrm>
            <a:off x="914400" y="3675888"/>
            <a:ext cx="512064" cy="512064"/>
          </a:xfrm>
          <a:prstGeom prst="rect">
            <a:avLst/>
          </a:prstGeom>
          <a:noFill/>
          <a:ln/>
        </p:spPr>
        <p:txBody>
          <a:bodyPr wrap="square" lIns="0" tIns="0" rIns="0" bIns="0" rtlCol="0" anchor="ctr"/>
          <a:lstStyle/>
          <a:p>
            <a:pPr algn="ctr" indent="0" marL="0">
              <a:buNone/>
            </a:pPr>
            <a:r>
              <a:rPr lang="en-US" sz="1456" b="1" dirty="0">
                <a:solidFill>
                  <a:srgbClr val="FFFFFF"/>
                </a:solidFill>
                <a:latin typeface="Georgia" pitchFamily="34" charset="0"/>
                <a:ea typeface="Georgia" pitchFamily="34" charset="-122"/>
                <a:cs typeface="Georgia" pitchFamily="34" charset="-120"/>
              </a:rPr>
              <a:t>2</a:t>
            </a:r>
            <a:endParaRPr lang="en-US" sz="1456" dirty="0"/>
          </a:p>
        </p:txBody>
      </p:sp>
      <p:sp>
        <p:nvSpPr>
          <p:cNvPr id="14" name="Text 12"/>
          <p:cNvSpPr/>
          <p:nvPr/>
        </p:nvSpPr>
        <p:spPr>
          <a:xfrm>
            <a:off x="1737360" y="3493008"/>
            <a:ext cx="9509760" cy="411480"/>
          </a:xfrm>
          <a:prstGeom prst="rect">
            <a:avLst/>
          </a:prstGeom>
          <a:noFill/>
          <a:ln/>
        </p:spPr>
        <p:txBody>
          <a:bodyPr wrap="square" lIns="0" tIns="0" rIns="0" bIns="0" rtlCol="0" anchor="ctr"/>
          <a:lstStyle/>
          <a:p>
            <a:pPr indent="0" marL="0">
              <a:buNone/>
            </a:pPr>
            <a:r>
              <a:rPr lang="en-US" sz="1900" b="1" dirty="0">
                <a:solidFill>
                  <a:srgbClr val="2B2118"/>
                </a:solidFill>
                <a:latin typeface="Georgia" pitchFamily="34" charset="0"/>
                <a:ea typeface="Georgia" pitchFamily="34" charset="-122"/>
                <a:cs typeface="Georgia" pitchFamily="34" charset="-120"/>
              </a:rPr>
              <a:t>ISH e ISHÀ</a:t>
            </a:r>
            <a:endParaRPr lang="en-US" sz="1900" dirty="0"/>
          </a:p>
        </p:txBody>
      </p:sp>
      <p:sp>
        <p:nvSpPr>
          <p:cNvPr id="15" name="Text 13"/>
          <p:cNvSpPr/>
          <p:nvPr/>
        </p:nvSpPr>
        <p:spPr>
          <a:xfrm>
            <a:off x="1737360" y="3931920"/>
            <a:ext cx="9509760" cy="457200"/>
          </a:xfrm>
          <a:prstGeom prst="rect">
            <a:avLst/>
          </a:prstGeom>
          <a:noFill/>
          <a:ln/>
        </p:spPr>
        <p:txBody>
          <a:bodyPr wrap="square" lIns="0" tIns="0" rIns="0" bIns="0" rtlCol="0" anchor="ctr"/>
          <a:lstStyle/>
          <a:p>
            <a:pPr indent="0" marL="0">
              <a:buNone/>
            </a:pPr>
            <a:r>
              <a:rPr lang="en-US" sz="1400" dirty="0">
                <a:solidFill>
                  <a:srgbClr val="2B2118"/>
                </a:solidFill>
                <a:latin typeface="Calibri" pitchFamily="34" charset="0"/>
                <a:ea typeface="Calibri" pitchFamily="34" charset="-122"/>
                <a:cs typeface="Calibri" pitchFamily="34" charset="-120"/>
              </a:rPr>
              <a:t>L'identità maschile e femminile nasce nell'incontro, e nasce alla pari.</a:t>
            </a:r>
            <a:endParaRPr lang="en-US" sz="1400" dirty="0"/>
          </a:p>
        </p:txBody>
      </p:sp>
      <p:sp>
        <p:nvSpPr>
          <p:cNvPr id="16" name="Shape 14"/>
          <p:cNvSpPr/>
          <p:nvPr/>
        </p:nvSpPr>
        <p:spPr>
          <a:xfrm>
            <a:off x="548640" y="4709160"/>
            <a:ext cx="11064240" cy="1280160"/>
          </a:xfrm>
          <a:prstGeom prst="rect">
            <a:avLst/>
          </a:prstGeom>
          <a:solidFill>
            <a:srgbClr val="F5EEE4"/>
          </a:solidFill>
          <a:ln/>
        </p:spPr>
      </p:sp>
      <p:sp>
        <p:nvSpPr>
          <p:cNvPr id="17" name="Shape 15"/>
          <p:cNvSpPr/>
          <p:nvPr/>
        </p:nvSpPr>
        <p:spPr>
          <a:xfrm>
            <a:off x="548640" y="4709160"/>
            <a:ext cx="91440" cy="1280160"/>
          </a:xfrm>
          <a:prstGeom prst="rect">
            <a:avLst/>
          </a:prstGeom>
          <a:solidFill>
            <a:srgbClr val="C68A3E"/>
          </a:solidFill>
          <a:ln/>
        </p:spPr>
      </p:sp>
      <p:sp>
        <p:nvSpPr>
          <p:cNvPr id="18" name="Shape 16"/>
          <p:cNvSpPr/>
          <p:nvPr/>
        </p:nvSpPr>
        <p:spPr>
          <a:xfrm>
            <a:off x="914400" y="5093208"/>
            <a:ext cx="512064" cy="512064"/>
          </a:xfrm>
          <a:prstGeom prst="ellipse">
            <a:avLst/>
          </a:prstGeom>
          <a:solidFill>
            <a:srgbClr val="C68A3E"/>
          </a:solidFill>
          <a:ln/>
        </p:spPr>
      </p:sp>
      <p:sp>
        <p:nvSpPr>
          <p:cNvPr id="19" name="Text 17"/>
          <p:cNvSpPr/>
          <p:nvPr/>
        </p:nvSpPr>
        <p:spPr>
          <a:xfrm>
            <a:off x="914400" y="5093208"/>
            <a:ext cx="512064" cy="512064"/>
          </a:xfrm>
          <a:prstGeom prst="rect">
            <a:avLst/>
          </a:prstGeom>
          <a:noFill/>
          <a:ln/>
        </p:spPr>
        <p:txBody>
          <a:bodyPr wrap="square" lIns="0" tIns="0" rIns="0" bIns="0" rtlCol="0" anchor="ctr"/>
          <a:lstStyle/>
          <a:p>
            <a:pPr algn="ctr" indent="0" marL="0">
              <a:buNone/>
            </a:pPr>
            <a:r>
              <a:rPr lang="en-US" sz="1456" b="1" dirty="0">
                <a:solidFill>
                  <a:srgbClr val="FFFFFF"/>
                </a:solidFill>
                <a:latin typeface="Georgia" pitchFamily="34" charset="0"/>
                <a:ea typeface="Georgia" pitchFamily="34" charset="-122"/>
                <a:cs typeface="Georgia" pitchFamily="34" charset="-120"/>
              </a:rPr>
              <a:t>3</a:t>
            </a:r>
            <a:endParaRPr lang="en-US" sz="1456" dirty="0"/>
          </a:p>
        </p:txBody>
      </p:sp>
      <p:sp>
        <p:nvSpPr>
          <p:cNvPr id="20" name="Text 18"/>
          <p:cNvSpPr/>
          <p:nvPr/>
        </p:nvSpPr>
        <p:spPr>
          <a:xfrm>
            <a:off x="1737360" y="4910328"/>
            <a:ext cx="9509760" cy="411480"/>
          </a:xfrm>
          <a:prstGeom prst="rect">
            <a:avLst/>
          </a:prstGeom>
          <a:noFill/>
          <a:ln/>
        </p:spPr>
        <p:txBody>
          <a:bodyPr wrap="square" lIns="0" tIns="0" rIns="0" bIns="0" rtlCol="0" anchor="ctr"/>
          <a:lstStyle/>
          <a:p>
            <a:pPr indent="0" marL="0">
              <a:buNone/>
            </a:pPr>
            <a:r>
              <a:rPr lang="en-US" sz="1900" b="1" dirty="0">
                <a:solidFill>
                  <a:srgbClr val="2B2118"/>
                </a:solidFill>
                <a:latin typeface="Georgia" pitchFamily="34" charset="0"/>
                <a:ea typeface="Georgia" pitchFamily="34" charset="-122"/>
                <a:cs typeface="Georgia" pitchFamily="34" charset="-120"/>
              </a:rPr>
              <a:t>Una sola carne</a:t>
            </a:r>
            <a:endParaRPr lang="en-US" sz="1900" dirty="0"/>
          </a:p>
        </p:txBody>
      </p:sp>
      <p:sp>
        <p:nvSpPr>
          <p:cNvPr id="21" name="Text 19"/>
          <p:cNvSpPr/>
          <p:nvPr/>
        </p:nvSpPr>
        <p:spPr>
          <a:xfrm>
            <a:off x="1737360" y="5349240"/>
            <a:ext cx="9509760" cy="457200"/>
          </a:xfrm>
          <a:prstGeom prst="rect">
            <a:avLst/>
          </a:prstGeom>
          <a:noFill/>
          <a:ln/>
        </p:spPr>
        <p:txBody>
          <a:bodyPr wrap="square" lIns="0" tIns="0" rIns="0" bIns="0" rtlCol="0" anchor="ctr"/>
          <a:lstStyle/>
          <a:p>
            <a:pPr indent="0" marL="0">
              <a:buNone/>
            </a:pPr>
            <a:r>
              <a:rPr lang="en-US" sz="1400" dirty="0">
                <a:solidFill>
                  <a:srgbClr val="2B2118"/>
                </a:solidFill>
                <a:latin typeface="Calibri" pitchFamily="34" charset="0"/>
                <a:ea typeface="Calibri" pitchFamily="34" charset="-122"/>
                <a:cs typeface="Calibri" pitchFamily="34" charset="-120"/>
              </a:rPr>
              <a:t>La differenza è per la comunione, non per la gerarchia.</a:t>
            </a:r>
            <a:endParaRPr lang="en-US" sz="1400" dirty="0"/>
          </a:p>
        </p:txBody>
      </p:sp>
      <p:sp>
        <p:nvSpPr>
          <p:cNvPr id="22" name="Text 20"/>
          <p:cNvSpPr/>
          <p:nvPr/>
        </p:nvSpPr>
        <p:spPr>
          <a:xfrm>
            <a:off x="502920" y="6437376"/>
            <a:ext cx="4572000" cy="274320"/>
          </a:xfrm>
          <a:prstGeom prst="rect">
            <a:avLst/>
          </a:prstGeom>
          <a:noFill/>
          <a:ln/>
        </p:spPr>
        <p:txBody>
          <a:bodyPr wrap="square" lIns="0" tIns="0" rIns="0" bIns="0" rtlCol="0" anchor="ctr"/>
          <a:lstStyle/>
          <a:p>
            <a:pPr algn="l" indent="0" marL="0">
              <a:buNone/>
            </a:pPr>
            <a:r>
              <a:rPr lang="en-US" sz="900" dirty="0">
                <a:solidFill>
                  <a:srgbClr val="8A7A6B"/>
                </a:solidFill>
                <a:latin typeface="Calibri" pitchFamily="34" charset="0"/>
                <a:ea typeface="Calibri" pitchFamily="34" charset="-122"/>
                <a:cs typeface="Calibri" pitchFamily="34" charset="-120"/>
              </a:rPr>
              <a:t>IRC · Liceo Scientifico</a:t>
            </a:r>
            <a:endParaRPr lang="en-US" sz="900" dirty="0"/>
          </a:p>
        </p:txBody>
      </p:sp>
      <p:sp>
        <p:nvSpPr>
          <p:cNvPr id="23" name="Text 21"/>
          <p:cNvSpPr/>
          <p:nvPr/>
        </p:nvSpPr>
        <p:spPr>
          <a:xfrm>
            <a:off x="7116775" y="6437376"/>
            <a:ext cx="4572000" cy="274320"/>
          </a:xfrm>
          <a:prstGeom prst="rect">
            <a:avLst/>
          </a:prstGeom>
          <a:noFill/>
          <a:ln/>
        </p:spPr>
        <p:txBody>
          <a:bodyPr wrap="square" lIns="0" tIns="0" rIns="0" bIns="0" rtlCol="0" anchor="ctr"/>
          <a:lstStyle/>
          <a:p>
            <a:pPr algn="r" indent="0" marL="0">
              <a:buNone/>
            </a:pPr>
            <a:r>
              <a:rPr lang="en-US" sz="900" dirty="0">
                <a:solidFill>
                  <a:srgbClr val="8A7A6B"/>
                </a:solidFill>
                <a:latin typeface="Calibri" pitchFamily="34" charset="0"/>
                <a:ea typeface="Calibri" pitchFamily="34" charset="-122"/>
                <a:cs typeface="Calibri" pitchFamily="34" charset="-120"/>
              </a:rPr>
              <a:t>Sintesi   ·   </a:t>
            </a:r>
            <a:pPr algn="r" indent="0" marL="0">
              <a:buNone/>
            </a:pPr>
            <a:r>
              <a:rPr lang="en-US" sz="900" b="1" dirty="0">
                <a:solidFill>
                  <a:srgbClr val="B0492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33211A"/>
        </a:solidFill>
      </p:bgPr>
    </p:bg>
    <p:spTree>
      <p:nvGrpSpPr>
        <p:cNvPr id="1" name=""/>
        <p:cNvGrpSpPr/>
        <p:nvPr/>
      </p:nvGrpSpPr>
      <p:grpSpPr>
        <a:xfrm>
          <a:off x="0" y="0"/>
          <a:ext cx="0" cy="0"/>
          <a:chOff x="0" y="0"/>
          <a:chExt cx="0" cy="0"/>
        </a:xfrm>
      </p:grpSpPr>
      <p:sp>
        <p:nvSpPr>
          <p:cNvPr id="2" name="Shape 0"/>
          <p:cNvSpPr/>
          <p:nvPr/>
        </p:nvSpPr>
        <p:spPr>
          <a:xfrm>
            <a:off x="9957816" y="777240"/>
            <a:ext cx="914400" cy="914400"/>
          </a:xfrm>
          <a:prstGeom prst="ellipse">
            <a:avLst/>
          </a:prstGeom>
          <a:solidFill>
            <a:srgbClr val="B0492B">
              <a:alpha val="72000"/>
            </a:srgbClr>
          </a:solidFill>
          <a:ln/>
        </p:spPr>
      </p:sp>
      <p:sp>
        <p:nvSpPr>
          <p:cNvPr id="3" name="Shape 1"/>
          <p:cNvSpPr/>
          <p:nvPr/>
        </p:nvSpPr>
        <p:spPr>
          <a:xfrm>
            <a:off x="10341864" y="777240"/>
            <a:ext cx="914400" cy="914400"/>
          </a:xfrm>
          <a:prstGeom prst="ellipse">
            <a:avLst/>
          </a:prstGeom>
          <a:solidFill>
            <a:srgbClr val="D8A24A">
              <a:alpha val="72000"/>
            </a:srgbClr>
          </a:solidFill>
          <a:ln/>
        </p:spPr>
      </p:sp>
      <p:pic>
        <p:nvPicPr>
          <p:cNvPr id="4" name="Image 0" descr="assets/ic_quote_dim.png">    </p:cNvPr>
          <p:cNvPicPr>
            <a:picLocks noChangeAspect="1"/>
          </p:cNvPicPr>
          <p:nvPr/>
        </p:nvPicPr>
        <p:blipFill>
          <a:blip r:embed="rId1"/>
          <a:stretch>
            <a:fillRect/>
          </a:stretch>
        </p:blipFill>
        <p:spPr>
          <a:xfrm>
            <a:off x="548640" y="914400"/>
            <a:ext cx="777240" cy="777240"/>
          </a:xfrm>
          <a:prstGeom prst="rect">
            <a:avLst/>
          </a:prstGeom>
        </p:spPr>
      </p:pic>
      <p:sp>
        <p:nvSpPr>
          <p:cNvPr id="5" name="Text 2"/>
          <p:cNvSpPr/>
          <p:nvPr/>
        </p:nvSpPr>
        <p:spPr>
          <a:xfrm>
            <a:off x="548640" y="1920240"/>
            <a:ext cx="7315200" cy="274320"/>
          </a:xfrm>
          <a:prstGeom prst="rect">
            <a:avLst/>
          </a:prstGeom>
          <a:noFill/>
          <a:ln/>
        </p:spPr>
        <p:txBody>
          <a:bodyPr wrap="square" lIns="0" tIns="0" rIns="0" bIns="0" rtlCol="0" anchor="ctr"/>
          <a:lstStyle/>
          <a:p>
            <a:pPr algn="l" indent="0" marL="0">
              <a:buNone/>
            </a:pPr>
            <a:r>
              <a:rPr lang="en-US" sz="1150" b="1" spc="300" kern="0" dirty="0">
                <a:solidFill>
                  <a:srgbClr val="D8A24A"/>
                </a:solidFill>
                <a:latin typeface="Calibri" pitchFamily="34" charset="0"/>
                <a:ea typeface="Calibri" pitchFamily="34" charset="-122"/>
                <a:cs typeface="Calibri" pitchFamily="34" charset="-120"/>
              </a:rPr>
              <a:t>PER CONCLUDERE</a:t>
            </a:r>
            <a:endParaRPr lang="en-US" sz="1150" dirty="0"/>
          </a:p>
        </p:txBody>
      </p:sp>
      <p:sp>
        <p:nvSpPr>
          <p:cNvPr id="6" name="Text 3"/>
          <p:cNvSpPr/>
          <p:nvPr/>
        </p:nvSpPr>
        <p:spPr>
          <a:xfrm>
            <a:off x="548640" y="2331720"/>
            <a:ext cx="10607040" cy="1463040"/>
          </a:xfrm>
          <a:prstGeom prst="rect">
            <a:avLst/>
          </a:prstGeom>
          <a:noFill/>
          <a:ln/>
        </p:spPr>
        <p:txBody>
          <a:bodyPr wrap="square" lIns="0" tIns="0" rIns="0" bIns="0" rtlCol="0" anchor="t"/>
          <a:lstStyle/>
          <a:p>
            <a:pPr indent="0" marL="0">
              <a:lnSpc>
                <a:spcPct val="112000"/>
              </a:lnSpc>
              <a:buNone/>
            </a:pPr>
            <a:r>
              <a:rPr lang="en-US" sz="2600" dirty="0">
                <a:solidFill>
                  <a:srgbClr val="F5EFE8"/>
                </a:solidFill>
                <a:latin typeface="Georgia" pitchFamily="34" charset="0"/>
                <a:ea typeface="Georgia" pitchFamily="34" charset="-122"/>
                <a:cs typeface="Georgia" pitchFamily="34" charset="-120"/>
              </a:rPr>
              <a:t>La tradizione cristiana, con Giovanni Paolo II, ha parlato di </a:t>
            </a:r>
            <a:pPr indent="0" marL="0">
              <a:lnSpc>
                <a:spcPct val="112000"/>
              </a:lnSpc>
              <a:buNone/>
            </a:pPr>
            <a:r>
              <a:rPr lang="en-US" sz="2600" b="1" dirty="0">
                <a:solidFill>
                  <a:srgbClr val="D8A24A"/>
                </a:solidFill>
                <a:latin typeface="Georgia" pitchFamily="34" charset="0"/>
                <a:ea typeface="Georgia" pitchFamily="34" charset="-122"/>
                <a:cs typeface="Georgia" pitchFamily="34" charset="-120"/>
              </a:rPr>
              <a:t>«comunione di persone»</a:t>
            </a:r>
            <a:pPr indent="0" marL="0">
              <a:lnSpc>
                <a:spcPct val="112000"/>
              </a:lnSpc>
              <a:buNone/>
            </a:pPr>
            <a:r>
              <a:rPr lang="en-US" sz="2600" dirty="0">
                <a:solidFill>
                  <a:srgbClr val="F5EFE8"/>
                </a:solidFill>
                <a:latin typeface="Georgia" pitchFamily="34" charset="0"/>
                <a:ea typeface="Georgia" pitchFamily="34" charset="-122"/>
                <a:cs typeface="Georgia" pitchFamily="34" charset="-120"/>
              </a:rPr>
              <a:t>: l'essere umano si realizza pienamente solo nel dono di sé all'altro.</a:t>
            </a:r>
            <a:endParaRPr lang="en-US" sz="2600" dirty="0"/>
          </a:p>
        </p:txBody>
      </p:sp>
      <p:sp>
        <p:nvSpPr>
          <p:cNvPr id="7" name="Shape 4"/>
          <p:cNvSpPr/>
          <p:nvPr/>
        </p:nvSpPr>
        <p:spPr>
          <a:xfrm>
            <a:off x="548640" y="4343400"/>
            <a:ext cx="10607040" cy="1371600"/>
          </a:xfrm>
          <a:prstGeom prst="rect">
            <a:avLst/>
          </a:prstGeom>
          <a:solidFill>
            <a:srgbClr val="B0492B"/>
          </a:solidFill>
          <a:ln/>
        </p:spPr>
      </p:sp>
      <p:sp>
        <p:nvSpPr>
          <p:cNvPr id="8" name="Text 5"/>
          <p:cNvSpPr/>
          <p:nvPr/>
        </p:nvSpPr>
        <p:spPr>
          <a:xfrm>
            <a:off x="868680" y="4526280"/>
            <a:ext cx="10058400" cy="457200"/>
          </a:xfrm>
          <a:prstGeom prst="rect">
            <a:avLst/>
          </a:prstGeom>
          <a:noFill/>
          <a:ln/>
        </p:spPr>
        <p:txBody>
          <a:bodyPr wrap="square" lIns="0" tIns="0" rIns="0" bIns="0" rtlCol="0" anchor="ctr"/>
          <a:lstStyle/>
          <a:p>
            <a:pPr indent="0" marL="0">
              <a:buNone/>
            </a:pPr>
            <a:r>
              <a:rPr lang="en-US" sz="1300" b="1" spc="100" kern="0" dirty="0">
                <a:solidFill>
                  <a:srgbClr val="FFE6DC"/>
                </a:solidFill>
                <a:latin typeface="Calibri" pitchFamily="34" charset="0"/>
                <a:ea typeface="Calibri" pitchFamily="34" charset="-122"/>
                <a:cs typeface="Calibri" pitchFamily="34" charset="-120"/>
              </a:rPr>
              <a:t>E per te:</a:t>
            </a:r>
            <a:endParaRPr lang="en-US" sz="1300" dirty="0"/>
          </a:p>
        </p:txBody>
      </p:sp>
      <p:sp>
        <p:nvSpPr>
          <p:cNvPr id="9" name="Text 6"/>
          <p:cNvSpPr/>
          <p:nvPr/>
        </p:nvSpPr>
        <p:spPr>
          <a:xfrm>
            <a:off x="868680" y="4937760"/>
            <a:ext cx="10058400" cy="685800"/>
          </a:xfrm>
          <a:prstGeom prst="rect">
            <a:avLst/>
          </a:prstGeom>
          <a:noFill/>
          <a:ln/>
        </p:spPr>
        <p:txBody>
          <a:bodyPr wrap="square" lIns="0" tIns="0" rIns="0" bIns="0" rtlCol="0" anchor="t"/>
          <a:lstStyle/>
          <a:p>
            <a:pPr indent="0" marL="0">
              <a:lnSpc>
                <a:spcPct val="105000"/>
              </a:lnSpc>
              <a:buNone/>
            </a:pPr>
            <a:r>
              <a:rPr lang="en-US" sz="2100" b="1" i="1" dirty="0">
                <a:solidFill>
                  <a:srgbClr val="FFFFFF"/>
                </a:solidFill>
                <a:latin typeface="Georgia" pitchFamily="34" charset="0"/>
                <a:ea typeface="Georgia" pitchFamily="34" charset="-122"/>
                <a:cs typeface="Georgia" pitchFamily="34" charset="-120"/>
              </a:rPr>
              <a:t>la differenza è una distanza da colmare, o uno spazio per incontrarsi?</a:t>
            </a:r>
            <a:endParaRPr lang="en-US" sz="2100" dirty="0"/>
          </a:p>
        </p:txBody>
      </p:sp>
      <p:sp>
        <p:nvSpPr>
          <p:cNvPr id="10" name="Text 7"/>
          <p:cNvSpPr/>
          <p:nvPr/>
        </p:nvSpPr>
        <p:spPr>
          <a:xfrm>
            <a:off x="502920" y="6437376"/>
            <a:ext cx="4572000" cy="274320"/>
          </a:xfrm>
          <a:prstGeom prst="rect">
            <a:avLst/>
          </a:prstGeom>
          <a:noFill/>
          <a:ln/>
        </p:spPr>
        <p:txBody>
          <a:bodyPr wrap="square" lIns="0" tIns="0" rIns="0" bIns="0" rtlCol="0" anchor="ctr"/>
          <a:lstStyle/>
          <a:p>
            <a:pPr algn="l" indent="0" marL="0">
              <a:buNone/>
            </a:pPr>
            <a:r>
              <a:rPr lang="en-US" sz="900" dirty="0">
                <a:solidFill>
                  <a:srgbClr val="C9B5A4"/>
                </a:solidFill>
                <a:latin typeface="Calibri" pitchFamily="34" charset="0"/>
                <a:ea typeface="Calibri" pitchFamily="34" charset="-122"/>
                <a:cs typeface="Calibri" pitchFamily="34" charset="-120"/>
              </a:rPr>
              <a:t>IRC · Liceo Scientifico</a:t>
            </a:r>
            <a:endParaRPr lang="en-US" sz="900" dirty="0"/>
          </a:p>
        </p:txBody>
      </p:sp>
      <p:sp>
        <p:nvSpPr>
          <p:cNvPr id="11" name="Text 8"/>
          <p:cNvSpPr/>
          <p:nvPr/>
        </p:nvSpPr>
        <p:spPr>
          <a:xfrm>
            <a:off x="7116775" y="6437376"/>
            <a:ext cx="4572000" cy="274320"/>
          </a:xfrm>
          <a:prstGeom prst="rect">
            <a:avLst/>
          </a:prstGeom>
          <a:noFill/>
          <a:ln/>
        </p:spPr>
        <p:txBody>
          <a:bodyPr wrap="square" lIns="0" tIns="0" rIns="0" bIns="0" rtlCol="0" anchor="ctr"/>
          <a:lstStyle/>
          <a:p>
            <a:pPr algn="r" indent="0" marL="0">
              <a:buNone/>
            </a:pPr>
            <a:r>
              <a:rPr lang="en-US" sz="900" dirty="0">
                <a:solidFill>
                  <a:srgbClr val="C9B5A4"/>
                </a:solidFill>
                <a:latin typeface="Calibri" pitchFamily="34" charset="0"/>
                <a:ea typeface="Calibri" pitchFamily="34" charset="-122"/>
                <a:cs typeface="Calibri" pitchFamily="34" charset="-120"/>
              </a:rPr>
              <a:t>Conclusione   ·   </a:t>
            </a:r>
            <a:pPr algn="r" indent="0" marL="0">
              <a:buNone/>
            </a:pPr>
            <a:r>
              <a:rPr lang="en-US" sz="900" b="1" dirty="0">
                <a:solidFill>
                  <a:srgbClr val="D8A24A"/>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assets/ic_book_terra.png">    </p:cNvPr>
          <p:cNvPicPr>
            <a:picLocks noChangeAspect="1"/>
          </p:cNvPicPr>
          <p:nvPr/>
        </p:nvPicPr>
        <p:blipFill>
          <a:blip r:embed="rId1"/>
          <a:stretch>
            <a:fillRect/>
          </a:stretch>
        </p:blipFill>
        <p:spPr>
          <a:xfrm>
            <a:off x="548640" y="502920"/>
            <a:ext cx="457200" cy="457200"/>
          </a:xfrm>
          <a:prstGeom prst="rect">
            <a:avLst/>
          </a:prstGeom>
        </p:spPr>
      </p:pic>
      <p:sp>
        <p:nvSpPr>
          <p:cNvPr id="3" name="Text 0"/>
          <p:cNvSpPr/>
          <p:nvPr/>
        </p:nvSpPr>
        <p:spPr>
          <a:xfrm>
            <a:off x="1188720" y="457200"/>
            <a:ext cx="7315200" cy="274320"/>
          </a:xfrm>
          <a:prstGeom prst="rect">
            <a:avLst/>
          </a:prstGeom>
          <a:noFill/>
          <a:ln/>
        </p:spPr>
        <p:txBody>
          <a:bodyPr wrap="square" lIns="0" tIns="0" rIns="0" bIns="0" rtlCol="0" anchor="ctr"/>
          <a:lstStyle/>
          <a:p>
            <a:pPr algn="l" indent="0" marL="0">
              <a:buNone/>
            </a:pPr>
            <a:r>
              <a:rPr lang="en-US" sz="1150" b="1" spc="300" kern="0" dirty="0">
                <a:solidFill>
                  <a:srgbClr val="B0492B"/>
                </a:solidFill>
                <a:latin typeface="Calibri" pitchFamily="34" charset="0"/>
                <a:ea typeface="Calibri" pitchFamily="34" charset="-122"/>
                <a:cs typeface="Calibri" pitchFamily="34" charset="-120"/>
              </a:rPr>
              <a:t>RIFERIMENTO</a:t>
            </a:r>
            <a:endParaRPr lang="en-US" sz="1150" dirty="0"/>
          </a:p>
        </p:txBody>
      </p:sp>
      <p:sp>
        <p:nvSpPr>
          <p:cNvPr id="4" name="Text 1"/>
          <p:cNvSpPr/>
          <p:nvPr/>
        </p:nvSpPr>
        <p:spPr>
          <a:xfrm>
            <a:off x="1188720" y="713232"/>
            <a:ext cx="10058400" cy="548640"/>
          </a:xfrm>
          <a:prstGeom prst="rect">
            <a:avLst/>
          </a:prstGeom>
          <a:noFill/>
          <a:ln/>
        </p:spPr>
        <p:txBody>
          <a:bodyPr wrap="square" lIns="0" tIns="0" rIns="0" bIns="0" rtlCol="0" anchor="ctr"/>
          <a:lstStyle/>
          <a:p>
            <a:pPr indent="0" marL="0">
              <a:buNone/>
            </a:pPr>
            <a:r>
              <a:rPr lang="en-US" sz="2800" b="1" dirty="0">
                <a:solidFill>
                  <a:srgbClr val="2B2118"/>
                </a:solidFill>
                <a:latin typeface="Georgia" pitchFamily="34" charset="0"/>
                <a:ea typeface="Georgia" pitchFamily="34" charset="-122"/>
                <a:cs typeface="Georgia" pitchFamily="34" charset="-120"/>
              </a:rPr>
              <a:t>Piccolo glossario ebraico</a:t>
            </a:r>
            <a:endParaRPr lang="en-US" sz="2800" dirty="0"/>
          </a:p>
        </p:txBody>
      </p:sp>
      <p:sp>
        <p:nvSpPr>
          <p:cNvPr id="5" name="Shape 2"/>
          <p:cNvSpPr/>
          <p:nvPr/>
        </p:nvSpPr>
        <p:spPr>
          <a:xfrm>
            <a:off x="548640" y="1600200"/>
            <a:ext cx="7863840" cy="566928"/>
          </a:xfrm>
          <a:prstGeom prst="rect">
            <a:avLst/>
          </a:prstGeom>
          <a:solidFill>
            <a:srgbClr val="FFFFFF"/>
          </a:solidFill>
          <a:ln/>
        </p:spPr>
      </p:sp>
      <p:pic>
        <p:nvPicPr>
          <p:cNvPr id="6" name="Image 1" descr="assets/adam_ink.png">    </p:cNvPr>
          <p:cNvPicPr>
            <a:picLocks noChangeAspect="1"/>
          </p:cNvPicPr>
          <p:nvPr/>
        </p:nvPicPr>
        <p:blipFill>
          <a:blip r:embed="rId2"/>
          <a:stretch>
            <a:fillRect/>
          </a:stretch>
        </p:blipFill>
        <p:spPr>
          <a:xfrm>
            <a:off x="1134872" y="1682496"/>
            <a:ext cx="648208" cy="402336"/>
          </a:xfrm>
          <a:prstGeom prst="rect">
            <a:avLst/>
          </a:prstGeom>
        </p:spPr>
      </p:pic>
      <p:sp>
        <p:nvSpPr>
          <p:cNvPr id="7" name="Text 3"/>
          <p:cNvSpPr/>
          <p:nvPr/>
        </p:nvSpPr>
        <p:spPr>
          <a:xfrm>
            <a:off x="2011680" y="1600200"/>
            <a:ext cx="2103120" cy="566928"/>
          </a:xfrm>
          <a:prstGeom prst="rect">
            <a:avLst/>
          </a:prstGeom>
          <a:noFill/>
          <a:ln/>
        </p:spPr>
        <p:txBody>
          <a:bodyPr wrap="square" lIns="0" tIns="0" rIns="0" bIns="0" rtlCol="0" anchor="ctr"/>
          <a:lstStyle/>
          <a:p>
            <a:pPr indent="0" marL="0">
              <a:buNone/>
            </a:pPr>
            <a:r>
              <a:rPr lang="en-US" sz="1500" b="1" i="1" dirty="0">
                <a:solidFill>
                  <a:srgbClr val="8A3620"/>
                </a:solidFill>
                <a:latin typeface="Georgia" pitchFamily="34" charset="0"/>
                <a:ea typeface="Georgia" pitchFamily="34" charset="-122"/>
                <a:cs typeface="Georgia" pitchFamily="34" charset="-120"/>
              </a:rPr>
              <a:t>adàm</a:t>
            </a:r>
            <a:endParaRPr lang="en-US" sz="1500" dirty="0"/>
          </a:p>
        </p:txBody>
      </p:sp>
      <p:sp>
        <p:nvSpPr>
          <p:cNvPr id="8" name="Text 4"/>
          <p:cNvSpPr/>
          <p:nvPr/>
        </p:nvSpPr>
        <p:spPr>
          <a:xfrm>
            <a:off x="4114800" y="1600200"/>
            <a:ext cx="4160520" cy="566928"/>
          </a:xfrm>
          <a:prstGeom prst="rect">
            <a:avLst/>
          </a:prstGeom>
          <a:noFill/>
          <a:ln/>
        </p:spPr>
        <p:txBody>
          <a:bodyPr wrap="square" lIns="0" tIns="0" rIns="0" bIns="0" rtlCol="0" anchor="ctr"/>
          <a:lstStyle/>
          <a:p>
            <a:pPr indent="0" marL="0">
              <a:buNone/>
            </a:pPr>
            <a:r>
              <a:rPr lang="en-US" sz="1300" dirty="0">
                <a:solidFill>
                  <a:srgbClr val="2B2118"/>
                </a:solidFill>
                <a:latin typeface="Calibri" pitchFamily="34" charset="0"/>
                <a:ea typeface="Calibri" pitchFamily="34" charset="-122"/>
                <a:cs typeface="Calibri" pitchFamily="34" charset="-120"/>
              </a:rPr>
              <a:t>essere umano (dalla terra, adamàh)</a:t>
            </a:r>
            <a:endParaRPr lang="en-US" sz="1300" dirty="0"/>
          </a:p>
        </p:txBody>
      </p:sp>
      <p:sp>
        <p:nvSpPr>
          <p:cNvPr id="9" name="Shape 5"/>
          <p:cNvSpPr/>
          <p:nvPr/>
        </p:nvSpPr>
        <p:spPr>
          <a:xfrm>
            <a:off x="548640" y="2203704"/>
            <a:ext cx="7863840" cy="566928"/>
          </a:xfrm>
          <a:prstGeom prst="rect">
            <a:avLst/>
          </a:prstGeom>
          <a:solidFill>
            <a:srgbClr val="FBF6EF"/>
          </a:solidFill>
          <a:ln/>
        </p:spPr>
      </p:sp>
      <p:pic>
        <p:nvPicPr>
          <p:cNvPr id="10" name="Image 2" descr="assets/adamah_ink.png">    </p:cNvPr>
          <p:cNvPicPr>
            <a:picLocks noChangeAspect="1"/>
          </p:cNvPicPr>
          <p:nvPr/>
        </p:nvPicPr>
        <p:blipFill>
          <a:blip r:embed="rId3"/>
          <a:stretch>
            <a:fillRect/>
          </a:stretch>
        </p:blipFill>
        <p:spPr>
          <a:xfrm>
            <a:off x="922721" y="2286000"/>
            <a:ext cx="860359" cy="402336"/>
          </a:xfrm>
          <a:prstGeom prst="rect">
            <a:avLst/>
          </a:prstGeom>
        </p:spPr>
      </p:pic>
      <p:sp>
        <p:nvSpPr>
          <p:cNvPr id="11" name="Text 6"/>
          <p:cNvSpPr/>
          <p:nvPr/>
        </p:nvSpPr>
        <p:spPr>
          <a:xfrm>
            <a:off x="2011680" y="2203704"/>
            <a:ext cx="2103120" cy="566928"/>
          </a:xfrm>
          <a:prstGeom prst="rect">
            <a:avLst/>
          </a:prstGeom>
          <a:noFill/>
          <a:ln/>
        </p:spPr>
        <p:txBody>
          <a:bodyPr wrap="square" lIns="0" tIns="0" rIns="0" bIns="0" rtlCol="0" anchor="ctr"/>
          <a:lstStyle/>
          <a:p>
            <a:pPr indent="0" marL="0">
              <a:buNone/>
            </a:pPr>
            <a:r>
              <a:rPr lang="en-US" sz="1500" b="1" i="1" dirty="0">
                <a:solidFill>
                  <a:srgbClr val="8A3620"/>
                </a:solidFill>
                <a:latin typeface="Georgia" pitchFamily="34" charset="0"/>
                <a:ea typeface="Georgia" pitchFamily="34" charset="-122"/>
                <a:cs typeface="Georgia" pitchFamily="34" charset="-120"/>
              </a:rPr>
              <a:t>adamàh</a:t>
            </a:r>
            <a:endParaRPr lang="en-US" sz="1500" dirty="0"/>
          </a:p>
        </p:txBody>
      </p:sp>
      <p:sp>
        <p:nvSpPr>
          <p:cNvPr id="12" name="Text 7"/>
          <p:cNvSpPr/>
          <p:nvPr/>
        </p:nvSpPr>
        <p:spPr>
          <a:xfrm>
            <a:off x="4114800" y="2203704"/>
            <a:ext cx="4160520" cy="566928"/>
          </a:xfrm>
          <a:prstGeom prst="rect">
            <a:avLst/>
          </a:prstGeom>
          <a:noFill/>
          <a:ln/>
        </p:spPr>
        <p:txBody>
          <a:bodyPr wrap="square" lIns="0" tIns="0" rIns="0" bIns="0" rtlCol="0" anchor="ctr"/>
          <a:lstStyle/>
          <a:p>
            <a:pPr indent="0" marL="0">
              <a:buNone/>
            </a:pPr>
            <a:r>
              <a:rPr lang="en-US" sz="1300" dirty="0">
                <a:solidFill>
                  <a:srgbClr val="2B2118"/>
                </a:solidFill>
                <a:latin typeface="Calibri" pitchFamily="34" charset="0"/>
                <a:ea typeface="Calibri" pitchFamily="34" charset="-122"/>
                <a:cs typeface="Calibri" pitchFamily="34" charset="-120"/>
              </a:rPr>
              <a:t>terra, suolo</a:t>
            </a:r>
            <a:endParaRPr lang="en-US" sz="1300" dirty="0"/>
          </a:p>
        </p:txBody>
      </p:sp>
      <p:sp>
        <p:nvSpPr>
          <p:cNvPr id="13" name="Shape 8"/>
          <p:cNvSpPr/>
          <p:nvPr/>
        </p:nvSpPr>
        <p:spPr>
          <a:xfrm>
            <a:off x="548640" y="2807208"/>
            <a:ext cx="7863840" cy="566928"/>
          </a:xfrm>
          <a:prstGeom prst="rect">
            <a:avLst/>
          </a:prstGeom>
          <a:solidFill>
            <a:srgbClr val="FFFFFF"/>
          </a:solidFill>
          <a:ln/>
        </p:spPr>
      </p:sp>
      <p:pic>
        <p:nvPicPr>
          <p:cNvPr id="14" name="Image 3" descr="assets/ish_ink.png">    </p:cNvPr>
          <p:cNvPicPr>
            <a:picLocks noChangeAspect="1"/>
          </p:cNvPicPr>
          <p:nvPr/>
        </p:nvPicPr>
        <p:blipFill>
          <a:blip r:embed="rId4"/>
          <a:stretch>
            <a:fillRect/>
          </a:stretch>
        </p:blipFill>
        <p:spPr>
          <a:xfrm>
            <a:off x="1166165" y="2889504"/>
            <a:ext cx="616915" cy="402336"/>
          </a:xfrm>
          <a:prstGeom prst="rect">
            <a:avLst/>
          </a:prstGeom>
        </p:spPr>
      </p:pic>
      <p:sp>
        <p:nvSpPr>
          <p:cNvPr id="15" name="Text 9"/>
          <p:cNvSpPr/>
          <p:nvPr/>
        </p:nvSpPr>
        <p:spPr>
          <a:xfrm>
            <a:off x="2011680" y="2807208"/>
            <a:ext cx="2103120" cy="566928"/>
          </a:xfrm>
          <a:prstGeom prst="rect">
            <a:avLst/>
          </a:prstGeom>
          <a:noFill/>
          <a:ln/>
        </p:spPr>
        <p:txBody>
          <a:bodyPr wrap="square" lIns="0" tIns="0" rIns="0" bIns="0" rtlCol="0" anchor="ctr"/>
          <a:lstStyle/>
          <a:p>
            <a:pPr indent="0" marL="0">
              <a:buNone/>
            </a:pPr>
            <a:r>
              <a:rPr lang="en-US" sz="1500" b="1" i="1" dirty="0">
                <a:solidFill>
                  <a:srgbClr val="8A3620"/>
                </a:solidFill>
                <a:latin typeface="Georgia" pitchFamily="34" charset="0"/>
                <a:ea typeface="Georgia" pitchFamily="34" charset="-122"/>
                <a:cs typeface="Georgia" pitchFamily="34" charset="-120"/>
              </a:rPr>
              <a:t>ish</a:t>
            </a:r>
            <a:endParaRPr lang="en-US" sz="1500" dirty="0"/>
          </a:p>
        </p:txBody>
      </p:sp>
      <p:sp>
        <p:nvSpPr>
          <p:cNvPr id="16" name="Text 10"/>
          <p:cNvSpPr/>
          <p:nvPr/>
        </p:nvSpPr>
        <p:spPr>
          <a:xfrm>
            <a:off x="4114800" y="2807208"/>
            <a:ext cx="4160520" cy="566928"/>
          </a:xfrm>
          <a:prstGeom prst="rect">
            <a:avLst/>
          </a:prstGeom>
          <a:noFill/>
          <a:ln/>
        </p:spPr>
        <p:txBody>
          <a:bodyPr wrap="square" lIns="0" tIns="0" rIns="0" bIns="0" rtlCol="0" anchor="ctr"/>
          <a:lstStyle/>
          <a:p>
            <a:pPr indent="0" marL="0">
              <a:buNone/>
            </a:pPr>
            <a:r>
              <a:rPr lang="en-US" sz="1300" dirty="0">
                <a:solidFill>
                  <a:srgbClr val="2B2118"/>
                </a:solidFill>
                <a:latin typeface="Calibri" pitchFamily="34" charset="0"/>
                <a:ea typeface="Calibri" pitchFamily="34" charset="-122"/>
                <a:cs typeface="Calibri" pitchFamily="34" charset="-120"/>
              </a:rPr>
              <a:t>uomo (maschile)</a:t>
            </a:r>
            <a:endParaRPr lang="en-US" sz="1300" dirty="0"/>
          </a:p>
        </p:txBody>
      </p:sp>
      <p:sp>
        <p:nvSpPr>
          <p:cNvPr id="17" name="Shape 11"/>
          <p:cNvSpPr/>
          <p:nvPr/>
        </p:nvSpPr>
        <p:spPr>
          <a:xfrm>
            <a:off x="548640" y="3410712"/>
            <a:ext cx="7863840" cy="566928"/>
          </a:xfrm>
          <a:prstGeom prst="rect">
            <a:avLst/>
          </a:prstGeom>
          <a:solidFill>
            <a:srgbClr val="FBF6EF"/>
          </a:solidFill>
          <a:ln/>
        </p:spPr>
      </p:sp>
      <p:pic>
        <p:nvPicPr>
          <p:cNvPr id="18" name="Image 4" descr="assets/ishah_ink.png">    </p:cNvPr>
          <p:cNvPicPr>
            <a:picLocks noChangeAspect="1"/>
          </p:cNvPicPr>
          <p:nvPr/>
        </p:nvPicPr>
        <p:blipFill>
          <a:blip r:embed="rId5"/>
          <a:stretch>
            <a:fillRect/>
          </a:stretch>
        </p:blipFill>
        <p:spPr>
          <a:xfrm>
            <a:off x="1138833" y="3493008"/>
            <a:ext cx="644247" cy="402336"/>
          </a:xfrm>
          <a:prstGeom prst="rect">
            <a:avLst/>
          </a:prstGeom>
        </p:spPr>
      </p:pic>
      <p:sp>
        <p:nvSpPr>
          <p:cNvPr id="19" name="Text 12"/>
          <p:cNvSpPr/>
          <p:nvPr/>
        </p:nvSpPr>
        <p:spPr>
          <a:xfrm>
            <a:off x="2011680" y="3410712"/>
            <a:ext cx="2103120" cy="566928"/>
          </a:xfrm>
          <a:prstGeom prst="rect">
            <a:avLst/>
          </a:prstGeom>
          <a:noFill/>
          <a:ln/>
        </p:spPr>
        <p:txBody>
          <a:bodyPr wrap="square" lIns="0" tIns="0" rIns="0" bIns="0" rtlCol="0" anchor="ctr"/>
          <a:lstStyle/>
          <a:p>
            <a:pPr indent="0" marL="0">
              <a:buNone/>
            </a:pPr>
            <a:r>
              <a:rPr lang="en-US" sz="1500" b="1" i="1" dirty="0">
                <a:solidFill>
                  <a:srgbClr val="8A3620"/>
                </a:solidFill>
                <a:latin typeface="Georgia" pitchFamily="34" charset="0"/>
                <a:ea typeface="Georgia" pitchFamily="34" charset="-122"/>
                <a:cs typeface="Georgia" pitchFamily="34" charset="-120"/>
              </a:rPr>
              <a:t>ishà</a:t>
            </a:r>
            <a:endParaRPr lang="en-US" sz="1500" dirty="0"/>
          </a:p>
        </p:txBody>
      </p:sp>
      <p:sp>
        <p:nvSpPr>
          <p:cNvPr id="20" name="Text 13"/>
          <p:cNvSpPr/>
          <p:nvPr/>
        </p:nvSpPr>
        <p:spPr>
          <a:xfrm>
            <a:off x="4114800" y="3410712"/>
            <a:ext cx="4160520" cy="566928"/>
          </a:xfrm>
          <a:prstGeom prst="rect">
            <a:avLst/>
          </a:prstGeom>
          <a:noFill/>
          <a:ln/>
        </p:spPr>
        <p:txBody>
          <a:bodyPr wrap="square" lIns="0" tIns="0" rIns="0" bIns="0" rtlCol="0" anchor="ctr"/>
          <a:lstStyle/>
          <a:p>
            <a:pPr indent="0" marL="0">
              <a:buNone/>
            </a:pPr>
            <a:r>
              <a:rPr lang="en-US" sz="1300" dirty="0">
                <a:solidFill>
                  <a:srgbClr val="2B2118"/>
                </a:solidFill>
                <a:latin typeface="Calibri" pitchFamily="34" charset="0"/>
                <a:ea typeface="Calibri" pitchFamily="34" charset="-122"/>
                <a:cs typeface="Calibri" pitchFamily="34" charset="-120"/>
              </a:rPr>
              <a:t>donna (femminile)</a:t>
            </a:r>
            <a:endParaRPr lang="en-US" sz="1300" dirty="0"/>
          </a:p>
        </p:txBody>
      </p:sp>
      <p:sp>
        <p:nvSpPr>
          <p:cNvPr id="21" name="Shape 14"/>
          <p:cNvSpPr/>
          <p:nvPr/>
        </p:nvSpPr>
        <p:spPr>
          <a:xfrm>
            <a:off x="548640" y="4014216"/>
            <a:ext cx="7863840" cy="566928"/>
          </a:xfrm>
          <a:prstGeom prst="rect">
            <a:avLst/>
          </a:prstGeom>
          <a:solidFill>
            <a:srgbClr val="FFFFFF"/>
          </a:solidFill>
          <a:ln/>
        </p:spPr>
      </p:sp>
      <p:pic>
        <p:nvPicPr>
          <p:cNvPr id="22" name="Image 5" descr="assets/ezer_kenegdo_ink.png">    </p:cNvPr>
          <p:cNvPicPr>
            <a:picLocks noChangeAspect="1"/>
          </p:cNvPicPr>
          <p:nvPr/>
        </p:nvPicPr>
        <p:blipFill>
          <a:blip r:embed="rId6"/>
          <a:stretch>
            <a:fillRect/>
          </a:stretch>
        </p:blipFill>
        <p:spPr>
          <a:xfrm>
            <a:off x="497382" y="4096512"/>
            <a:ext cx="1285698" cy="402336"/>
          </a:xfrm>
          <a:prstGeom prst="rect">
            <a:avLst/>
          </a:prstGeom>
        </p:spPr>
      </p:pic>
      <p:sp>
        <p:nvSpPr>
          <p:cNvPr id="23" name="Text 15"/>
          <p:cNvSpPr/>
          <p:nvPr/>
        </p:nvSpPr>
        <p:spPr>
          <a:xfrm>
            <a:off x="2011680" y="4014216"/>
            <a:ext cx="2103120" cy="566928"/>
          </a:xfrm>
          <a:prstGeom prst="rect">
            <a:avLst/>
          </a:prstGeom>
          <a:noFill/>
          <a:ln/>
        </p:spPr>
        <p:txBody>
          <a:bodyPr wrap="square" lIns="0" tIns="0" rIns="0" bIns="0" rtlCol="0" anchor="ctr"/>
          <a:lstStyle/>
          <a:p>
            <a:pPr indent="0" marL="0">
              <a:buNone/>
            </a:pPr>
            <a:r>
              <a:rPr lang="en-US" sz="1500" b="1" i="1" dirty="0">
                <a:solidFill>
                  <a:srgbClr val="8A3620"/>
                </a:solidFill>
                <a:latin typeface="Georgia" pitchFamily="34" charset="0"/>
                <a:ea typeface="Georgia" pitchFamily="34" charset="-122"/>
                <a:cs typeface="Georgia" pitchFamily="34" charset="-120"/>
              </a:rPr>
              <a:t>ezer kenegdò</a:t>
            </a:r>
            <a:endParaRPr lang="en-US" sz="1500" dirty="0"/>
          </a:p>
        </p:txBody>
      </p:sp>
      <p:sp>
        <p:nvSpPr>
          <p:cNvPr id="24" name="Text 16"/>
          <p:cNvSpPr/>
          <p:nvPr/>
        </p:nvSpPr>
        <p:spPr>
          <a:xfrm>
            <a:off x="4114800" y="4014216"/>
            <a:ext cx="4160520" cy="566928"/>
          </a:xfrm>
          <a:prstGeom prst="rect">
            <a:avLst/>
          </a:prstGeom>
          <a:noFill/>
          <a:ln/>
        </p:spPr>
        <p:txBody>
          <a:bodyPr wrap="square" lIns="0" tIns="0" rIns="0" bIns="0" rtlCol="0" anchor="ctr"/>
          <a:lstStyle/>
          <a:p>
            <a:pPr indent="0" marL="0">
              <a:buNone/>
            </a:pPr>
            <a:r>
              <a:rPr lang="en-US" sz="1300" dirty="0">
                <a:solidFill>
                  <a:srgbClr val="2B2118"/>
                </a:solidFill>
                <a:latin typeface="Calibri" pitchFamily="34" charset="0"/>
                <a:ea typeface="Calibri" pitchFamily="34" charset="-122"/>
                <a:cs typeface="Calibri" pitchFamily="34" charset="-120"/>
              </a:rPr>
              <a:t>aiuto che corrisponde / sta di fronte</a:t>
            </a:r>
            <a:endParaRPr lang="en-US" sz="1300" dirty="0"/>
          </a:p>
        </p:txBody>
      </p:sp>
      <p:sp>
        <p:nvSpPr>
          <p:cNvPr id="25" name="Shape 17"/>
          <p:cNvSpPr/>
          <p:nvPr/>
        </p:nvSpPr>
        <p:spPr>
          <a:xfrm>
            <a:off x="548640" y="4617720"/>
            <a:ext cx="7863840" cy="566928"/>
          </a:xfrm>
          <a:prstGeom prst="rect">
            <a:avLst/>
          </a:prstGeom>
          <a:solidFill>
            <a:srgbClr val="FBF6EF"/>
          </a:solidFill>
          <a:ln/>
        </p:spPr>
      </p:sp>
      <p:pic>
        <p:nvPicPr>
          <p:cNvPr id="26" name="Image 6" descr="assets/tzela_ink.png">    </p:cNvPr>
          <p:cNvPicPr>
            <a:picLocks noChangeAspect="1"/>
          </p:cNvPicPr>
          <p:nvPr/>
        </p:nvPicPr>
        <p:blipFill>
          <a:blip r:embed="rId7"/>
          <a:stretch>
            <a:fillRect/>
          </a:stretch>
        </p:blipFill>
        <p:spPr>
          <a:xfrm>
            <a:off x="1279017" y="4700016"/>
            <a:ext cx="504063" cy="402336"/>
          </a:xfrm>
          <a:prstGeom prst="rect">
            <a:avLst/>
          </a:prstGeom>
        </p:spPr>
      </p:pic>
      <p:sp>
        <p:nvSpPr>
          <p:cNvPr id="27" name="Text 18"/>
          <p:cNvSpPr/>
          <p:nvPr/>
        </p:nvSpPr>
        <p:spPr>
          <a:xfrm>
            <a:off x="2011680" y="4617720"/>
            <a:ext cx="2103120" cy="566928"/>
          </a:xfrm>
          <a:prstGeom prst="rect">
            <a:avLst/>
          </a:prstGeom>
          <a:noFill/>
          <a:ln/>
        </p:spPr>
        <p:txBody>
          <a:bodyPr wrap="square" lIns="0" tIns="0" rIns="0" bIns="0" rtlCol="0" anchor="ctr"/>
          <a:lstStyle/>
          <a:p>
            <a:pPr indent="0" marL="0">
              <a:buNone/>
            </a:pPr>
            <a:r>
              <a:rPr lang="en-US" sz="1500" b="1" i="1" dirty="0">
                <a:solidFill>
                  <a:srgbClr val="8A3620"/>
                </a:solidFill>
                <a:latin typeface="Georgia" pitchFamily="34" charset="0"/>
                <a:ea typeface="Georgia" pitchFamily="34" charset="-122"/>
                <a:cs typeface="Georgia" pitchFamily="34" charset="-120"/>
              </a:rPr>
              <a:t>tzelà</a:t>
            </a:r>
            <a:endParaRPr lang="en-US" sz="1500" dirty="0"/>
          </a:p>
        </p:txBody>
      </p:sp>
      <p:sp>
        <p:nvSpPr>
          <p:cNvPr id="28" name="Text 19"/>
          <p:cNvSpPr/>
          <p:nvPr/>
        </p:nvSpPr>
        <p:spPr>
          <a:xfrm>
            <a:off x="4114800" y="4617720"/>
            <a:ext cx="4160520" cy="566928"/>
          </a:xfrm>
          <a:prstGeom prst="rect">
            <a:avLst/>
          </a:prstGeom>
          <a:noFill/>
          <a:ln/>
        </p:spPr>
        <p:txBody>
          <a:bodyPr wrap="square" lIns="0" tIns="0" rIns="0" bIns="0" rtlCol="0" anchor="ctr"/>
          <a:lstStyle/>
          <a:p>
            <a:pPr indent="0" marL="0">
              <a:buNone/>
            </a:pPr>
            <a:r>
              <a:rPr lang="en-US" sz="1300" dirty="0">
                <a:solidFill>
                  <a:srgbClr val="2B2118"/>
                </a:solidFill>
                <a:latin typeface="Calibri" pitchFamily="34" charset="0"/>
                <a:ea typeface="Calibri" pitchFamily="34" charset="-122"/>
                <a:cs typeface="Calibri" pitchFamily="34" charset="-120"/>
              </a:rPr>
              <a:t>costola; anche fianco, lato</a:t>
            </a:r>
            <a:endParaRPr lang="en-US" sz="1300" dirty="0"/>
          </a:p>
        </p:txBody>
      </p:sp>
      <p:sp>
        <p:nvSpPr>
          <p:cNvPr id="29" name="Shape 20"/>
          <p:cNvSpPr/>
          <p:nvPr/>
        </p:nvSpPr>
        <p:spPr>
          <a:xfrm>
            <a:off x="548640" y="5221224"/>
            <a:ext cx="7863840" cy="566928"/>
          </a:xfrm>
          <a:prstGeom prst="rect">
            <a:avLst/>
          </a:prstGeom>
          <a:solidFill>
            <a:srgbClr val="FFFFFF"/>
          </a:solidFill>
          <a:ln/>
        </p:spPr>
      </p:sp>
      <p:pic>
        <p:nvPicPr>
          <p:cNvPr id="30" name="Image 7" descr="assets/basar_ink.png">    </p:cNvPr>
          <p:cNvPicPr>
            <a:picLocks noChangeAspect="1"/>
          </p:cNvPicPr>
          <p:nvPr/>
        </p:nvPicPr>
        <p:blipFill>
          <a:blip r:embed="rId8"/>
          <a:stretch>
            <a:fillRect/>
          </a:stretch>
        </p:blipFill>
        <p:spPr>
          <a:xfrm>
            <a:off x="487228" y="5303520"/>
            <a:ext cx="1295852" cy="402336"/>
          </a:xfrm>
          <a:prstGeom prst="rect">
            <a:avLst/>
          </a:prstGeom>
        </p:spPr>
      </p:pic>
      <p:sp>
        <p:nvSpPr>
          <p:cNvPr id="31" name="Text 21"/>
          <p:cNvSpPr/>
          <p:nvPr/>
        </p:nvSpPr>
        <p:spPr>
          <a:xfrm>
            <a:off x="2011680" y="5221224"/>
            <a:ext cx="2103120" cy="566928"/>
          </a:xfrm>
          <a:prstGeom prst="rect">
            <a:avLst/>
          </a:prstGeom>
          <a:noFill/>
          <a:ln/>
        </p:spPr>
        <p:txBody>
          <a:bodyPr wrap="square" lIns="0" tIns="0" rIns="0" bIns="0" rtlCol="0" anchor="ctr"/>
          <a:lstStyle/>
          <a:p>
            <a:pPr indent="0" marL="0">
              <a:buNone/>
            </a:pPr>
            <a:r>
              <a:rPr lang="en-US" sz="1500" b="1" i="1" dirty="0">
                <a:solidFill>
                  <a:srgbClr val="8A3620"/>
                </a:solidFill>
                <a:latin typeface="Georgia" pitchFamily="34" charset="0"/>
                <a:ea typeface="Georgia" pitchFamily="34" charset="-122"/>
                <a:cs typeface="Georgia" pitchFamily="34" charset="-120"/>
              </a:rPr>
              <a:t>basar echàd</a:t>
            </a:r>
            <a:endParaRPr lang="en-US" sz="1500" dirty="0"/>
          </a:p>
        </p:txBody>
      </p:sp>
      <p:sp>
        <p:nvSpPr>
          <p:cNvPr id="32" name="Text 22"/>
          <p:cNvSpPr/>
          <p:nvPr/>
        </p:nvSpPr>
        <p:spPr>
          <a:xfrm>
            <a:off x="4114800" y="5221224"/>
            <a:ext cx="4160520" cy="566928"/>
          </a:xfrm>
          <a:prstGeom prst="rect">
            <a:avLst/>
          </a:prstGeom>
          <a:noFill/>
          <a:ln/>
        </p:spPr>
        <p:txBody>
          <a:bodyPr wrap="square" lIns="0" tIns="0" rIns="0" bIns="0" rtlCol="0" anchor="ctr"/>
          <a:lstStyle/>
          <a:p>
            <a:pPr indent="0" marL="0">
              <a:buNone/>
            </a:pPr>
            <a:r>
              <a:rPr lang="en-US" sz="1300" dirty="0">
                <a:solidFill>
                  <a:srgbClr val="2B2118"/>
                </a:solidFill>
                <a:latin typeface="Calibri" pitchFamily="34" charset="0"/>
                <a:ea typeface="Calibri" pitchFamily="34" charset="-122"/>
                <a:cs typeface="Calibri" pitchFamily="34" charset="-120"/>
              </a:rPr>
              <a:t>una sola carne</a:t>
            </a:r>
            <a:endParaRPr lang="en-US" sz="1300" dirty="0"/>
          </a:p>
        </p:txBody>
      </p:sp>
      <p:sp>
        <p:nvSpPr>
          <p:cNvPr id="33" name="Shape 23"/>
          <p:cNvSpPr/>
          <p:nvPr/>
        </p:nvSpPr>
        <p:spPr>
          <a:xfrm>
            <a:off x="8641080" y="1600200"/>
            <a:ext cx="2971800" cy="4297680"/>
          </a:xfrm>
          <a:prstGeom prst="rect">
            <a:avLst/>
          </a:prstGeom>
          <a:solidFill>
            <a:srgbClr val="F5EEE4"/>
          </a:solidFill>
          <a:ln/>
          <a:effectLst>
            <a:outerShdw sx="100000" sy="100000" kx="0" ky="0" algn="bl" rotWithShape="0" blurRad="127000" dist="25400" dir="5400000">
              <a:srgbClr val="000000">
                <a:alpha val="10000"/>
              </a:srgbClr>
            </a:outerShdw>
          </a:effectLst>
        </p:spPr>
      </p:sp>
      <p:sp>
        <p:nvSpPr>
          <p:cNvPr id="34" name="Text 24"/>
          <p:cNvSpPr/>
          <p:nvPr/>
        </p:nvSpPr>
        <p:spPr>
          <a:xfrm>
            <a:off x="8915400" y="1828800"/>
            <a:ext cx="2468880" cy="548640"/>
          </a:xfrm>
          <a:prstGeom prst="rect">
            <a:avLst/>
          </a:prstGeom>
          <a:noFill/>
          <a:ln/>
        </p:spPr>
        <p:txBody>
          <a:bodyPr wrap="square" lIns="0" tIns="0" rIns="0" bIns="0" rtlCol="0" anchor="ctr"/>
          <a:lstStyle/>
          <a:p>
            <a:pPr indent="0" marL="0">
              <a:buNone/>
            </a:pPr>
            <a:r>
              <a:rPr lang="en-US" sz="1500" b="1" dirty="0">
                <a:solidFill>
                  <a:srgbClr val="2B2118"/>
                </a:solidFill>
                <a:latin typeface="Georgia" pitchFamily="34" charset="0"/>
                <a:ea typeface="Georgia" pitchFamily="34" charset="-122"/>
                <a:cs typeface="Georgia" pitchFamily="34" charset="-120"/>
              </a:rPr>
              <a:t>Fonti &amp; approfondimenti</a:t>
            </a:r>
            <a:endParaRPr lang="en-US" sz="1500" dirty="0"/>
          </a:p>
        </p:txBody>
      </p:sp>
      <p:sp>
        <p:nvSpPr>
          <p:cNvPr id="35" name="Text 25"/>
          <p:cNvSpPr/>
          <p:nvPr/>
        </p:nvSpPr>
        <p:spPr>
          <a:xfrm>
            <a:off x="8915400" y="2377440"/>
            <a:ext cx="2468880" cy="3291840"/>
          </a:xfrm>
          <a:prstGeom prst="rect">
            <a:avLst/>
          </a:prstGeom>
          <a:noFill/>
          <a:ln/>
        </p:spPr>
        <p:txBody>
          <a:bodyPr wrap="square" lIns="0" tIns="0" rIns="0" bIns="0" rtlCol="0" anchor="t"/>
          <a:lstStyle/>
          <a:p>
            <a:pPr indent="0" marL="0">
              <a:lnSpc>
                <a:spcPct val="112000"/>
              </a:lnSpc>
              <a:buNone/>
            </a:pPr>
            <a:r>
              <a:rPr lang="en-US" sz="1250" b="1" dirty="0">
                <a:solidFill>
                  <a:srgbClr val="B0492B"/>
                </a:solidFill>
                <a:latin typeface="Calibri" pitchFamily="34" charset="0"/>
                <a:ea typeface="Calibri" pitchFamily="34" charset="-122"/>
                <a:cs typeface="Calibri" pitchFamily="34" charset="-120"/>
              </a:rPr>
              <a:t>Testo</a:t>
            </a:r>
            <a:endParaRPr lang="en-US" sz="1250" dirty="0"/>
          </a:p>
          <a:p>
            <a:pPr indent="0" marL="0">
              <a:lnSpc>
                <a:spcPct val="112000"/>
              </a:lnSpc>
              <a:spcAft>
                <a:spcPts val="1000"/>
              </a:spcAft>
              <a:buNone/>
            </a:pPr>
            <a:r>
              <a:rPr lang="en-US" sz="1250" dirty="0">
                <a:solidFill>
                  <a:srgbClr val="2B2118"/>
                </a:solidFill>
                <a:latin typeface="Calibri" pitchFamily="34" charset="0"/>
                <a:ea typeface="Calibri" pitchFamily="34" charset="-122"/>
                <a:cs typeface="Calibri" pitchFamily="34" charset="-120"/>
              </a:rPr>
              <a:t>Genesi 1–2</a:t>
            </a:r>
            <a:endParaRPr lang="en-US" sz="1250" dirty="0"/>
          </a:p>
          <a:p>
            <a:pPr indent="0" marL="0">
              <a:lnSpc>
                <a:spcPct val="112000"/>
              </a:lnSpc>
              <a:buNone/>
            </a:pPr>
            <a:r>
              <a:rPr lang="en-US" sz="1250" b="1" dirty="0">
                <a:solidFill>
                  <a:srgbClr val="B0492B"/>
                </a:solidFill>
                <a:latin typeface="Calibri" pitchFamily="34" charset="0"/>
                <a:ea typeface="Calibri" pitchFamily="34" charset="-122"/>
                <a:cs typeface="Calibri" pitchFamily="34" charset="-120"/>
              </a:rPr>
              <a:t>Per approfondire</a:t>
            </a:r>
            <a:endParaRPr lang="en-US" sz="1250" dirty="0"/>
          </a:p>
          <a:p>
            <a:pPr indent="0" marL="0">
              <a:lnSpc>
                <a:spcPct val="112000"/>
              </a:lnSpc>
              <a:spcAft>
                <a:spcPts val="1000"/>
              </a:spcAft>
              <a:buNone/>
            </a:pPr>
            <a:r>
              <a:rPr lang="en-US" sz="1250" dirty="0">
                <a:solidFill>
                  <a:srgbClr val="2B2118"/>
                </a:solidFill>
                <a:latin typeface="Calibri" pitchFamily="34" charset="0"/>
                <a:ea typeface="Calibri" pitchFamily="34" charset="-122"/>
                <a:cs typeface="Calibri" pitchFamily="34" charset="-120"/>
              </a:rPr>
              <a:t>Giovanni Paolo II, «Uomo e donna lo creò» (Teologia del corpo)</a:t>
            </a:r>
            <a:endParaRPr lang="en-US" sz="1250" dirty="0"/>
          </a:p>
          <a:p>
            <a:pPr indent="0" marL="0">
              <a:lnSpc>
                <a:spcPct val="112000"/>
              </a:lnSpc>
              <a:buNone/>
            </a:pPr>
            <a:r>
              <a:rPr lang="en-US" sz="1250" b="1" dirty="0">
                <a:solidFill>
                  <a:srgbClr val="B0492B"/>
                </a:solidFill>
                <a:latin typeface="Calibri" pitchFamily="34" charset="0"/>
                <a:ea typeface="Calibri" pitchFamily="34" charset="-122"/>
                <a:cs typeface="Calibri" pitchFamily="34" charset="-120"/>
              </a:rPr>
              <a:t>Nota di metodo</a:t>
            </a:r>
            <a:endParaRPr lang="en-US" sz="1250" dirty="0"/>
          </a:p>
          <a:p>
            <a:pPr indent="0" marL="0">
              <a:lnSpc>
                <a:spcPct val="112000"/>
              </a:lnSpc>
              <a:buNone/>
            </a:pPr>
            <a:r>
              <a:rPr lang="en-US" sz="1250" dirty="0">
                <a:solidFill>
                  <a:srgbClr val="2B2118"/>
                </a:solidFill>
                <a:latin typeface="Calibri" pitchFamily="34" charset="0"/>
                <a:ea typeface="Calibri" pitchFamily="34" charset="-122"/>
                <a:cs typeface="Calibri" pitchFamily="34" charset="-120"/>
              </a:rPr>
              <a:t>Distinguere sempre il testo dalle sue interpretazioni.</a:t>
            </a:r>
            <a:endParaRPr lang="en-US" sz="1250" dirty="0"/>
          </a:p>
        </p:txBody>
      </p:sp>
      <p:sp>
        <p:nvSpPr>
          <p:cNvPr id="36" name="Text 26"/>
          <p:cNvSpPr/>
          <p:nvPr/>
        </p:nvSpPr>
        <p:spPr>
          <a:xfrm>
            <a:off x="502920" y="6437376"/>
            <a:ext cx="4572000" cy="274320"/>
          </a:xfrm>
          <a:prstGeom prst="rect">
            <a:avLst/>
          </a:prstGeom>
          <a:noFill/>
          <a:ln/>
        </p:spPr>
        <p:txBody>
          <a:bodyPr wrap="square" lIns="0" tIns="0" rIns="0" bIns="0" rtlCol="0" anchor="ctr"/>
          <a:lstStyle/>
          <a:p>
            <a:pPr algn="l" indent="0" marL="0">
              <a:buNone/>
            </a:pPr>
            <a:r>
              <a:rPr lang="en-US" sz="900" dirty="0">
                <a:solidFill>
                  <a:srgbClr val="8A7A6B"/>
                </a:solidFill>
                <a:latin typeface="Calibri" pitchFamily="34" charset="0"/>
                <a:ea typeface="Calibri" pitchFamily="34" charset="-122"/>
                <a:cs typeface="Calibri" pitchFamily="34" charset="-120"/>
              </a:rPr>
              <a:t>IRC · Liceo Scientifico</a:t>
            </a:r>
            <a:endParaRPr lang="en-US" sz="900" dirty="0"/>
          </a:p>
        </p:txBody>
      </p:sp>
      <p:sp>
        <p:nvSpPr>
          <p:cNvPr id="37" name="Text 27"/>
          <p:cNvSpPr/>
          <p:nvPr/>
        </p:nvSpPr>
        <p:spPr>
          <a:xfrm>
            <a:off x="7116775" y="6437376"/>
            <a:ext cx="4572000" cy="274320"/>
          </a:xfrm>
          <a:prstGeom prst="rect">
            <a:avLst/>
          </a:prstGeom>
          <a:noFill/>
          <a:ln/>
        </p:spPr>
        <p:txBody>
          <a:bodyPr wrap="square" lIns="0" tIns="0" rIns="0" bIns="0" rtlCol="0" anchor="ctr"/>
          <a:lstStyle/>
          <a:p>
            <a:pPr algn="r" indent="0" marL="0">
              <a:buNone/>
            </a:pPr>
            <a:r>
              <a:rPr lang="en-US" sz="900" dirty="0">
                <a:solidFill>
                  <a:srgbClr val="8A7A6B"/>
                </a:solidFill>
                <a:latin typeface="Calibri" pitchFamily="34" charset="0"/>
                <a:ea typeface="Calibri" pitchFamily="34" charset="-122"/>
                <a:cs typeface="Calibri" pitchFamily="34" charset="-120"/>
              </a:rPr>
              <a:t>Glossario   ·   </a:t>
            </a:r>
            <a:pPr algn="r" indent="0" marL="0">
              <a:buNone/>
            </a:pPr>
            <a:r>
              <a:rPr lang="en-US" sz="900" b="1" dirty="0">
                <a:solidFill>
                  <a:srgbClr val="B0492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Maschile e femminile: alle origini della relazione</dc:title>
  <dc:subject>PptxGenJS Presentation</dc:subject>
  <dc:creator>IRC · Liceo Scientifico</dc:creator>
  <cp:lastModifiedBy>IRC · Liceo Scientifico</cp:lastModifiedBy>
  <cp:revision>1</cp:revision>
  <dcterms:created xsi:type="dcterms:W3CDTF">2026-06-05T14:24:13Z</dcterms:created>
  <dcterms:modified xsi:type="dcterms:W3CDTF">2026-06-05T14:24:13Z</dcterms:modified>
</cp:coreProperties>
</file>